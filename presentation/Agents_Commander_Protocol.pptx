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82b6a484e84731" /><Relationship Type="http://schemas.openxmlformats.org/officeDocument/2006/relationships/extended-properties" Target="/docProps/app.xml" Id="R58b255a9cd74418b" /><Relationship Type="http://schemas.openxmlformats.org/officeDocument/2006/relationships/officeDocument" Target="/ppt/presentation.xml" Id="Rcdf60bafdb7741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239fcb626f4513"/>
  </p:sldMasterIdLst>
  <p:notesMasterIdLst>
    <p:notesMasterId xmlns:r="http://schemas.openxmlformats.org/officeDocument/2006/relationships" r:id="Ra2013b46a9a24be4"/>
  </p:notesMasterIdLst>
  <p:sldIdLst>
    <p:sldId xmlns:r="http://schemas.openxmlformats.org/officeDocument/2006/relationships" id="256" r:id="Rfd5ead57bbe24b8e"/>
    <p:sldId xmlns:r="http://schemas.openxmlformats.org/officeDocument/2006/relationships" id="257" r:id="R4190d6bc99414c72"/>
    <p:sldId xmlns:r="http://schemas.openxmlformats.org/officeDocument/2006/relationships" id="258" r:id="R6b82acfd43824480"/>
    <p:sldId xmlns:r="http://schemas.openxmlformats.org/officeDocument/2006/relationships" id="259" r:id="R769ee3c63ce24297"/>
    <p:sldId xmlns:r="http://schemas.openxmlformats.org/officeDocument/2006/relationships" id="260" r:id="R88db885949024089"/>
    <p:sldId xmlns:r="http://schemas.openxmlformats.org/officeDocument/2006/relationships" id="261" r:id="Rf8ee25f0ab494065"/>
    <p:sldId xmlns:r="http://schemas.openxmlformats.org/officeDocument/2006/relationships" id="262" r:id="R282e15a0e0434084"/>
    <p:sldId xmlns:r="http://schemas.openxmlformats.org/officeDocument/2006/relationships" id="263" r:id="R26e0d2a3e6254f20"/>
    <p:sldId xmlns:r="http://schemas.openxmlformats.org/officeDocument/2006/relationships" id="264" r:id="R53b2e23189704f9a"/>
    <p:sldId xmlns:r="http://schemas.openxmlformats.org/officeDocument/2006/relationships" id="265" r:id="Reaf10579c5db4a53"/>
    <p:sldId xmlns:r="http://schemas.openxmlformats.org/officeDocument/2006/relationships" id="266" r:id="Rc12cb12d19924f84"/>
    <p:sldId xmlns:r="http://schemas.openxmlformats.org/officeDocument/2006/relationships" id="267" r:id="R1e7d071f81f94381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8a1b0ea6aa4a54" /><Relationship Type="http://schemas.openxmlformats.org/officeDocument/2006/relationships/slideMaster" Target="/ppt/slideMasters/slideMaster1.xml" Id="R92239fcb626f4513" /><Relationship Type="http://schemas.openxmlformats.org/officeDocument/2006/relationships/notesMaster" Target="/ppt/notesMasters/notesMaster1.xml" Id="Ra2013b46a9a24be4" /><Relationship Type="http://schemas.openxmlformats.org/officeDocument/2006/relationships/presProps" Target="/ppt/presProps.xml" Id="R251d5bd2bc324669" /><Relationship Type="http://schemas.openxmlformats.org/officeDocument/2006/relationships/viewProps" Target="/ppt/viewProps.xml" Id="R159abd4a02794735" /><Relationship Type="http://schemas.openxmlformats.org/officeDocument/2006/relationships/tableStyles" Target="/ppt/tableStyles.xml" Id="R67e023d081654ccb" /><Relationship Type="http://schemas.openxmlformats.org/officeDocument/2006/relationships/slide" Target="/ppt/slides/slide1.xml" Id="Rfd5ead57bbe24b8e" /><Relationship Type="http://schemas.openxmlformats.org/officeDocument/2006/relationships/slide" Target="/ppt/slides/slide2.xml" Id="R4190d6bc99414c72" /><Relationship Type="http://schemas.openxmlformats.org/officeDocument/2006/relationships/slide" Target="/ppt/slides/slide3.xml" Id="R6b82acfd43824480" /><Relationship Type="http://schemas.openxmlformats.org/officeDocument/2006/relationships/slide" Target="/ppt/slides/slide4.xml" Id="R769ee3c63ce24297" /><Relationship Type="http://schemas.openxmlformats.org/officeDocument/2006/relationships/slide" Target="/ppt/slides/slide5.xml" Id="R88db885949024089" /><Relationship Type="http://schemas.openxmlformats.org/officeDocument/2006/relationships/slide" Target="/ppt/slides/slide6.xml" Id="Rf8ee25f0ab494065" /><Relationship Type="http://schemas.openxmlformats.org/officeDocument/2006/relationships/slide" Target="/ppt/slides/slide7.xml" Id="R282e15a0e0434084" /><Relationship Type="http://schemas.openxmlformats.org/officeDocument/2006/relationships/slide" Target="/ppt/slides/slide8.xml" Id="R26e0d2a3e6254f20" /><Relationship Type="http://schemas.openxmlformats.org/officeDocument/2006/relationships/slide" Target="/ppt/slides/slide9.xml" Id="R53b2e23189704f9a" /><Relationship Type="http://schemas.openxmlformats.org/officeDocument/2006/relationships/slide" Target="/ppt/slides/slide10.xml" Id="Reaf10579c5db4a53" /><Relationship Type="http://schemas.openxmlformats.org/officeDocument/2006/relationships/slide" Target="/ppt/slides/slide11.xml" Id="Rc12cb12d19924f84" /><Relationship Type="http://schemas.openxmlformats.org/officeDocument/2006/relationships/slide" Target="/ppt/slides/slide12.xml" Id="R1e7d071f81f9438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a807d3500f476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57ed2903174a7f" /><Relationship Type="http://schemas.openxmlformats.org/officeDocument/2006/relationships/notesMaster" Target="/ppt/notesMasters/notesMaster1.xml" Id="Rc6862ad6d1c241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74da748d69444c" /><Relationship Type="http://schemas.openxmlformats.org/officeDocument/2006/relationships/notesMaster" Target="/ppt/notesMasters/notesMaster1.xml" Id="R0c6476b0cb4743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6fb8e462594c6b" /><Relationship Type="http://schemas.openxmlformats.org/officeDocument/2006/relationships/notesMaster" Target="/ppt/notesMasters/notesMaster1.xml" Id="R87195a19bd5e49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9e2c7c74114b46" /><Relationship Type="http://schemas.openxmlformats.org/officeDocument/2006/relationships/notesMaster" Target="/ppt/notesMasters/notesMaster1.xml" Id="R0745245f32f745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612ca1e35e406d" /><Relationship Type="http://schemas.openxmlformats.org/officeDocument/2006/relationships/notesMaster" Target="/ppt/notesMasters/notesMaster1.xml" Id="R8e46c50acac141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c5b90e53ead47eb" /><Relationship Type="http://schemas.openxmlformats.org/officeDocument/2006/relationships/notesMaster" Target="/ppt/notesMasters/notesMaster1.xml" Id="Rf8a0736805a241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e4c989918b448d" /><Relationship Type="http://schemas.openxmlformats.org/officeDocument/2006/relationships/notesMaster" Target="/ppt/notesMasters/notesMaster1.xml" Id="Rb50e7b2983ea47d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169416ea584c1a" /><Relationship Type="http://schemas.openxmlformats.org/officeDocument/2006/relationships/notesMaster" Target="/ppt/notesMasters/notesMaster1.xml" Id="R830287c9e36840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1113a8bf5f14c8a" /><Relationship Type="http://schemas.openxmlformats.org/officeDocument/2006/relationships/notesMaster" Target="/ppt/notesMasters/notesMaster1.xml" Id="R6e8e69d23df7441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e7a9274e9a49bd" /><Relationship Type="http://schemas.openxmlformats.org/officeDocument/2006/relationships/notesMaster" Target="/ppt/notesMasters/notesMaster1.xml" Id="R018ee8c6a389428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2b26ca992af4b1a" /><Relationship Type="http://schemas.openxmlformats.org/officeDocument/2006/relationships/notesMaster" Target="/ppt/notesMasters/notesMaster1.xml" Id="R300b9c6824ec40b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f5a337345c45b4" /><Relationship Type="http://schemas.openxmlformats.org/officeDocument/2006/relationships/notesMaster" Target="/ppt/notesMasters/notesMaster1.xml" Id="Raecbd7d9a52140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[Timing] 1:00</a:t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Open with the question: what if the handoff between two terminal agents were as visible as a function call?</a:t>
            </a:r>
          </a:p>
          <a:p xmlns:a="http://schemas.openxmlformats.org/drawingml/2006/main">
            <a:r>
              <a:t>Set the promise: one real protocol, one deterministic demo, and the engineering decisions that keep both recoverable.</a:t>
            </a:r>
          </a:p>
          <a:p xmlns:a="http://schemas.openxmlformats.org/drawingml/2006/main">
            <a:r>
              <a:t>[Transition] The problem is not model capability; it is the invisible space between separate CLI sessions.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 Europe Warsaw invitation and 45-minute duration: supplied by the speaker.</a:t>
            </a:r>
          </a:p>
          <a:p xmlns:a="http://schemas.openxmlformats.org/drawingml/2006/main">
            <a:r>
              <a:t>- Agent Commander package metadata and repository, v0.1.5.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[Timing] 2:30</a:t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Describe the familiar workflow: several capable CLIs, several terminals, and a human acting as the message bus.</a:t>
            </a:r>
          </a:p>
          <a:p xmlns:a="http://schemas.openxmlformats.org/drawingml/2006/main">
            <a:r>
              <a:t>Emphasize the missing properties: delivery state, provenance, retry, and a shared place to observe the route.</a:t>
            </a:r>
          </a:p>
          <a:p xmlns:a="http://schemas.openxmlformats.org/drawingml/2006/main">
            <a:r>
              <a:t>[Transition] The smallest useful coordination layer can live in the same I/O channel the agents already use.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 Commander product behavior and terminal session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[Timing] 3:00</a:t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Ctrl+P sends plain protocol instructions into the active supported agent session. It does not install a skill or modify the agent.</a:t>
            </a:r>
          </a:p>
          <a:p xmlns:a="http://schemas.openxmlformats.org/drawingml/2006/main">
            <a:r>
              <a:t>The scanner observes printable output. The router validates and delivers through the destination PTY.</a:t>
            </a:r>
          </a:p>
          <a:p xmlns:a="http://schemas.openxmlformats.org/drawingml/2006/main">
            <a:r>
              <a:t>Call out the architectural constraint: agents remain ordinary CLI processes.</a:t>
            </a:r>
          </a:p>
          <a:p xmlns:a="http://schemas.openxmlformats.org/drawingml/2006/main">
            <a:r>
              <a:t>[Transition] A tiny vocabulary is enough if every handoff is explicit.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src/app.ts Ctrl+P binding.</a:t>
            </a:r>
          </a:p>
          <a:p xmlns:a="http://schemas.openxmlformats.org/drawingml/2006/main">
            <a:r>
              <a:t>- src/orchestration/protocol.ts and orchestrator.ts.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[Timing] 3:00</a:t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Walk through SEND, REPLY, BROADCAST, STATUS, and QUERY.</a:t>
            </a:r>
          </a:p>
          <a:p xmlns:a="http://schemas.openxmlformats.org/drawingml/2006/main">
            <a:r>
              <a:t>SEND names both adapter and panel. REPLY uses the most recent routed sender. BROADCAST reaches every other running agent. STATUS stays local. QUERY asks Commander about running sessions.</a:t>
            </a:r>
          </a:p>
          <a:p xmlns:a="http://schemas.openxmlformats.org/drawingml/2006/main">
            <a:r>
              <a:t>Delivery assigns thread/message IDs and returns explicit ACK state.</a:t>
            </a:r>
          </a:p>
          <a:p xmlns:a="http://schemas.openxmlformats.org/drawingml/2006/main">
            <a:r>
              <a:t>[Transition] The syntax is simple; making it reliable over streamed terminal output is the real work.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src/orchestration/protocol.ts.</a:t>
            </a:r>
          </a:p>
          <a:p xmlns:a="http://schemas.openxmlformats.org/drawingml/2006/main">
            <a:r>
              <a:t>- src/orchestration/orchestrator.ts.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[Timing] 3:00</a:t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Terminal output arrives in chunks, may contain ANSI control sequences, and may soft-wrap at the viewport edge.</a:t>
            </a:r>
          </a:p>
          <a:p xmlns:a="http://schemas.openxmlformats.org/drawingml/2006/main">
            <a:r>
              <a:t>Explain the boundary: no route occurs until a complete END marker is reconstructed and the target is valid.</a:t>
            </a:r>
          </a:p>
          <a:p xmlns:a="http://schemas.openxmlformats.org/drawingml/2006/main">
            <a:r>
              <a:t>Mute during delivery prevents Commander from interpreting its own injected prompt as new agent output.</a:t>
            </a:r>
          </a:p>
          <a:p xmlns:a="http://schemas.openxmlformats.org/drawingml/2006/main">
            <a:r>
              <a:t>[Transition] Now show the same route with agents that cannot surprise us on stage.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src/panels/vterm.ts.</a:t>
            </a:r>
          </a:p>
          <a:p xmlns:a="http://schemas.openxmlformats.org/drawingml/2006/main">
            <a:r>
              <a:t>- src/orchestration/protocol.ts and orchestrator.ts.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[Timing] 12:00 live demo</a:t>
            </a:r>
          </a:p>
          <a:p xmlns:a="http://schemas.openxmlformats.org/drawingml/2006/main">
            <a:r>
              <a:t>[Demo setup]</a:t>
            </a:r>
          </a:p>
          <a:p xmlns:a="http://schemas.openxmlformats.org/drawingml/2006/main">
            <a:r>
              <a:t>Before doors open: run `agents-commander --doctor .` in a 100x24-or-larger terminal.</a:t>
            </a:r>
          </a:p>
          <a:p xmlns:a="http://schemas.openxmlformats.org/drawingml/2006/main">
            <a:r>
              <a:t>Launch: run `agents-commander --demo` and confirm the prompt.</a:t>
            </a:r>
          </a:p>
          <a:p xmlns:a="http://schemas.openxmlformats.org/drawingml/2006/main">
            <a:r>
              <a:t>[Demo beats]</a:t>
            </a:r>
          </a:p>
          <a:p xmlns:a="http://schemas.openxmlformats.org/drawingml/2006/main">
            <a:r>
              <a:t>1. Point out the private seeded workspace and the two local roles.</a:t>
            </a:r>
          </a:p>
          <a:p xmlns:a="http://schemas.openxmlformats.org/drawingml/2006/main">
            <a:r>
              <a:t>2. Let Coordinator SEND the brief.md check to Reviewer.</a:t>
            </a:r>
          </a:p>
          <a:p xmlns:a="http://schemas.openxmlformats.org/drawingml/2006/main">
            <a:r>
              <a:t>3. Show Reviewer STATUS and REPLY, then Coordinator STATUS.</a:t>
            </a:r>
          </a:p>
          <a:p xmlns:a="http://schemas.openxmlformats.org/drawingml/2006/main">
            <a:r>
              <a:t>4. Press F12 and trace msg/thread IDs in Routed Activity.</a:t>
            </a:r>
          </a:p>
          <a:p xmlns:a="http://schemas.openxmlformats.org/drawingml/2006/main">
            <a:r>
              <a:t>5. Press Shift+F12 only if the audience needs the protocol legend.</a:t>
            </a:r>
          </a:p>
          <a:p xmlns:a="http://schemas.openxmlformats.org/drawingml/2006/main">
            <a:r>
              <a:t>[Recovery]</a:t>
            </a:r>
          </a:p>
          <a:p xmlns:a="http://schemas.openxmlformats.org/drawingml/2006/main">
            <a:r>
              <a:t>- Ctrl+O retries an incomplete demo pair.</a:t>
            </a:r>
          </a:p>
          <a:p xmlns:a="http://schemas.openxmlformats.org/drawingml/2006/main">
            <a:r>
              <a:t>- Ctrl+K stops the active role; F10 exits and removes the private workspace.</a:t>
            </a:r>
          </a:p>
          <a:p xmlns:a="http://schemas.openxmlformats.org/drawingml/2006/main">
            <a:r>
              <a:t>- If the venue terminal is unsuitable, narrate this slide and continue; the route is identical.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src/demo/demo-agent.js and demo-workspace.ts.</a:t>
            </a:r>
          </a:p>
          <a:p xmlns:a="http://schemas.openxmlformats.org/drawingml/2006/main">
            <a:r>
              <a:t>- tests/integration/demo-agent.test.ts and the real PTY rehearsal.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[Timing] 4:00</a:t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Separate parsing correctness from delivery/lifecycle correctness.</a:t>
            </a:r>
          </a:p>
          <a:p xmlns:a="http://schemas.openxmlformats.org/drawingml/2006/main">
            <a:r>
              <a:t>For parsing: logical lines must survive ANSI stripping, chunks, and soft-wrap reconstruction.</a:t>
            </a:r>
          </a:p>
          <a:p xmlns:a="http://schemas.openxmlformats.org/drawingml/2006/main">
            <a:r>
              <a:t>For delivery: per-panel serialization, explicit IDs/ACKs, and process-group shutdown prevent ambiguous state and orphaned agents.</a:t>
            </a:r>
          </a:p>
          <a:p xmlns:a="http://schemas.openxmlformats.org/drawingml/2006/main">
            <a:r>
              <a:t>[Transition] Those invariants become useful to developers through the surrounding UI.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src/panels/vterm.ts, terminal-panel.ts.</a:t>
            </a:r>
          </a:p>
          <a:p xmlns:a="http://schemas.openxmlformats.org/drawingml/2006/main">
            <a:r>
              <a:t>- src/agents/agent-manager.ts and pty-helper.py.</a:t>
            </a:r>
          </a:p>
          <a:p xmlns:a="http://schemas.openxmlformats.org/drawingml/2006/main">
            <a:r>
              <a:t>- src/orchestration/message-ledger.ts and orchestrator.ts.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[Timing] 2:30</a:t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Frame the product as an observability surface around the protocol: panels, Activity, templates, file tools, diagnostics, and presentation modes.</a:t>
            </a:r>
          </a:p>
          <a:p xmlns:a="http://schemas.openxmlformats.org/drawingml/2006/main">
            <a:r>
              <a:t>The template count is 121; 29 are collaboration workflows.</a:t>
            </a:r>
          </a:p>
          <a:p xmlns:a="http://schemas.openxmlformats.org/drawingml/2006/main">
            <a:r>
              <a:t>[Transition] For a live conference session, the most important feature is not another panel—it is a controlled fallback path.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src/screen/dialog/activity-dialog.ts.</a:t>
            </a:r>
          </a:p>
          <a:p xmlns:a="http://schemas.openxmlformats.org/drawingml/2006/main">
            <a:r>
              <a:t>- src/templates/builtin/ inventory.</a:t>
            </a:r>
          </a:p>
          <a:p xmlns:a="http://schemas.openxmlformats.org/drawingml/2006/main">
            <a:r>
              <a:t>- src/doctor/ and src/config/launch-options.ts.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[Timing] 3:00</a:t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Use the table as the exact rehearsal checklist.</a:t>
            </a:r>
          </a:p>
          <a:p xmlns:a="http://schemas.openxmlformats.org/drawingml/2006/main">
            <a:r>
              <a:t>Conference Mode applies midnight, two panels, hidden-files off, and skips the welcome screen; explicit CLI visual flags still win.</a:t>
            </a:r>
          </a:p>
          <a:p xmlns:a="http://schemas.openxmlformats.org/drawingml/2006/main">
            <a:r>
              <a:t>The offline demo requires neither an AI account nor network access and strips common credential variables from its local roles.</a:t>
            </a:r>
          </a:p>
          <a:p xmlns:a="http://schemas.openxmlformats.org/drawingml/2006/main">
            <a:r>
              <a:t>For Reset, Tab to a file panel before Ctrl+E; a running terminal receives the key instead of changing the layout.</a:t>
            </a:r>
          </a:p>
          <a:p xmlns:a="http://schemas.openxmlformats.org/drawingml/2006/main">
            <a:r>
              <a:t>[Transition] The same truthfulness applies to adapter support.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src/config/launch-options.ts.</a:t>
            </a:r>
          </a:p>
          <a:p xmlns:a="http://schemas.openxmlformats.org/drawingml/2006/main">
            <a:r>
              <a:t>- src/doctor/ and src/demo/.</a:t>
            </a:r>
          </a:p>
          <a:p xmlns:a="http://schemas.openxmlformats.org/drawingml/2006/main">
            <a:r>
              <a:t>- package scripts and CI workflows.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[Timing] 2:00</a:t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Be precise: Claude Code, Codex CLI, Gemini CLI, and the configurable Shell adapter are the four supported launch paths.</a:t>
            </a:r>
          </a:p>
          <a:p xmlns:a="http://schemas.openxmlformats.org/drawingml/2006/main">
            <a:r>
              <a:t>Aider, Cline, OpenCode, Goose, Kiro, and Amp are catalogued presets and discovery candidates, not a claim of first-class support.</a:t>
            </a:r>
          </a:p>
          <a:p xmlns:a="http://schemas.openxmlformats.org/drawingml/2006/main">
            <a:r>
              <a:t>[Transition] Finish the operational tour with the handful of keys used during the demo.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src/agents/types.ts and src/screen/dialog/agent-dialog.ts.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[Timing] 1:30</a:t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Do not read every shortcut. Point to the conference path on the right.</a:t>
            </a:r>
          </a:p>
          <a:p xmlns:a="http://schemas.openxmlformats.org/drawingml/2006/main">
            <a:r>
              <a:t>F12 is Activity; Shift+F12 is the guide. Ctrl+O retries the offline demo. Ctrl+K and F10 are the recovery keys.</a:t>
            </a:r>
          </a:p>
          <a:p xmlns:a="http://schemas.openxmlformats.org/drawingml/2006/main">
            <a:r>
              <a:t>Before Ctrl+E, Tab to a file panel; a running terminal receives that key instead.</a:t>
            </a:r>
          </a:p>
          <a:p xmlns:a="http://schemas.openxmlformats.org/drawingml/2006/main">
            <a:r>
              <a:t>[Transition] Close on the reproducible path the audience can run after the session.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src/app.ts key bindings and src/screen/dialog/help-dialog.ts.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[Timing] 2:30 close + 5:00 Q&amp;A</a:t>
            </a:r>
          </a:p>
          <a:p xmlns:a="http://schemas.openxmlformats.org/drawingml/2006/main">
            <a:r>
              <a:t>[Close]</a:t>
            </a:r>
          </a:p>
          <a:p xmlns:a="http://schemas.openxmlformats.org/drawingml/2006/main">
            <a:r>
              <a:t>Restate the thesis: coordination does not have to begin with another API. It can begin by making the existing terminal channel explicit, bounded, and observable.</a:t>
            </a:r>
          </a:p>
          <a:p xmlns:a="http://schemas.openxmlformats.org/drawingml/2006/main">
            <a:r>
              <a:t>Invite the audience to run Doctor first, then the deterministic demo, then replace the local roles with their installed agents.</a:t>
            </a:r>
          </a:p>
          <a:p xmlns:a="http://schemas.openxmlformats.org/drawingml/2006/main">
            <a:r>
              <a:t>[Q&amp;A prompts if the room is quiet]</a:t>
            </a:r>
          </a:p>
          <a:p xmlns:a="http://schemas.openxmlformats.org/drawingml/2006/main">
            <a:r>
              <a:t>- How would you authenticate or authorize a routed handoff?</a:t>
            </a:r>
          </a:p>
          <a:p xmlns:a="http://schemas.openxmlformats.org/drawingml/2006/main">
            <a:r>
              <a:t>- What should become a durable event log versus terminal history?</a:t>
            </a:r>
          </a:p>
          <a:p xmlns:a="http://schemas.openxmlformats.org/drawingml/2006/main">
            <a:r>
              <a:t>- Where would you draw the boundary between a terminal protocol and MCP?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 Commander CLI help and repository, v0.1.5.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f875095b8443b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c71cb3d45d44f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8997b077dd449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1745c0d6b1479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369e6330f146c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fee067ce75484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a36c5c06a7423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30521aabc3411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03efc7d3e6477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90e7137375430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ec85c667ff444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8D7CA46-DC3C-45F2-9052-5D92E35F3F8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3BDA128-384E-4A4E-BEC0-81E847304F7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0124124-F56D-477B-A387-37B402973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21DE0BE-5544-4D84-81C4-5E429B6ECE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B7DCC41-2E33-480B-952B-C3558E95C4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3758345-A3E0-4D5D-9CFA-A3B42FB0FC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DE8BD06-215C-4854-A422-66CC6F2639B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1AD2CE5-EBD3-4F3F-9AD6-30AAA23F4B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0180C6F-1391-4071-9D16-8F74F9AF74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C1E7826-60A3-4921-9A0D-36DF5DA839B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AFF5A5-6250-47ED-AA8D-23FA1C07CF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331F9B6-82FC-4A98-A844-B115DA9A36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DCAA89-2487-4C5C-A410-76096E51BE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A77239-126A-47BC-9E57-713A6AF9A7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7FF064D-4A1A-4EF6-8CDB-2CC08B815D4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E3D0B7E-D4AB-44FE-AB10-B9142ACED2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1B25D0B-CBF6-43C2-BEA6-E0084947AC7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EC68A06-9F0E-4C3C-AE8D-7B5C76D992E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1AA3CC0-E977-4665-86A0-81320B6097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173F75B-EB1C-47E8-9A17-2C72051213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F2C95CA-CF23-4351-8686-2B39B0EB97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FFDF4F-D8C5-48C2-BCBD-9FBCF1CEA5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8F4AC57-0A93-4002-BBC2-591A93041A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4AAA74A-46A0-4577-A3A3-0C8AFB4115D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E234D39-1734-4934-A96D-40CFD0F7A1E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662F3AE-DFB1-4050-8BFF-98458C37E11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E6DE3BD-FAEE-4B9D-B9C2-4759A36A44D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E15CADE-C857-48CA-A37A-65E2DA87A51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B2C4DB3-066A-4761-9CA7-3B52808B90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9B17AB-C158-4D1F-8721-F943FA38A3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089A156-C9CF-471E-A96D-5FA22127B6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92F5DB43-FD9A-4231-BD93-3B6C79FCC5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508FC53-E1C2-4E19-8A21-7277C034D6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4E1890D-1F1E-43F8-9A31-0C7F325F26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22D7EBA-370A-4961-BBFC-1D897F5500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3247573-DA77-4F39-8B78-C0B50EC7BB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0F718B4-F2AE-4CDB-A33E-73B66B8F36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7E7A708-1847-4A6F-912D-4785C95EEA1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3D24881-D57D-486A-8853-9FCEF32494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6B1C701-6569-4501-A3CF-468698E355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31A831B-1E20-438E-B284-FC4447FA3E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087F804-5B6F-4B76-9E23-5D6B0C9BBD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3E7011-5068-49DE-B11D-3E340AC1D6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16B6C0B-99D3-4C46-BB50-10178A7E43F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D1E47AD-A098-497B-B495-5BE3EAF5EE8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4091853-AD5A-4246-AD62-350DFE1786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F1F55D4-92A9-4C33-8447-B73E79B736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65ABD08-8F50-4726-9D35-B700B31C2B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22617B-F95F-4401-93FF-F9AC57EA17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324A57A-5FCA-46E4-887C-0C0BFBCE7C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7006EC1-8CAA-45D5-8B93-8444309DF26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E5D6C4C-E20A-4324-B7A8-0F3DFAD747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87BCFD-5563-478A-B7AB-9B1165CBC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C757974-379F-4C4B-A30F-4A1235AA10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03FB64-0E98-4132-A093-DBED2105D3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77EC6F3-DF9E-432C-B619-DC973447B5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99499C-B5C7-44D5-8E5E-2813DD52B9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14F7E8-A266-4ECA-9D48-1F2EA76469A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c2a07b89824e5c" /><Relationship Type="http://schemas.openxmlformats.org/officeDocument/2006/relationships/slideLayout" Target="/ppt/slideLayouts/slideLayout1.xml" Id="R0f86dcc634fa47c4" /><Relationship Type="http://schemas.openxmlformats.org/officeDocument/2006/relationships/slideLayout" Target="/ppt/slideLayouts/slideLayout2.xml" Id="R80dac2651c9a4871" /><Relationship Type="http://schemas.openxmlformats.org/officeDocument/2006/relationships/slideLayout" Target="/ppt/slideLayouts/slideLayout3.xml" Id="R3ea9995424df4c0b" /><Relationship Type="http://schemas.openxmlformats.org/officeDocument/2006/relationships/slideLayout" Target="/ppt/slideLayouts/slideLayout4.xml" Id="Rebc0f44a80b44d4c" /><Relationship Type="http://schemas.openxmlformats.org/officeDocument/2006/relationships/slideLayout" Target="/ppt/slideLayouts/slideLayout5.xml" Id="R9dd02e264a1544a3" /><Relationship Type="http://schemas.openxmlformats.org/officeDocument/2006/relationships/slideLayout" Target="/ppt/slideLayouts/slideLayout6.xml" Id="R88f4daf8364f4db7" /><Relationship Type="http://schemas.openxmlformats.org/officeDocument/2006/relationships/slideLayout" Target="/ppt/slideLayouts/slideLayout7.xml" Id="R0105c85531ef4ba2" /><Relationship Type="http://schemas.openxmlformats.org/officeDocument/2006/relationships/slideLayout" Target="/ppt/slideLayouts/slideLayout8.xml" Id="R59318e05742c4393" /><Relationship Type="http://schemas.openxmlformats.org/officeDocument/2006/relationships/slideLayout" Target="/ppt/slideLayouts/slideLayout9.xml" Id="Rfac1577c3d0e4b43" /><Relationship Type="http://schemas.openxmlformats.org/officeDocument/2006/relationships/slideLayout" Target="/ppt/slideLayouts/slideLayout10.xml" Id="Rdc9a629e954e4fef" /><Relationship Type="http://schemas.openxmlformats.org/officeDocument/2006/relationships/slideLayout" Target="/ppt/slideLayouts/slideLayout11.xml" Id="R671946fbaa2148b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6FEEE26-531D-487D-90CC-4F207A74E2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56BBC0-71B6-419E-9DF6-AF60CC3CD0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3DD697-1987-409D-9B50-9D88F76B6CD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820924-9AF1-4DB5-A5A7-45D88CFC06A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716DE6-005E-41F3-A99F-B190C664E66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86dcc634fa47c4"/>
    <p:sldLayoutId xmlns:r="http://schemas.openxmlformats.org/officeDocument/2006/relationships" id="2147483650" r:id="R80dac2651c9a4871"/>
    <p:sldLayoutId xmlns:r="http://schemas.openxmlformats.org/officeDocument/2006/relationships" id="2147483651" r:id="R3ea9995424df4c0b"/>
    <p:sldLayoutId xmlns:r="http://schemas.openxmlformats.org/officeDocument/2006/relationships" id="2147483652" r:id="Rebc0f44a80b44d4c"/>
    <p:sldLayoutId xmlns:r="http://schemas.openxmlformats.org/officeDocument/2006/relationships" id="2147483653" r:id="R9dd02e264a1544a3"/>
    <p:sldLayoutId xmlns:r="http://schemas.openxmlformats.org/officeDocument/2006/relationships" id="2147483654" r:id="R88f4daf8364f4db7"/>
    <p:sldLayoutId xmlns:r="http://schemas.openxmlformats.org/officeDocument/2006/relationships" id="2147483655" r:id="R0105c85531ef4ba2"/>
    <p:sldLayoutId xmlns:r="http://schemas.openxmlformats.org/officeDocument/2006/relationships" id="2147483656" r:id="R59318e05742c4393"/>
    <p:sldLayoutId xmlns:r="http://schemas.openxmlformats.org/officeDocument/2006/relationships" id="2147483657" r:id="Rfac1577c3d0e4b43"/>
    <p:sldLayoutId xmlns:r="http://schemas.openxmlformats.org/officeDocument/2006/relationships" id="2147483658" r:id="Rdc9a629e954e4fef"/>
    <p:sldLayoutId xmlns:r="http://schemas.openxmlformats.org/officeDocument/2006/relationships" id="2147483659" r:id="R671946fbaa2148b0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cbc8cc010343cf" /><Relationship Type="http://schemas.openxmlformats.org/officeDocument/2006/relationships/image" Target="/ppt/media/image.png" Id="Rc88680f823664fc2" /><Relationship Type="http://schemas.openxmlformats.org/officeDocument/2006/relationships/notesSlide" Target="/ppt/notesSlides/notesSlide1.xml" Id="Rdc53a383369046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ac9e7b5fb946e8" /><Relationship Type="http://schemas.openxmlformats.org/officeDocument/2006/relationships/notesSlide" Target="/ppt/notesSlides/notesSlide2.xml" Id="R81e38edcc7a1462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fade783db649ea" /><Relationship Type="http://schemas.openxmlformats.org/officeDocument/2006/relationships/notesSlide" Target="/ppt/notesSlides/notesSlide3.xml" Id="Rdfceacfb77534b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7e216ae8604869" /><Relationship Type="http://schemas.openxmlformats.org/officeDocument/2006/relationships/notesSlide" Target="/ppt/notesSlides/notesSlide4.xml" Id="R5f7cabd8f0204f8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fc601d2b5c4821" /><Relationship Type="http://schemas.openxmlformats.org/officeDocument/2006/relationships/notesSlide" Target="/ppt/notesSlides/notesSlide5.xml" Id="R98b5c0323d854d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180caae1c43415f" /><Relationship Type="http://schemas.openxmlformats.org/officeDocument/2006/relationships/notesSlide" Target="/ppt/notesSlides/notesSlide6.xml" Id="Rd5e6f103d44241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f03c4d773a4af3" /><Relationship Type="http://schemas.openxmlformats.org/officeDocument/2006/relationships/notesSlide" Target="/ppt/notesSlides/notesSlide7.xml" Id="R65d391544a66492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cf78bf3ab34a08" /><Relationship Type="http://schemas.openxmlformats.org/officeDocument/2006/relationships/notesSlide" Target="/ppt/notesSlides/notesSlide8.xml" Id="R4dc0f2cd122e4d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be2e93a2914c04" /><Relationship Type="http://schemas.openxmlformats.org/officeDocument/2006/relationships/notesSlide" Target="/ppt/notesSlides/notesSlide9.xml" Id="R644766fd0b7f416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dd81c67c3341e8" /><Relationship Type="http://schemas.openxmlformats.org/officeDocument/2006/relationships/notesSlide" Target="/ppt/notesSlides/notesSlide10.xml" Id="R76e738660ba94ce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bc6a736ae54b45" /><Relationship Type="http://schemas.openxmlformats.org/officeDocument/2006/relationships/notesSlide" Target="/ppt/notesSlides/notesSlide11.xml" Id="Rb5e2177d1f5f4a5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ebfa14d77ee40d1" /><Relationship Type="http://schemas.openxmlformats.org/officeDocument/2006/relationships/image" Target="/ppt/media/image.png" Id="Re53e7c9d770149ef" /><Relationship Type="http://schemas.openxmlformats.org/officeDocument/2006/relationships/notesSlide" Target="/ppt/notesSlides/notesSlide12.xml" Id="Rce16b207be5846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0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8680f823664f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24704" y="548640"/>
            <a:ext cx="2743200" cy="2195075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E563BE6-A522-4E92-AC67-FFB63D6B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383280"/>
            <a:ext cx="12191695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4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AGENTS COMMANDER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1191EC2-0170-423E-B785-102419F7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97680"/>
            <a:ext cx="12191695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t>Observable handoffs between terminal-native AI agents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BC0269B-D4B5-4E2B-9998-05937116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20640"/>
            <a:ext cx="1219169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Code Europe  •  Warsaw  •  Live protocol session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12402D6-EADC-4756-91DD-C6F372D7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43600"/>
            <a:ext cx="121916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Lech Kalinowski  •  v0.1.5  •  CC BY-NC 4.0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DC6C857-8428-433C-B7DE-9F4EF04C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1/12</a:t>
            </a:r>
          </a:p>
        </p:txBody>
      </p:sp>
    </p:spTree>
    <p:extLst>
      <p:ext uri="{BB962C8B-B14F-4D97-AF65-F5344CB8AC3E}">
        <p14:creationId xmlns:p14="http://schemas.microsoft.com/office/powerpoint/2010/main" val="4951457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0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DB7FB2E-79B3-4C79-BF29-306AB845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9144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1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THE FRICTION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A16B2E3-80F8-418E-BD97-B8277A05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14400"/>
            <a:ext cx="9144000" cy="1249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Powerful agents still work in separate terminals.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4A8BA537-401B-4076-B401-A7EA6D2E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86000"/>
            <a:ext cx="3291840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1F5B12D-9D1F-4767-B1BF-D5C204E6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FF4444"/>
                </a:solidFill>
                <a:latin typeface="Consolas"/>
                <a:ea typeface="Consolas"/>
                <a:cs typeface="Consolas"/>
              </a:defRPr>
            </a:pPr>
            <a:r>
              <a:t>✖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6AA03E3-6B25-47E7-A18B-8F4D0C18A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20040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Separate Sessions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F445219-C048-47E8-8BFF-3B5F93CD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840480"/>
            <a:ext cx="27432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Each CLI owns its own PTY, context, and output stream.
Coordination is invisible by default.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F19786-0700-45F1-AF72-DDE1B671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286000"/>
            <a:ext cx="3291840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232865A-4F38-4EFF-8D46-1F139EB2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65176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FF4444"/>
                </a:solidFill>
                <a:latin typeface="Consolas"/>
                <a:ea typeface="Consolas"/>
                <a:cs typeface="Consolas"/>
              </a:defRPr>
            </a:pPr>
            <a:r>
              <a:t>✖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41711A9-517B-4A15-9941-D0EC60EE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20040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Manual Handoffs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BBA05EB-136A-4DDC-8081-81E60D27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840480"/>
            <a:ext cx="27432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Copy, paste, reframe, repeat.
Every transfer loses time and provenance.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858EAC9-F2DE-4213-A2A0-2A5570C3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286000"/>
            <a:ext cx="3291840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22E90B1-0489-4F4C-B5A2-001B66FB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65176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FF4444"/>
                </a:solidFill>
                <a:latin typeface="Consolas"/>
                <a:ea typeface="Consolas"/>
                <a:cs typeface="Consolas"/>
              </a:defRPr>
            </a:pPr>
            <a:r>
              <a:t>✖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2BB9575-96D9-42C7-A4D1-5F2E947B6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20040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Hidden State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325164A-A810-46D6-A6BA-5558150D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840480"/>
            <a:ext cx="27432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A task can move, stall, or fail without a shared view of delivery,
replies, and ownership.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733AC0A-325D-4589-BFD5-C49C65F9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2/12</a:t>
            </a:r>
          </a:p>
        </p:txBody>
      </p:sp>
    </p:spTree>
    <p:extLst>
      <p:ext uri="{BB962C8B-B14F-4D97-AF65-F5344CB8AC3E}">
        <p14:creationId xmlns:p14="http://schemas.microsoft.com/office/powerpoint/2010/main" val="21265171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0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7BA366A-9237-4F8F-8986-15917BD6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9144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1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THE CORE LOOP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202F8C-732C-4C98-9F82-3027BD53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14400"/>
            <a:ext cx="9144000" cy="1249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Teach. Scan. Route. Keep agents unchanged.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8180EE0-9054-4818-9FE5-F05E6BCC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11680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Commander coordinates through each agent’s existing terminal input and output.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29B138E6-A850-40F6-92B8-4556D634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17520"/>
            <a:ext cx="3291840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27B75FD9-8258-4398-816F-372A13E3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2918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82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13D8AE-EDB8-4FCD-B20F-581E5762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337560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TEACH — Ctrl+P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5318279-C587-4CE4-9256-646FEDAC5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114800"/>
            <a:ext cx="27432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Send protocol instructions into the active
supported agent session.
No plugin or API adapter is injected.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C09B4D58-3B44-4E8C-9702-8118808F8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017520"/>
            <a:ext cx="3291840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4074826A-7FAE-4F02-BA1C-65B8FE17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2918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82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2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5583D51-0FA1-49FC-82C3-907DF3D8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337560"/>
            <a:ext cx="2103120" cy="57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SCAN — Stream Output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72F5E9A-B89F-4EE6-A8B1-19B80FDF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4114800"/>
            <a:ext cx="27432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Normalize ANSI output and reconstruct
complete blocks across streamed chunks
and soft-wrapped terminal rows.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AC580CDC-1F91-49DE-89D2-CD243F9D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017520"/>
            <a:ext cx="3291840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C5EAD9D2-7ED9-4553-B438-580BF294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2918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82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3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97BDA51-D39F-415B-9021-9979713B2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337560"/>
            <a:ext cx="2103120" cy="57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ROUTE — Deliver + Record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129C177-EA0A-44D6-99E5-EB0BFF6B4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114800"/>
            <a:ext cx="27432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Validate the target, deliver through its PTY,
then record thread/message IDs,
status, and an explicit ACK.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D6A176-4572-4BB1-8164-1D95DC5C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3/12</a:t>
            </a:r>
          </a:p>
        </p:txBody>
      </p:sp>
    </p:spTree>
    <p:extLst>
      <p:ext uri="{BB962C8B-B14F-4D97-AF65-F5344CB8AC3E}">
        <p14:creationId xmlns:p14="http://schemas.microsoft.com/office/powerpoint/2010/main" val="20909627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0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4F931B-3CEF-428C-BDDD-1E469E28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9144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1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COMMANDER PROTOCOL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392EC51-FF0C-4F64-AA85-4771C7D6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14400"/>
            <a:ext cx="91440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Five verbs make every handoff explicit.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58F19BE-EC95-4CE7-A937-044AA667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1168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SEND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47FCCB7-749F-4BBD-B669-1747CC472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1168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Deliver to a named agent and panel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3E3287-6A63-4B1A-8CC5-B61FE3D6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REPLY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03057C-F157-43BE-BB85-4A08D121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92608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Continue the last routed thread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7594296-2844-44D0-AC77-305A3998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40480"/>
            <a:ext cx="16383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BROADCAST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7378B50-A0BF-472A-8A4C-B7D2456D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40480"/>
            <a:ext cx="39243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Fan out to every other running agent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A0BC42A-0553-4E7B-A050-78BF80D9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STATUS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390B50B-8D02-4ECA-8A37-A0596B4B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5488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Update local progress; do not route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387EA0D-E3A6-48C9-9C73-11DBE1B5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QUERY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D740F22-9B06-4437-86D5-E91A30D9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66928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List the agents Commander can see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5775697-7084-4910-905D-C867F98A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828800"/>
            <a:ext cx="4754880" cy="457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C2496A5-9F5B-4ECA-98A1-568B48BB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920240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Examples (IDs are added at delivery)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C6D4426-1883-49A7-96CD-16CC023B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286000"/>
            <a:ext cx="4389120" cy="402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3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// SEND — direct message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3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===COMMANDER:SEND:codex:2===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3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Write unit tests for src/auth/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3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===COMMANDER:END===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3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</a:p>
          <a:p xmlns:a="http://schemas.openxmlformats.org/drawingml/2006/main">
            <a:pPr>
              <a:spcAft>
                <a:spcPts val="400"/>
              </a:spcAft>
              <a:buNone/>
              <a:defRPr sz="13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// REPLY — respond to sender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3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===COMMANDER:REPLY===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3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12 tests passing, 0 failing.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3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===COMMANDER:END===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3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</a:p>
          <a:p xmlns:a="http://schemas.openxmlformats.org/drawingml/2006/main">
            <a:pPr>
              <a:spcAft>
                <a:spcPts val="400"/>
              </a:spcAft>
              <a:buNone/>
              <a:defRPr sz="13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// BROADCAST — all other agents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3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===COMMANDER:BROADCAST===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3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Phase 1 complete. Begin phase 2.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3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===COMMANDER:END===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3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</a:p>
          <a:p xmlns:a="http://schemas.openxmlformats.org/drawingml/2006/main">
            <a:pPr>
              <a:spcAft>
                <a:spcPts val="400"/>
              </a:spcAft>
              <a:buNone/>
              <a:defRPr sz="1300" b="0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→ Delivery creates IDs and an ACK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2B74B2A-E1EC-4C33-BF64-34105BEE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4/12</a:t>
            </a:r>
          </a:p>
        </p:txBody>
      </p:sp>
    </p:spTree>
    <p:extLst>
      <p:ext uri="{BB962C8B-B14F-4D97-AF65-F5344CB8AC3E}">
        <p14:creationId xmlns:p14="http://schemas.microsoft.com/office/powerpoint/2010/main" val="5033605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0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14A90BD-F9A0-4DE6-94FF-FC226C52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9144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1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STREAM CONTRACT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4C72E13-4133-4A4A-AFAD-F67776F7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14400"/>
            <a:ext cx="9144000" cy="1249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A complete message is reconstructed before it can route.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DEB8A47-8BE8-4BC0-B770-47ACE03E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86000"/>
            <a:ext cx="9418320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B43EF4F-765A-481C-9F3D-1FA43943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56032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===COMMANDER:SEND:codex:2===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F02DEE6-20B8-47B0-9436-B901739D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0040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      marker       action     target agent   panel number      marker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823D96E-18CF-4561-90A5-E4E76547D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65760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{bounded multiline text reconstructed from streamed chunks}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082A228-44F8-4EF8-A55A-A3C67EBB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2336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===COMMANDER:END===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954CF3D-FD1D-42D9-9A8B-61BB7525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4632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Delivery invariants: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E918B97-A894-46CA-AF49-B2BDB76C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12080"/>
            <a:ext cx="10972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1. Normalize ANSI output without changing printable payloads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2. Reassemble markers across chunks and soft-wrapped terminal rows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3. Validate action, target, panel, and bounded content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4. Deliver through bracketed paste while the scanner is muted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5. Record thread/message IDs and return an explicit ACK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67EF9B9-01A7-4D8A-83E7-4C39D835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5/12</a:t>
            </a:r>
          </a:p>
        </p:txBody>
      </p:sp>
    </p:spTree>
    <p:extLst>
      <p:ext uri="{BB962C8B-B14F-4D97-AF65-F5344CB8AC3E}">
        <p14:creationId xmlns:p14="http://schemas.microsoft.com/office/powerpoint/2010/main" val="5749630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0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EB8AD4E-AD27-4024-A9EE-917726B6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9144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1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LIVE DEMO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F33651-B9E8-4515-B26B-EF9D9863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14400"/>
            <a:ext cx="9144000" cy="1249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Two bundled local roles prove the whole route.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8142692C-9158-45DB-9197-7E9024E15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03120"/>
            <a:ext cx="3291840" cy="4114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7375E16-D10D-458C-886E-5857BC0D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9456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● Demo Coordinator     Panel 1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F0A6C4D-7A03-4178-A6A6-635834F2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1760"/>
            <a:ext cx="2926080" cy="3474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t>Seeded workspace ready.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t/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===COMMANDER:SEND:generic:2===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2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Review brief.md. Confirm total=42.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===COMMANDER:END===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/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2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[Commander ACK]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status=delivered msg=m1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70FED11-5DDF-430F-BC22-96084F07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4048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200" b="0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➔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75E717A-C54F-4BAF-B8A0-01A9E9E0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2976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detect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425EC09-2148-4830-B45D-12A8E8CC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926080"/>
            <a:ext cx="2468880" cy="228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25400">
            <a:solidFill>
              <a:srgbClr val="00FF4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3798ACE-539F-411E-86EE-46B8924C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200400"/>
            <a:ext cx="2468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200" b="0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⚙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7EBC630-EBFC-4E7B-B915-87F5E5E36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749039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ROUTER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8C7B657-7839-4F4D-BC65-3068C3021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114800"/>
            <a:ext cx="2468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scan • validate • deliver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EFE5A99-619A-4804-AD67-EB52335C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384048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200" b="0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➔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3443487-FE31-442B-B2E4-AAE83067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2976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paste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743FA2BB-4D6E-41FF-A729-4C82B8E9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03120"/>
            <a:ext cx="3291840" cy="4114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E885279-45E9-4D25-BFEB-CD75BA9C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19456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● Demo Reviewer        Panel 2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0E9AB56-0964-4D5D-95D4-51FF9ACB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651760"/>
            <a:ext cx="2926080" cy="3474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200" b="1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[From Demo Coordinator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t>| thread=t1 | msg=m1]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t>Review brief.md. Confirm total=42.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/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t>Status: seeded total is 42.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t/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===COMMANDER:REPLY===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2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Deterministic review passed.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===COMMANDER:END===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77D95A0-5390-49EC-8A72-2F185602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6/12</a:t>
            </a:r>
          </a:p>
        </p:txBody>
      </p:sp>
    </p:spTree>
    <p:extLst>
      <p:ext uri="{BB962C8B-B14F-4D97-AF65-F5344CB8AC3E}">
        <p14:creationId xmlns:p14="http://schemas.microsoft.com/office/powerpoint/2010/main" val="19603749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0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3991451-B81A-49B4-B835-CF17E877B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9144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1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IMPLEMENTATION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46B13FF-8166-41AE-B4CA-B40CD656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14400"/>
            <a:ext cx="9144000" cy="1249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Correct routing depends on two invariants.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182443AD-00D7-4745-8189-D9D6AC1F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03120"/>
            <a:ext cx="5303520" cy="4389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5F56051-0CC9-4F4E-8BF1-C98E0941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28600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Stream reconstruction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3BEC5A1-0D46-4C60-8895-7C5F8CF0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34640"/>
            <a:ext cx="4754880" cy="3474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• Parse printable output, not terminal control sequences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• Preserve chunks until a complete END marker arrives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• Reconstruct soft-wrapped logical lines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• Bound content and deduplicate repeated frames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• Never re-route text Commander just delivered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61D8795-CDA4-4880-B712-0C2A1F249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103120"/>
            <a:ext cx="5303520" cy="4389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99D0A29-D30C-4BD1-AFAB-445BD20C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8600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Delivery + lifecycle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4835CD2-FBF9-495C-AEC4-0767C420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834640"/>
            <a:ext cx="4754880" cy="3474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• Validate target and panel before enqueue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• Serialize delivery independently per panel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• Use bracketed paste for multiline prompts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• Track thread/message IDs and explicit ACK state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• Stop the PTY process group on replacement or exit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• Drain pending work before shutdown completes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B58A23F-BC64-4A3C-A5EA-01ACFE4C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7/12</a:t>
            </a:r>
          </a:p>
        </p:txBody>
      </p:sp>
    </p:spTree>
    <p:extLst>
      <p:ext uri="{BB962C8B-B14F-4D97-AF65-F5344CB8AC3E}">
        <p14:creationId xmlns:p14="http://schemas.microsoft.com/office/powerpoint/2010/main" val="13601566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0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7C4FE56-EF53-4B59-80FD-0556F3AD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9144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1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PRODUCT SURFACE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ADF6C27-524D-429D-963F-7FAB2499F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14400"/>
            <a:ext cx="9144000" cy="1249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The UI makes every routed handoff observable.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C12BA951-CA92-4D62-9D55-F229D332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03120"/>
            <a:ext cx="329184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C00FC46-3C23-4F79-AEFD-FA41AF0A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28600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00" b="1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2–4 Panel Terminal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0B4F52E-3FD1-4188-9DDF-939010C9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743200"/>
            <a:ext cx="27432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3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Independent PTY-backed sessions.
Layout changes confirm live work.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278A593-F8BC-48D3-A632-CF3555FC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Ctrl+2/3/4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AE74B01-7CFD-434E-8233-4FF362F0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103120"/>
            <a:ext cx="329184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256DE4B-E836-487D-8F37-2AD596F96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28600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00" b="1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Routed Activity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4DF7916-8A95-4985-9C34-7C7E36D9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743200"/>
            <a:ext cx="27432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3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SEND, REPLY, BROADCAST,
IDs, state, and errors.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195BEE2-165A-4734-A2C8-A7C1ECE2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65760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F12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736C70A-7DEB-45EF-863F-DE181BBA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103120"/>
            <a:ext cx="329184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D015CE7-B50B-45AA-8022-CF3A4776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8600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00" b="1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121 Prompt Templates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A523E99-ECF1-4D45-B077-435518FE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743200"/>
            <a:ext cx="27432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3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29 collaboration workflows.
Browse and send from one dialog.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A2141A7-60EA-4DD8-BB66-FFF3DAD2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65760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Ctrl+B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A47329EA-C7A1-4909-B354-A74325B4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97679"/>
            <a:ext cx="329184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5038BEF-9501-4755-AB28-D73881A1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80559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00" b="1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File Manager + Editor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7C3A22D-A856-4913-8B9D-64A55745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937759"/>
            <a:ext cx="27432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3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Browse, copy, move, delete,
preview, and edit in place.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46F9246-1C60-4929-930C-3FCEB5A3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52159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F4–F9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ADB15498-C0FF-4505-B2B1-198BA0C4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297679"/>
            <a:ext cx="329184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F56E3FE5-D965-41FF-9730-67B2195C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4480559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00" b="1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Startup Doctor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ED6DA17-20FD-42DF-B700-71B68AFD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4937759"/>
            <a:ext cx="27432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3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Checks Node, Python, PTY,
assets, workspace, and agents.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35A6318-C815-46A0-9340-9729B81D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5852159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--doctor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E37C7197-29C9-4D4C-91D2-852887D4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4297679"/>
            <a:ext cx="329184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BD5E86F4-0729-4FB6-B82C-5E4EF7E6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480559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00" b="1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Conference + Demo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CCB8448-76DB-4F66-AA43-D6692775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937759"/>
            <a:ext cx="27432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3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Presentation-safe defaults.
Deterministic local fallback.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0320FC92-2D47-4F5A-BFFE-01896C9D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852159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--conference / --demo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407AF73-1128-4BB2-9A9D-E65D3110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8/12</a:t>
            </a:r>
          </a:p>
        </p:txBody>
      </p:sp>
    </p:spTree>
    <p:extLst>
      <p:ext uri="{BB962C8B-B14F-4D97-AF65-F5344CB8AC3E}">
        <p14:creationId xmlns:p14="http://schemas.microsoft.com/office/powerpoint/2010/main" val="13782491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0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141995-C002-488C-8F2B-E515FB54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9144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1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DEMO SAFETY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126BAEC-F6D3-4875-A4AC-25DD6C13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14400"/>
            <a:ext cx="91440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Every live step has a fallback.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5910E374-0DA3-4C02-97B4-AB6D6160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11680"/>
            <a:ext cx="10424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A99CD08-77EE-4109-97F0-082CED2D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11680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7C8D2FE-A36F-42CD-872A-5A52E5E6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11680"/>
            <a:ext cx="2926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COMMAND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131FB9-83EA-42A8-9210-C4F10607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011680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300" b="1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PROVES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62AFE0A-D459-48A3-93B1-95F9843B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011680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300" b="1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RECOVERY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C578FDA3-B4B9-4EAD-90ED-126CC98B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95728"/>
            <a:ext cx="10424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D2ECEE2-CA0B-4EB8-A115-536F8CE9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9572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Preflight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F3DC8F6-F9D2-496B-9B0E-7546860E5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395728"/>
            <a:ext cx="2926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--doctor 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A54C6BA-223E-48EE-A29E-38906C8B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395728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Runtime + assets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7CB1E74-AB31-4C70-8E7F-CFBFC80AF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395728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Fix before launch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038A775-BD98-45BB-9882-DEE250F4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79776"/>
            <a:ext cx="10424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40A0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DE8015B-2172-4BA6-A0DE-F70F43CC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79776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Stage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AFCD392-1DF5-44D8-BC4E-F39A67D5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79776"/>
            <a:ext cx="2926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--conference .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9432898-A199-43CF-A23A-8510CEEF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779776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Safe visual defaults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72D6437-35A7-4D49-A052-1A6A1DA2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779776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CLI flags still win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EC4D1D44-DAAE-431F-A0C7-B5D4B96E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63824"/>
            <a:ext cx="10424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6F37A4F-4ED2-429A-A850-A1C3F9FC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63824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Fallback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C084E5A-C183-458B-A07B-9234502B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163824"/>
            <a:ext cx="2926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--demo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2AD06AE-5186-4219-8E31-0426E159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163824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Offline routed handoff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02C4D11-2623-4E2B-805E-9EC52DEC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163824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Ctrl+O retries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90937E5B-4010-4951-B4BA-8E758D55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47872"/>
            <a:ext cx="10424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40A0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F0166FB2-B8BC-4721-8562-3FD2ED95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47872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Observe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1D832A6E-B503-4925-B5A9-0ED4F483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547872"/>
            <a:ext cx="2926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F12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5B8D2F25-573D-4567-86EA-5AB07DB4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547872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IDs + route state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CB6507C6-8B13-42E9-8509-6A63FE58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547872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Shift+F12 guide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60CAC2B9-60D7-401C-BBC7-A9CF33FA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931920"/>
            <a:ext cx="10424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4089C66D-FC0C-4A1D-8CA6-0C849261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931920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Reset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C67F707F-B878-451D-80CD-76DAB2FB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31920"/>
            <a:ext cx="2926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Ctrl+E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B0AA75AF-76E2-417F-A46C-0973DD7D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931920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Two-panel baseline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CFF01733-A645-4573-B2F3-65544CA5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931920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Tab to a file panel first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7C0755C1-A419-4AC4-83DE-8BAAFD6C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15968"/>
            <a:ext cx="10424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40A0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9575695E-FF32-4CB4-A3A3-C308CA7A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1596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Stop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5B30DE0C-1758-4BF0-96C5-7C10C637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315968"/>
            <a:ext cx="2926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Ctrl+K / F10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A6227FCE-41B9-4200-AD15-036AC00F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4315968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Process-group cleanup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2940CE06-1383-490E-B4B1-4F699A88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315968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No orphan agents</a:t>
            </a:r>
          </a:p>
        </p:txBody>
      </p:sp>
      <p:sp>
        <p:nvSpPr>
          <p:cNvPr id="39" name="Rounded Rectangle 38">
            <a:extLst xmlns:a="http://schemas.openxmlformats.org/drawingml/2006/main">
              <a:ext uri="{FF2B5EF4-FFF2-40B4-BE49-F238E27FC236}">
                <a16:creationId xmlns:a16="http://schemas.microsoft.com/office/drawing/2014/main" id="{C666A444-700D-4B34-88D0-A8A17A5D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0016"/>
            <a:ext cx="10424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3B2E197F-69D8-4AFD-A43A-D846104D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0016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Verify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9F60D09D-A1D5-4280-8B58-1731F927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700016"/>
            <a:ext cx="2926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npm run verify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B4091791-E783-49AA-AFD7-D8FAE9B2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4700016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Tests + build + pack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738EF25A-1876-4F2A-9142-44E7290A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0016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CI catches regressions</a:t>
            </a:r>
          </a:p>
        </p:txBody>
      </p:sp>
      <p:sp>
        <p:nvSpPr>
          <p:cNvPr id="44" name="Rounded Rectangle 43">
            <a:extLst xmlns:a="http://schemas.openxmlformats.org/drawingml/2006/main">
              <a:ext uri="{FF2B5EF4-FFF2-40B4-BE49-F238E27FC236}">
                <a16:creationId xmlns:a16="http://schemas.microsoft.com/office/drawing/2014/main" id="{66A1251D-9BA8-4729-A675-152B8169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84064"/>
            <a:ext cx="10424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40A0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A1C53D5F-0116-476D-BB8A-D26E4A42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84064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CI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B23E7AD3-9B25-44D3-AA78-59DFD2D7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084064"/>
            <a:ext cx="2926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Node 22 / 24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B1A01FAE-B8F5-463E-8B38-4B1D75178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5084064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Linux + macOS</a:t>
            </a: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8BD27AF2-35E6-4DDE-AFCD-AC211BEED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084064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Packed install smoke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55083C4D-8CCA-4EA1-B774-DBE100BF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9/12</a:t>
            </a:r>
          </a:p>
        </p:txBody>
      </p:sp>
    </p:spTree>
    <p:extLst>
      <p:ext uri="{BB962C8B-B14F-4D97-AF65-F5344CB8AC3E}">
        <p14:creationId xmlns:p14="http://schemas.microsoft.com/office/powerpoint/2010/main" val="1076375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0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23B8CD9-5FF8-4412-8E51-DC48AD31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9144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1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ADAPTER CATALOG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262FD8B-23D0-4E68-A81F-0F8257D2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14400"/>
            <a:ext cx="9144000" cy="1249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Four supported adapters. Six catalogued next.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E59B4396-A61F-4163-BF6A-ACFD2F7C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86000"/>
            <a:ext cx="1920240" cy="182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BE269C9-2BB1-493E-BB4E-46AA67E8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032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Claude Code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A231E6A-7638-4162-83EF-908D5171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175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SUPPORTED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C16BF9A-5419-4DBE-9A57-8A48AFD6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747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$ claude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F4FF13C-D1AD-466A-B78B-46FD16BC9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286000"/>
            <a:ext cx="1920240" cy="182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7769777-F2FD-4357-A802-A42DB10C0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56032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Codex CLI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46387CC-8633-482C-BCFD-9158E59C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0175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SUPPORTED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2EC5DB1-1A67-4221-9901-9E5D896B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4747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$ codex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528FC48-C6E4-4E78-9A4D-2E909A6E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286000"/>
            <a:ext cx="1920240" cy="182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A878364-857D-4204-A6A4-E6F7576A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56032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Gemini CLI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874DF4A-3047-4AC6-B7AB-9CF8248CD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0175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SUPPORTED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C39C3FB-2615-4E17-B672-87A094E0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4747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$ gemini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41973689-739A-45E8-B32C-5F89AB26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9" y="2286000"/>
            <a:ext cx="1920240" cy="182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CD860AB-AE06-4204-855C-94591199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256032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Shell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4BF5100-2304-40E6-B9BF-A672DF9A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30175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SUPPORTED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066D6F3-CE25-427F-9ECB-94E7A4C2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34747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$ bash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5088EC6C-45E3-431E-BD82-4FCAC263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286000"/>
            <a:ext cx="1920240" cy="182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782908E-85BD-4785-9AB7-2C5F10E8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56032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Aider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26D9A8B-788D-438A-8D79-5494E55B9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30175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CATALOGUED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3585801-AC8B-4156-B8C9-10A6CAF2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34747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$ aider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BE63F1A7-EF4F-45F7-8257-A4E3A517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80560"/>
            <a:ext cx="1920240" cy="182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F77B6A7B-578B-43BD-A481-C6B16B29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Cline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7C603D27-3FA4-49F8-B4E0-8B30A99B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208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CATALOGUED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66B59384-B6ED-4A36-ADA9-D8544110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6928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$ cline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824FDED1-2C3A-46E8-BBBB-FACE58F1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4480560"/>
            <a:ext cx="1920240" cy="182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BE99C4CD-AA0C-494E-859F-91FBE00D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475488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OpenCode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1D76D07E-0794-439E-8627-867C3A55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521208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CATALOGUED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826F0BBD-A41A-4986-A112-7840190C4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566928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$ opencode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605A99EC-A371-41B5-A5A7-F1F480797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4480560"/>
            <a:ext cx="1920240" cy="182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1BAEA588-EB3E-4231-A9A7-327A2AFF7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475488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Goose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2807145-3B13-4F3F-B832-694FB2B23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21208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CATALOGUED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D8291BA-E35E-4EE3-BA7A-24D42404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66928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$ goose</a:t>
            </a:r>
          </a:p>
        </p:txBody>
      </p:sp>
      <p:sp>
        <p:nvSpPr>
          <p:cNvPr id="36" name="Rounded Rectangle 35">
            <a:extLst xmlns:a="http://schemas.openxmlformats.org/drawingml/2006/main">
              <a:ext uri="{FF2B5EF4-FFF2-40B4-BE49-F238E27FC236}">
                <a16:creationId xmlns:a16="http://schemas.microsoft.com/office/drawing/2014/main" id="{C8CC849F-951C-4708-8B6D-B5A416E1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9" y="4480560"/>
            <a:ext cx="1920240" cy="182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808A5338-23E3-4401-BFD0-BDE37EB2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475488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Kiro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23223178-48C1-4EE1-AD09-CCA91232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521208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CATALOGUED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6701B7AB-C654-437F-8C2F-47FE7344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566928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$ kiro</a:t>
            </a:r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E09A6F40-81F8-43A5-ACE4-4C8BE615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4480560"/>
            <a:ext cx="1920240" cy="182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033AB722-4EF4-4E26-8934-3F084DB4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75488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Amp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3BF6E05A-841B-41D9-A541-A4470C30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21208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CATALOGUED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A525B665-8826-47E1-992E-3F8C4DD7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66928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rPr sz="1100" b="0">
                <a:solidFill>
                  <a:srgbClr val="7F9F7F"/>
                </a:solidFill>
                <a:latin typeface="Consolas"/>
                <a:ea typeface="Consolas"/>
                <a:cs typeface="Consolas"/>
              </a:rPr>
              <a:t>$ amp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0BD00CA7-9C3D-4D03-9CF4-73C064C4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10/12</a:t>
            </a:r>
          </a:p>
        </p:txBody>
      </p:sp>
    </p:spTree>
    <p:extLst>
      <p:ext uri="{BB962C8B-B14F-4D97-AF65-F5344CB8AC3E}">
        <p14:creationId xmlns:p14="http://schemas.microsoft.com/office/powerpoint/2010/main" val="7198801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0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7BD107F-CB59-48B4-A07C-D71B7305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"/>
            <a:ext cx="9144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1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DEMO CONTROLS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0BFBD35-5028-4E88-BC40-D010281D8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14400"/>
            <a:ext cx="9144000" cy="1249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Stay observable. Keep a recovery key ready.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075F3DAD-6199-4706-AB6A-8A25A025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03120"/>
            <a:ext cx="5303520" cy="4389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80909BA-7FC3-4AB7-B15B-1ABD0DAC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28600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Core workflow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7DE92E1-86F9-4A76-9C14-38FD980F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34640"/>
            <a:ext cx="4754880" cy="3474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F1      Help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F2      Launch Agent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F3      Add Panel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F4      View File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F5      Edit File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F6      Copy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F7      Move / Rename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F8      Mkdir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F9      Delete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F10     Quit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D7B65981-3948-42C7-9B7D-F652C40F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103120"/>
            <a:ext cx="5303520" cy="4389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8272E06-58E3-417F-9EED-DE640CB1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8600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Conference path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7239BF-7589-4241-A62F-018AC15F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834640"/>
            <a:ext cx="4754880" cy="3474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Ctrl+O        Orchestrate / retry demo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Ctrl+P        Teach protocol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Ctrl+B        Browse 121 templates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Ctrl+T        File ↔ terminal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Ctrl+K        Stop active session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Ctrl+2/3/4    Switch layout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Ctrl+E        Reset from file panel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F12           Routed Activity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4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rPr sz="1400" b="0">
                <a:solidFill>
                  <a:srgbClr val="9AB89A"/>
                </a:solidFill>
                <a:latin typeface="Consolas"/>
                <a:ea typeface="Consolas"/>
                <a:cs typeface="Consolas"/>
              </a:rPr>
              <a:t>  Shift+F12     Protocol guide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B64E7A8-B124-4E1E-96C1-0F044C92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11/12</a:t>
            </a:r>
          </a:p>
        </p:txBody>
      </p:sp>
    </p:spTree>
    <p:extLst>
      <p:ext uri="{BB962C8B-B14F-4D97-AF65-F5344CB8AC3E}">
        <p14:creationId xmlns:p14="http://schemas.microsoft.com/office/powerpoint/2010/main" val="69194906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0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3e7c9d770149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81904" y="457200"/>
            <a:ext cx="1828800" cy="1463383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2B571C4-D7DA-454D-A508-7DF7C4FC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68880"/>
            <a:ext cx="12191695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4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Make every handoff visible.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2C4EF88-ADA2-4A0A-AD75-4FC5C49C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91840"/>
            <a:ext cx="1219169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t>Start offline. Inspect the route. Then swap in real agents.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68646C1F-A196-4BB4-8193-DFF56638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23360"/>
            <a:ext cx="5760720" cy="1645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A180A"/>
          </a:solidFill>
          <a:ln xmlns:a="http://schemas.openxmlformats.org/drawingml/2006/main" w="12700">
            <a:solidFill>
              <a:srgbClr val="00882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D7D471-F0C7-46DB-A417-EDEB97E7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4206240"/>
            <a:ext cx="52120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600" b="1">
                <a:solidFill>
                  <a:srgbClr val="00FF41"/>
                </a:solidFill>
                <a:latin typeface="Consolas"/>
                <a:ea typeface="Consolas"/>
                <a:cs typeface="Consolas"/>
              </a:defRPr>
            </a:pPr>
            <a:r>
              <a:t>$ agents-commander --doctor .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600" b="0">
                <a:solidFill>
                  <a:srgbClr val="D0E8D0"/>
                </a:solidFill>
                <a:latin typeface="Consolas"/>
                <a:ea typeface="Consolas"/>
                <a:cs typeface="Consolas"/>
              </a:defRPr>
            </a:pPr>
            <a:r>
              <a:t>$ agents-commander --demo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600" b="0">
                <a:solidFill>
                  <a:srgbClr val="7A9A7A"/>
                </a:solidFill>
                <a:latin typeface="Consolas"/>
                <a:ea typeface="Consolas"/>
                <a:cs typeface="Consolas"/>
              </a:defRPr>
            </a:pPr>
            <a:r>
              <a:t>$ agents-commander --conference 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AEC0BD1-4425-4206-AEB3-0B15BB9F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43600"/>
            <a:ext cx="121916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0">
                <a:solidFill>
                  <a:srgbClr val="00CC33"/>
                </a:solidFill>
                <a:latin typeface="Consolas"/>
                <a:ea typeface="Consolas"/>
                <a:cs typeface="Consolas"/>
              </a:defRPr>
            </a:pPr>
            <a:r>
              <a:t>github.com/lech-kalinowski/agents-commander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63D474F-FEA2-485F-BA06-028DDF43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16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Node.js 22+  •  Python 3  •  macOS / Linux  •  v0.1.5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251B42F-0482-4A79-9E65-262FA0FD0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00" b="0">
                <a:solidFill>
                  <a:srgbClr val="4A6A4A"/>
                </a:solidFill>
                <a:latin typeface="Consolas"/>
                <a:ea typeface="Consolas"/>
                <a:cs typeface="Consolas"/>
              </a:defRPr>
            </a:pPr>
            <a:r>
              <a:t>12/12</a:t>
            </a:r>
          </a:p>
        </p:txBody>
      </p:sp>
    </p:spTree>
    <p:extLst>
      <p:ext uri="{BB962C8B-B14F-4D97-AF65-F5344CB8AC3E}">
        <p14:creationId xmlns:p14="http://schemas.microsoft.com/office/powerpoint/2010/main" val="108093632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2026-07-29T14:05:39.2740000Z</dcterms:created>
  <dcterms:modified xsi:type="dcterms:W3CDTF">2026-07-29T14:05:39.2740000Z</dcterms:modified>
</coreProperties>
</file>