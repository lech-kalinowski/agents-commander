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688f34de9954039" /><Relationship Type="http://schemas.openxmlformats.org/officeDocument/2006/relationships/extended-properties" Target="/docProps/app.xml" Id="R1cd85366c2a34003" /><Relationship Type="http://schemas.openxmlformats.org/officeDocument/2006/relationships/officeDocument" Target="/ppt/presentation.xml" Id="R94338003f9ee4edf" /></Relationships>
</file>

<file path=ppt/presentation.xml><?xml version="1.0" encoding="utf-8"?>
<p:presentation xmlns:p="http://schemas.openxmlformats.org/presentationml/2006/main">
  <p:sldMasterIdLst>
    <p:sldMasterId xmlns:r="http://schemas.openxmlformats.org/officeDocument/2006/relationships" id="2147483648" r:id="Rb1f96017c7a6400c"/>
  </p:sldMasterIdLst>
  <p:notesMasterIdLst>
    <p:notesMasterId xmlns:r="http://schemas.openxmlformats.org/officeDocument/2006/relationships" r:id="R84611b9315c84933"/>
  </p:notesMasterIdLst>
  <p:sldIdLst>
    <p:sldId xmlns:r="http://schemas.openxmlformats.org/officeDocument/2006/relationships" id="256" r:id="Ra0ef6f8491b54df8"/>
    <p:sldId xmlns:r="http://schemas.openxmlformats.org/officeDocument/2006/relationships" id="257" r:id="R3aae5675ddb74e05"/>
    <p:sldId xmlns:r="http://schemas.openxmlformats.org/officeDocument/2006/relationships" id="258" r:id="R9f72429f90524e51"/>
    <p:sldId xmlns:r="http://schemas.openxmlformats.org/officeDocument/2006/relationships" id="259" r:id="Rc11614a4797c4922"/>
    <p:sldId xmlns:r="http://schemas.openxmlformats.org/officeDocument/2006/relationships" id="260" r:id="R9fae09bf06f6477e"/>
    <p:sldId xmlns:r="http://schemas.openxmlformats.org/officeDocument/2006/relationships" id="261" r:id="Rb398c4248c3a4d9e"/>
    <p:sldId xmlns:r="http://schemas.openxmlformats.org/officeDocument/2006/relationships" id="262" r:id="R6b656aea6d734c26"/>
    <p:sldId xmlns:r="http://schemas.openxmlformats.org/officeDocument/2006/relationships" id="263" r:id="R4123c7500c584455"/>
    <p:sldId xmlns:r="http://schemas.openxmlformats.org/officeDocument/2006/relationships" id="264" r:id="Rb9a3c1d66a8d4abc"/>
    <p:sldId xmlns:r="http://schemas.openxmlformats.org/officeDocument/2006/relationships" id="265" r:id="R7aef3ed8becf4f05"/>
    <p:sldId xmlns:r="http://schemas.openxmlformats.org/officeDocument/2006/relationships" id="266" r:id="R6a3477bc81324cdb"/>
    <p:sldId xmlns:r="http://schemas.openxmlformats.org/officeDocument/2006/relationships" id="267" r:id="R221d0df608744b76"/>
    <p:sldId xmlns:r="http://schemas.openxmlformats.org/officeDocument/2006/relationships" id="268" r:id="R0214664b8770420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988b513b96ad47e0" /><Relationship Type="http://schemas.openxmlformats.org/officeDocument/2006/relationships/slideMaster" Target="/ppt/slideMasters/slideMaster1.xml" Id="Rb1f96017c7a6400c" /><Relationship Type="http://schemas.openxmlformats.org/officeDocument/2006/relationships/notesMaster" Target="/ppt/notesMasters/notesMaster1.xml" Id="R84611b9315c84933" /><Relationship Type="http://schemas.openxmlformats.org/officeDocument/2006/relationships/presProps" Target="/ppt/presProps.xml" Id="Rbfa57fa5a977475e" /><Relationship Type="http://schemas.openxmlformats.org/officeDocument/2006/relationships/viewProps" Target="/ppt/viewProps.xml" Id="R395ebc17d6884d56" /><Relationship Type="http://schemas.openxmlformats.org/officeDocument/2006/relationships/tableStyles" Target="/ppt/tableStyles.xml" Id="R35bd5d06431746cd" /><Relationship Type="http://schemas.openxmlformats.org/officeDocument/2006/relationships/slide" Target="/ppt/slides/slide1.xml" Id="Ra0ef6f8491b54df8" /><Relationship Type="http://schemas.openxmlformats.org/officeDocument/2006/relationships/slide" Target="/ppt/slides/slide2.xml" Id="R3aae5675ddb74e05" /><Relationship Type="http://schemas.openxmlformats.org/officeDocument/2006/relationships/slide" Target="/ppt/slides/slide3.xml" Id="R9f72429f90524e51" /><Relationship Type="http://schemas.openxmlformats.org/officeDocument/2006/relationships/slide" Target="/ppt/slides/slide4.xml" Id="Rc11614a4797c4922" /><Relationship Type="http://schemas.openxmlformats.org/officeDocument/2006/relationships/slide" Target="/ppt/slides/slide5.xml" Id="R9fae09bf06f6477e" /><Relationship Type="http://schemas.openxmlformats.org/officeDocument/2006/relationships/slide" Target="/ppt/slides/slide6.xml" Id="Rb398c4248c3a4d9e" /><Relationship Type="http://schemas.openxmlformats.org/officeDocument/2006/relationships/slide" Target="/ppt/slides/slide7.xml" Id="R6b656aea6d734c26" /><Relationship Type="http://schemas.openxmlformats.org/officeDocument/2006/relationships/slide" Target="/ppt/slides/slide8.xml" Id="R4123c7500c584455" /><Relationship Type="http://schemas.openxmlformats.org/officeDocument/2006/relationships/slide" Target="/ppt/slides/slide9.xml" Id="Rb9a3c1d66a8d4abc" /><Relationship Type="http://schemas.openxmlformats.org/officeDocument/2006/relationships/slide" Target="/ppt/slides/slide10.xml" Id="R7aef3ed8becf4f05" /><Relationship Type="http://schemas.openxmlformats.org/officeDocument/2006/relationships/slide" Target="/ppt/slides/slide11.xml" Id="R6a3477bc81324cdb" /><Relationship Type="http://schemas.openxmlformats.org/officeDocument/2006/relationships/slide" Target="/ppt/slides/slide12.xml" Id="R221d0df608744b76" /><Relationship Type="http://schemas.openxmlformats.org/officeDocument/2006/relationships/slide" Target="/ppt/slides/slide13.xml" Id="R0214664b8770420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6044bb72844f1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08fbf2fb1a64da9" /><Relationship Type="http://schemas.openxmlformats.org/officeDocument/2006/relationships/notesMaster" Target="/ppt/notesMasters/notesMaster1.xml" Id="R949c0e4c221b482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11d346425ea4223" /><Relationship Type="http://schemas.openxmlformats.org/officeDocument/2006/relationships/notesMaster" Target="/ppt/notesMasters/notesMaster1.xml" Id="R3e18212beb7746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34a443f56c470f" /><Relationship Type="http://schemas.openxmlformats.org/officeDocument/2006/relationships/notesMaster" Target="/ppt/notesMasters/notesMaster1.xml" Id="R609384aee22642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6b370bdae6b845ba" /><Relationship Type="http://schemas.openxmlformats.org/officeDocument/2006/relationships/notesMaster" Target="/ppt/notesMasters/notesMaster1.xml" Id="R74c0cbbd378245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89d4ed53c1044d38" /><Relationship Type="http://schemas.openxmlformats.org/officeDocument/2006/relationships/notesMaster" Target="/ppt/notesMasters/notesMaster1.xml" Id="R0144ea3bbf3e4e0a" /></Relationships>
</file>

<file path=ppt/notesSlides/_rels/notesSlide6.xml.rels>&#65279;<?xml version="1.0" encoding="utf-8"?><Relationships xmlns="http://schemas.openxmlformats.org/package/2006/relationships"><Relationship Type="http://schemas.openxmlformats.org/officeDocument/2006/relationships/slide" Target="/ppt/slides/slide6.xml" Id="R30749bea658a4a4d" /><Relationship Type="http://schemas.openxmlformats.org/officeDocument/2006/relationships/notesMaster" Target="/ppt/notesMasters/notesMaster1.xml" Id="Re8b5e2a9cec84250"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00c968c0614f0d" /><Relationship Type="http://schemas.openxmlformats.org/officeDocument/2006/relationships/notesMaster" Target="/ppt/notesMasters/notesMaster1.xml" Id="R034eefd699c24ec5" /></Relationships>
</file>

<file path=ppt/notesSlides/_rels/notesSlide8.xml.rels>&#65279;<?xml version="1.0" encoding="utf-8"?><Relationships xmlns="http://schemas.openxmlformats.org/package/2006/relationships"><Relationship Type="http://schemas.openxmlformats.org/officeDocument/2006/relationships/slide" Target="/ppt/slides/slide8.xml" Id="R76114f5385694d7f" /><Relationship Type="http://schemas.openxmlformats.org/officeDocument/2006/relationships/notesMaster" Target="/ppt/notesMasters/notesMaster1.xml" Id="R36182c38245f45e9" /></Relationships>
</file>

<file path=ppt/notesSlides/_rels/notesSlide9.xml.rels>&#65279;<?xml version="1.0" encoding="utf-8"?><Relationships xmlns="http://schemas.openxmlformats.org/package/2006/relationships"><Relationship Type="http://schemas.openxmlformats.org/officeDocument/2006/relationships/slide" Target="/ppt/slides/slide9.xml" Id="Ra22e1ffe815c4824" /><Relationship Type="http://schemas.openxmlformats.org/officeDocument/2006/relationships/notesMaster" Target="/ppt/notesMasters/notesMaster1.xml" Id="Ra3010568bd8f448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fa22fd818a74f87" /><Relationship Type="http://schemas.openxmlformats.org/officeDocument/2006/relationships/notesMaster" Target="/ppt/notesMasters/notesMaster1.xml" Id="R9271027cb0094d0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2e49bbbaa2d453a" /><Relationship Type="http://schemas.openxmlformats.org/officeDocument/2006/relationships/notesMaster" Target="/ppt/notesMasters/notesMaster1.xml" Id="R345c4a2ce4d646e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10829e9950b40c9" /><Relationship Type="http://schemas.openxmlformats.org/officeDocument/2006/relationships/notesMaster" Target="/ppt/notesMasters/notesMaster1.xml" Id="R28ae06f1a8704c9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52f666ccc9247b6" /><Relationship Type="http://schemas.openxmlformats.org/officeDocument/2006/relationships/notesMaster" Target="/ppt/notesMasters/notesMaster1.xml" Id="R00efe4e9025649c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a:t>
            </a:r>
          </a:p>
          <a:p xmlns:a="http://schemas.openxmlformats.org/drawingml/2006/main">
            <a:r>
              <a:t/>
            </a:r>
          </a:p>
          <a:p xmlns:a="http://schemas.openxmlformats.org/drawingml/2006/main">
            <a:r>
              <a:t>Open with the exact public session promise. Existing terminal-native coding agents can collaborate through ordinary terminal input and output without adding a central orchestration server or heavyweight multi-agent framework.</a:t>
            </a:r>
          </a:p>
          <a:p xmlns:a="http://schemas.openxmlformats.org/drawingml/2006/main">
            <a:r>
              <a:t/>
            </a:r>
          </a:p>
          <a:p xmlns:a="http://schemas.openxmlformats.org/drawingml/2006/main">
            <a:r>
              <a:t>Clarify the thesis immediately: this is not about spawning more agents. It is about making handoffs inspectable.</a:t>
            </a:r>
          </a:p>
          <a:p xmlns:a="http://schemas.openxmlformats.org/drawingml/2006/main">
            <a:r>
              <a:t/>
            </a:r>
          </a:p>
          <a:p xmlns:a="http://schemas.openxmlformats.org/drawingml/2006/main">
            <a:r>
              <a:t>Transition: “First, why does collaboration still feel manual when every agent is already capable?”</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commander/package.json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Use the three cards as one story: an analyst, implementer, and reviewer can each be useful while remaining separate CLI sessions. Today the developer acts as the message bus by copying prompts, outputs, and assumptions.</a:t>
            </a:r>
          </a:p>
          <a:p xmlns:a="http://schemas.openxmlformats.org/drawingml/2006/main">
            <a:r>
              <a:t/>
            </a:r>
          </a:p>
          <a:p xmlns:a="http://schemas.openxmlformats.org/drawingml/2006/main">
            <a:r>
              <a:t>Do not call the sessions security-isolated. They have separate PTYs, process/session identity, context streams, and output, but they intentionally share the selected workspace and inherit the host environment.</a:t>
            </a:r>
          </a:p>
          <a:p xmlns:a="http://schemas.openxmlformats.org/drawingml/2006/main">
            <a:r>
              <a:t/>
            </a:r>
          </a:p>
          <a:p xmlns:a="http://schemas.openxmlformats.org/drawingml/2006/main">
            <a:r>
              <a:t>Audience prompt: ask who has pasted an answer from one agent into another and later lost its origin.</a:t>
            </a:r>
          </a:p>
          <a:p xmlns:a="http://schemas.openxmlformats.org/drawingml/2006/main">
            <a:r>
              <a:t/>
            </a:r>
          </a:p>
          <a:p xmlns:a="http://schemas.openxmlformats.org/drawingml/2006/main">
            <a:r>
              <a:t>Transition: “The smallest useful alternative is not a framework. It is local terminal transport.”</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commander/src/agents/agent-manager.ts</a:t>
            </a:r>
          </a:p>
          <a:p xmlns:a="http://schemas.openxmlformats.org/drawingml/2006/main">
            <a:r>
              <a:t>- /Users/lech.kalinowski/products/agents commander/src/panels/terminal-panel.ts</a:t>
            </a:r>
          </a:p>
          <a:p xmlns:a="http://schemas.openxmlformats.org/drawingml/2006/main">
            <a:r>
              <a:t>- /Users/lech.kalinowski/products/agents commander/src/agents/pty-helper.py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Walk left to right. Ctrl+P teaches one managed session and gives it a fresh session-bound capability. Commander observes printable PTY output, validates a complete frame locally, then injects bracketed-paste input through the destination PTY.</a:t>
            </a:r>
          </a:p>
          <a:p xmlns:a="http://schemas.openxmlformats.org/drawingml/2006/main">
            <a:r>
              <a:t/>
            </a:r>
          </a:p>
          <a:p xmlns:a="http://schemas.openxmlformats.org/drawingml/2006/main">
            <a:r>
              <a:t>“No server” means no additional central orchestration server; Commander is still a local in-process router. “No framework” means no heavyweight multi-agent framework, agent SDK, binary modification, or provider-specific plugin in the routing path. Real CLIs may still call their own remote providers.</a:t>
            </a:r>
          </a:p>
          <a:p xmlns:a="http://schemas.openxmlformats.org/drawingml/2006/main">
            <a:r>
              <a:t/>
            </a:r>
          </a:p>
          <a:p xmlns:a="http://schemas.openxmlformats.org/drawingml/2006/main">
            <a:r>
              <a:t>The capability is visible in the agent transcript. Treat it as authorization for the current armed session, not as a confidentiality boundary.</a:t>
            </a:r>
          </a:p>
          <a:p xmlns:a="http://schemas.openxmlformats.org/drawingml/2006/main">
            <a:r>
              <a:t/>
            </a:r>
          </a:p>
          <a:p xmlns:a="http://schemas.openxmlformats.org/drawingml/2006/main">
            <a:r>
              <a:t>Transition: “That local transport only needs five verbs.”</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commander/src/orchestration/protocol.ts</a:t>
            </a:r>
          </a:p>
          <a:p xmlns:a="http://schemas.openxmlformats.org/drawingml/2006/main">
            <a:r>
              <a:t>- /Users/lech.kalinowski/products/agents commander/src/orchestration/orchestrator.ts</a:t>
            </a:r>
          </a:p>
          <a:p xmlns:a="http://schemas.openxmlformats.org/drawingml/2006/main">
            <a:r>
              <a:t>- /Users/lech.kalinowski/products/agents commander/src/panels/terminal-panel.ts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Introduce SEND, REPLY, BROADCAST, STATUS, and QUERY. Each armed session gets its own fresh capability; &lt;k&gt; is presentation shorthand, not a literal runnable key. Copied examples and stale capabilities are inert.</a:t>
            </a:r>
          </a:p>
          <a:p xmlns:a="http://schemas.openxmlformats.org/drawingml/2006/main">
            <a:r>
              <a:t/>
            </a:r>
          </a:p>
          <a:p xmlns:a="http://schemas.openxmlformats.org/drawingml/2006/main">
            <a:r>
              <a:t>The verbs remain visible text on existing terminal surfaces. Commander observes, validates, and injects that text without a provider-specific API integration. REPLY continues an open routed thread; STATUS updates local progress and QUERY lists visible agents.</a:t>
            </a:r>
          </a:p>
          <a:p xmlns:a="http://schemas.openxmlformats.org/drawingml/2006/main">
            <a:r>
              <a:t/>
            </a:r>
          </a:p>
          <a:p xmlns:a="http://schemas.openxmlformats.org/drawingml/2006/main">
            <a:r>
              <a:t>Transition: “The verbs are easy. Reconstructing a trustworthy message from a terminal stream is the real work.”</a:t>
            </a:r>
          </a:p>
          <a:p xmlns:a="http://schemas.openxmlformats.org/drawingml/2006/main">
            <a:r>
              <a:t/>
            </a:r>
          </a:p>
          <a:p xmlns:a="http://schemas.openxmlformats.org/drawingml/2006/main">
            <a:r>
              <a:t>[Sources]</a:t>
            </a:r>
          </a:p>
          <a:p xmlns:a="http://schemas.openxmlformats.org/drawingml/2006/main">
            <a:r>
              <a:t>- /Users/lech.kalinowski/products/agents commander/README.md</a:t>
            </a:r>
          </a:p>
          <a:p xmlns:a="http://schemas.openxmlformats.org/drawingml/2006/main">
            <a:r>
              <a:t>- /Users/lech.kalinowski/products/agents commander/src/orchestration/protocol.ts</a:t>
            </a:r>
          </a:p>
          <a:p xmlns:a="http://schemas.openxmlformats.org/drawingml/2006/main">
            <a:r>
              <a:t>- /Users/lech.kalinowski/products/agents commander/src/orchestration/message-ledger.ts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Trace the frame from start marker to matching END. PTY output arrives in arbitrary chunks, can contain ANSI controls, and can soft-wrap across terminal rows. Commander buffers until the frame is complete, checks the current capability, validates the target and bounded payload, then injects the text into the destination PTY.</a:t>
            </a:r>
          </a:p>
          <a:p xmlns:a="http://schemas.openxmlformats.org/drawingml/2006/main">
            <a:r>
              <a:t/>
            </a:r>
          </a:p>
          <a:p xmlns:a="http://schemas.openxmlformats.org/drawingml/2006/main">
            <a:r>
              <a:t>The scanner stays live during delivery; only the exact known outgoing echo is suppressed. An ACK means the text was accepted and submitted to the destination PTY. It does not prove that the model read it, understood it, completed the task, or produced a correct answer.</a:t>
            </a:r>
          </a:p>
          <a:p xmlns:a="http://schemas.openxmlformats.org/drawingml/2006/main">
            <a:r>
              <a:t/>
            </a:r>
          </a:p>
          <a:p xmlns:a="http://schemas.openxmlformats.org/drawingml/2006/main">
            <a:r>
              <a:t>Transition: “Let’s prove the transport without trusting a model, network, or API key.”</a:t>
            </a:r>
          </a:p>
          <a:p xmlns:a="http://schemas.openxmlformats.org/drawingml/2006/main">
            <a:r>
              <a:t/>
            </a:r>
          </a:p>
          <a:p xmlns:a="http://schemas.openxmlformats.org/drawingml/2006/main">
            <a:r>
              <a:t>[Sources]</a:t>
            </a:r>
          </a:p>
          <a:p xmlns:a="http://schemas.openxmlformats.org/drawingml/2006/main">
            <a:r>
              <a:t>- /Users/lech.kalinowski/products/agents commander/src/orchestration/protocol.ts</a:t>
            </a:r>
          </a:p>
          <a:p xmlns:a="http://schemas.openxmlformats.org/drawingml/2006/main">
            <a:r>
              <a:t>- /Users/lech.kalinowski/products/agents commander/src/orchestration/orchestrator.ts</a:t>
            </a:r>
          </a:p>
          <a:p xmlns:a="http://schemas.openxmlformats.org/drawingml/2006/main">
            <a:r>
              <a:t>- /Users/lech.kalinowski/products/agents commander/src/panels/vterm.ts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6:00</a:t>
            </a:r>
          </a:p>
          <a:p xmlns:a="http://schemas.openxmlformats.org/drawingml/2006/main">
            <a:r>
              <a:t/>
            </a:r>
          </a:p>
          <a:p xmlns:a="http://schemas.openxmlformats.org/drawingml/2006/main">
            <a:r>
              <a:t>[Offline transport proof]</a:t>
            </a:r>
          </a:p>
          <a:p xmlns:a="http://schemas.openxmlformats.org/drawingml/2006/main">
            <a:r>
              <a:t>1. Start: node dist/bin/agents-commander.js --demo</a:t>
            </a:r>
          </a:p>
          <a:p xmlns:a="http://schemas.openxmlformats.org/drawingml/2006/main">
            <a:r>
              <a:t>2. Say this plainly: the UI labels are Demo Coordinator and Demo Reviewer, but both bundled roles are deterministic scripts, not LLM agents. They prove PTY observation, capability validation, input injection, SEND, local STATUS, REPLY, and Activity evidence.</a:t>
            </a:r>
          </a:p>
          <a:p xmlns:a="http://schemas.openxmlformats.org/drawingml/2006/main">
            <a:r>
              <a:t>3. Identify Demo Coordinator in panel 1 and Demo Reviewer in panel 2. &lt;k1&gt; and &lt;k2&gt; are different session-bound capabilities.</a:t>
            </a:r>
          </a:p>
          <a:p xmlns:a="http://schemas.openxmlformats.org/drawingml/2006/main">
            <a:r>
              <a:t>4. Show SEND, the destination input, local STATUS, the explicit REPLY, and the Coordinator continuing with final STATUS. STATUS is observed locally and does not route.</a:t>
            </a:r>
          </a:p>
          <a:p xmlns:a="http://schemas.openxmlformats.org/drawingml/2006/main">
            <a:r>
              <a:t>5. Open F12. Point to source, target, thread/message IDs, delivery state, and the error field, which is empty on success.</a:t>
            </a:r>
          </a:p>
          <a:p xmlns:a="http://schemas.openxmlformats.org/drawingml/2006/main">
            <a:r>
              <a:t/>
            </a:r>
          </a:p>
          <a:p xmlns:a="http://schemas.openxmlformats.org/drawingml/2006/main">
            <a:r>
              <a:t>The slide is an abbreviated schematic for projector readability. In the live run, show the actual marker frames and the full ACK: [Commander ACK] status=delivered msg=msg_... thread=thr_... target=... panel=.... The proof is local, deterministic, and requires no network, credentials, or external agent CLI. It proves transport, not reasoning or agreement.</a:t>
            </a:r>
          </a:p>
          <a:p xmlns:a="http://schemas.openxmlformats.org/drawingml/2006/main">
            <a:r>
              <a:t/>
            </a:r>
          </a:p>
          <a:p xmlns:a="http://schemas.openxmlformats.org/drawingml/2006/main">
            <a:r>
              <a:t>Recovery: when no demo role remains live, Ctrl+O can offer a fresh seeded demo. While either role is live, Ctrl+O opens normal Orchestrate; relaunch --demo for a clean reset.</a:t>
            </a:r>
          </a:p>
          <a:p xmlns:a="http://schemas.openxmlformats.org/drawingml/2006/main">
            <a:r>
              <a:t/>
            </a:r>
          </a:p>
          <a:p xmlns:a="http://schemas.openxmlformats.org/drawingml/2006/main">
            <a:r>
              <a:t>Transition: “Transport is necessary, but the public promise is collaboration. Now let’s let real agents challenge one another.”</a:t>
            </a:r>
          </a:p>
          <a:p xmlns:a="http://schemas.openxmlformats.org/drawingml/2006/main">
            <a:r>
              <a:t/>
            </a:r>
          </a:p>
          <a:p xmlns:a="http://schemas.openxmlformats.org/drawingml/2006/main">
            <a:r>
              <a:t>[Sources]</a:t>
            </a:r>
          </a:p>
          <a:p xmlns:a="http://schemas.openxmlformats.org/drawingml/2006/main">
            <a:r>
              <a:t>- /Users/lech.kalinowski/products/agents commander/src/demo/demo-agent.js</a:t>
            </a:r>
          </a:p>
          <a:p xmlns:a="http://schemas.openxmlformats.org/drawingml/2006/main">
            <a:r>
              <a:t>- /Users/lech.kalinowski/products/agents commander/src/demo/demo-agents.ts</a:t>
            </a:r>
          </a:p>
          <a:p xmlns:a="http://schemas.openxmlformats.org/drawingml/2006/main">
            <a:r>
              <a:t>- /Users/lech.kalinowski/products/agents commander/src/demo/demo-workspace.ts</a:t>
            </a:r>
          </a:p>
          <a:p xmlns:a="http://schemas.openxmlformats.org/drawingml/2006/main">
            <a:r>
              <a:t>- /Users/lech.kalinowski/products/agents commander/tests/integration/demo-agent.test.ts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9:00</a:t>
            </a:r>
          </a:p>
          <a:p xmlns:a="http://schemas.openxmlformats.org/drawingml/2006/main">
            <a:r>
              <a:t/>
            </a:r>
          </a:p>
          <a:p xmlns:a="http://schemas.openxmlformats.org/drawingml/2006/main">
            <a:r>
              <a:t>[Primary real-agent branch]</a:t>
            </a:r>
          </a:p>
          <a:p xmlns:a="http://schemas.openxmlformats.org/drawingml/2006/main">
            <a:r>
              <a:t>Fixed setup: launch node dist/bin/agents-commander.js --conference --panels 2 . Panel 1 is Codex CLI; panel 2 is Claude Code. Authenticate both before the room opens and press Ctrl+P in each panel. The task is read-only and always targets src/orchestration/message-ledger.ts.</a:t>
            </a:r>
          </a:p>
          <a:p xmlns:a="http://schemas.openxmlformats.org/drawingml/2006/main">
            <a:r>
              <a:t/>
            </a:r>
          </a:p>
          <a:p xmlns:a="http://schemas.openxmlformats.org/drawingml/2006/main">
            <a:r>
              <a:t>Type this exact prompt in panel 1:</a:t>
            </a:r>
          </a:p>
          <a:p xmlns:a="http://schemas.openxmlformats.org/drawingml/2006/main">
            <a:r>
              <a:t>“Read src/orchestration/message-ledger.ts. Do not edit files. In at most five bullets, propose a minimal opt-in design that persists routed Activity across restarts. Say whether message content is stored and name one security assumption. End the proposal with PROPOSAL_READY. Then use Commander SEND to Claude Code in panel 2 with this exact request: Challenge the assumption that full message content should be persisted. Cite two concrete controls already present in message-ledger.ts, give one testable acceptance criterion, end with CHALLENGE_READY, and REPLY to me. When the challenge returns, refine or reject your proposal with evidence from the file, name one test, and end with REFINED_READY.”</a:t>
            </a:r>
          </a:p>
          <a:p xmlns:a="http://schemas.openxmlformats.org/drawingml/2006/main">
            <a:r>
              <a:t/>
            </a:r>
          </a:p>
          <a:p xmlns:a="http://schemas.openxmlformats.org/drawingml/2006/main">
            <a:r>
              <a:t>Expected objection: durable full-content storage may retain sensitive prompts and bypass the ledger's bounded in-memory design. A useful challenge cites maxMessages plus the content-byte limits or truncation behavior. A useful refinement keeps persistence opt-in, defaults to metadata-only or redacted content, rotates within a bound, and names a test.</a:t>
            </a:r>
          </a:p>
          <a:p xmlns:a="http://schemas.openxmlformats.org/drawingml/2006/main">
            <a:r>
              <a:t/>
            </a:r>
          </a:p>
          <a:p xmlns:a="http://schemas.openxmlformats.org/drawingml/2006/main">
            <a:r>
              <a:t>Success means panel 2 challenges through a routed reply, panel 1 reaches REFINED_READY, and F12 shows delivered SEND and REPLY records on the same thread with the expected source and target. Allow 45 seconds per agent response. On timeout, authentication failure, provider failure, or routing error: open F12 once, name the visible failure, stop waiting, narrate the prepared challenge/refinement from this slide, and continue. Do not debug credentials on stage.</a:t>
            </a:r>
          </a:p>
          <a:p xmlns:a="http://schemas.openxmlformats.org/drawingml/2006/main">
            <a:r>
              <a:t/>
            </a:r>
          </a:p>
          <a:p xmlns:a="http://schemas.openxmlformats.org/drawingml/2006/main">
            <a:r>
              <a:t>This branch is not deterministic. Do not imply that Commander detects truth, semantic disagreement, or consensus. It exposes the raw challenge and response so a human can inspect, stop, redirect, or ask for more evidence.</a:t>
            </a:r>
          </a:p>
          <a:p xmlns:a="http://schemas.openxmlformats.org/drawingml/2006/main">
            <a:r>
              <a:t/>
            </a:r>
          </a:p>
          <a:p xmlns:a="http://schemas.openxmlformats.org/drawingml/2006/main">
            <a:r>
              <a:t>Watch for feedback loops, duplicated work, and surprising ownership changes; Commander exposes them but does not interpret them.</a:t>
            </a:r>
          </a:p>
          <a:p xmlns:a="http://schemas.openxmlformats.org/drawingml/2006/main">
            <a:r>
              <a:t/>
            </a:r>
          </a:p>
          <a:p xmlns:a="http://schemas.openxmlformats.org/drawingml/2006/main">
            <a:r>
              <a:t>Fallback: if any real CLI or provider is unhealthy, narrate the same challenge/refine sequence from this slide and continue with the already-proven scripted transport. Never relabel the scripted roles as AI agents.</a:t>
            </a:r>
          </a:p>
          <a:p xmlns:a="http://schemas.openxmlformats.org/drawingml/2006/main">
            <a:r>
              <a:t/>
            </a:r>
          </a:p>
          <a:p xmlns:a="http://schemas.openxmlformats.org/drawingml/2006/main">
            <a:r>
              <a:t>An ACK proves delivery to a PTY—not understanding, task completion, correctness, or agreement.</a:t>
            </a:r>
          </a:p>
          <a:p xmlns:a="http://schemas.openxmlformats.org/drawingml/2006/main">
            <a:r>
              <a:t/>
            </a:r>
          </a:p>
          <a:p xmlns:a="http://schemas.openxmlformats.org/drawingml/2006/main">
            <a:r>
              <a:t>Transition: “The product idea is older than AI: keep every working surface visible.”</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commander/src/orchestration/orchestrator.ts</a:t>
            </a:r>
          </a:p>
          <a:p xmlns:a="http://schemas.openxmlformats.org/drawingml/2006/main">
            <a:r>
              <a:t>- /Users/lech.kalinowski/products/agents commander/src/screen/dialog/activity-dialog.ts</a:t>
            </a:r>
          </a:p>
          <a:p xmlns:a="http://schemas.openxmlformats.org/drawingml/2006/main">
            <a:r>
              <a:t>- /Users/lech.kalinowski/products/agents commander/src/orchestration/message-ledger.ts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Name the inspiration explicitly: Norton Commander made files and actions spatially visible. Agents Commander applies that idea to terminal-native AI sessions—multiple CLIs side by side, each in its own PTY/context stream, intentionally sharing the selected workspace.</a:t>
            </a:r>
          </a:p>
          <a:p xmlns:a="http://schemas.openxmlformats.org/drawingml/2006/main">
            <a:r>
              <a:t/>
            </a:r>
          </a:p>
          <a:p xmlns:a="http://schemas.openxmlformats.org/drawingml/2006/main">
            <a:r>
              <a:t>Visibility is the control plane: F12 shows bounded in-session SEND/REPLY/BROADCAST route evidence, IDs, state, and error fields; F11 finds active or hidden sessions; stable panel identity lets the human trace routed handoffs and reply chains. Activity is bounded in-memory history, not durable replay, and it does not include STATUS or QUERY events.</a:t>
            </a:r>
          </a:p>
          <a:p xmlns:a="http://schemas.openxmlformats.org/drawingml/2006/main">
            <a:r>
              <a:t/>
            </a:r>
          </a:p>
          <a:p xmlns:a="http://schemas.openxmlformats.org/drawingml/2006/main">
            <a:r>
              <a:t>The interface supports up to 100 active panels, but scale is supporting evidence—not the session thesis.</a:t>
            </a:r>
          </a:p>
          <a:p xmlns:a="http://schemas.openxmlformats.org/drawingml/2006/main">
            <a:r>
              <a:t/>
            </a:r>
          </a:p>
          <a:p xmlns:a="http://schemas.openxmlformats.org/drawingml/2006/main">
            <a:r>
              <a:t>Transition: “Visible collaboration only matters if the human can still interrupt it.”</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commander/src/panel-limits.ts</a:t>
            </a:r>
          </a:p>
          <a:p xmlns:a="http://schemas.openxmlformats.org/drawingml/2006/main">
            <a:r>
              <a:t>- /Users/lech.kalinowski/products/agents commander/src/screen/responsive-layout.ts</a:t>
            </a:r>
          </a:p>
          <a:p xmlns:a="http://schemas.openxmlformats.org/drawingml/2006/main">
            <a:r>
              <a:t>- /Users/lech.kalinowski/products/agents commander/src/screen/dialog/activity-dialog.ts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a:t>
            </a:r>
          </a:p>
          <a:p xmlns:a="http://schemas.openxmlformats.org/drawingml/2006/main">
            <a:r>
              <a:t/>
            </a:r>
          </a:p>
          <a:p xmlns:a="http://schemas.openxmlformats.org/drawingml/2006/main">
            <a:r>
              <a:t>Keep this as a short extension of the inspect/debug/control story. The keyboard path is primary: inspect Activity, focus any session, stop one agent, or exit the whole workspace. F10 escalates process termination and waits for tracked process-group terminations before restoring the terminal; do not claim that queued tasks are drained or that every process is guaranteed to disappear.</a:t>
            </a:r>
          </a:p>
          <a:p xmlns:a="http://schemas.openxmlformats.org/drawingml/2006/main">
            <a:r>
              <a:t/>
            </a:r>
          </a:p>
          <a:p xmlns:a="http://schemas.openxmlformats.org/drawingml/2006/main">
            <a:r>
              <a:t>Human-in-the-loop here means visible and interruptible, not approval before every route. Once Ctrl+P arms a session, authorized frames can route automatically; the human can observe, stop, redirect, or disarm by ending or replacing the session. Codex Micro Approve and Reject act on an agent prompt, not on Commander route approval.</a:t>
            </a:r>
          </a:p>
          <a:p xmlns:a="http://schemas.openxmlformats.org/drawingml/2006/main">
            <a:r>
              <a:t/>
            </a:r>
          </a:p>
          <a:p xmlns:a="http://schemas.openxmlformats.org/drawingml/2006/main">
            <a:r>
              <a:t>Then hold up Codex Micro. Commander reads shipping vendor-HID controls on macOS; the firmware is not reprogrammed. Another direct reader yields MICRO:BUSY and device input is discarded. Decisions are opt-in, require the same key twice, and stale state sends nothing. Keep a keyboard ready.</a:t>
            </a:r>
          </a:p>
          <a:p xmlns:a="http://schemas.openxmlformats.org/drawingml/2006/main">
            <a:r>
              <a:t/>
            </a:r>
          </a:p>
          <a:p xmlns:a="http://schemas.openxmlformats.org/drawingml/2006/main">
            <a:r>
              <a:t>Transition: “Removing infrastructure should never mean removing guardrails.”</a:t>
            </a:r>
          </a:p>
          <a:p xmlns:a="http://schemas.openxmlformats.org/drawingml/2006/main">
            <a:r>
              <a:t/>
            </a:r>
          </a:p>
          <a:p xmlns:a="http://schemas.openxmlformats.org/drawingml/2006/main">
            <a:r>
              <a:t>[Sources]</a:t>
            </a:r>
          </a:p>
          <a:p xmlns:a="http://schemas.openxmlformats.org/drawingml/2006/main">
            <a:r>
              <a:t>- /Users/lech.kalinowski/products/agents commander/docs/codex-micro.md</a:t>
            </a:r>
          </a:p>
          <a:p xmlns:a="http://schemas.openxmlformats.org/drawingml/2006/main">
            <a:r>
              <a:t>- /Users/lech.kalinowski/products/agents commander/src/hardware/codex-micro-native.ts</a:t>
            </a:r>
          </a:p>
          <a:p xmlns:a="http://schemas.openxmlformats.org/drawingml/2006/main">
            <a:r>
              <a:t>- /Users/lech.kalinowski/products/agents commander/src/hardware/codex-decision.ts</a:t>
            </a:r>
          </a:p>
          <a:p xmlns:a="http://schemas.openxmlformats.org/drawingml/2006/main">
            <a:r>
              <a:t>- /Users/lech.kalinowski/products/agents commander/src/app.ts</a:t>
            </a:r>
          </a:p>
          <a:p xmlns:a="http://schemas.openxmlformats.org/drawingml/2006/main">
            <a:r>
              <a:t>- /Users/lech.kalinowski/products/agents commander/src/panels/terminal-panel.ts</a:t>
            </a:r>
          </a:p>
          <a:p xmlns:a="http://schemas.openxmlformats.org/drawingml/2006/main">
            <a:r>
              <a:t>- /Users/lech.kalinowski/products/agents commander/tests/codex_micro_bridge_test.py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a:t>
            </a:r>
          </a:p>
          <a:p xmlns:a="http://schemas.openxmlformats.org/drawingml/2006/main">
            <a:r>
              <a:t/>
            </a:r>
          </a:p>
          <a:p xmlns:a="http://schemas.openxmlformats.org/drawingml/2006/main">
            <a:r>
              <a:t>Read the table as a boundary map. Commander can reject or expose transport failures: incomplete frames, stale capabilities, invalid targets, exact repeated frames, and unavailable destinations. Invalid-target attempts receive a ledger record and are rejected before PTY input, not before enqueue. Commander shows bounded routed payloads and IDs; a human identifies semantic conflict.</a:t>
            </a:r>
          </a:p>
          <a:p xmlns:a="http://schemas.openxmlformats.org/drawingml/2006/main">
            <a:r>
              <a:t/>
            </a:r>
          </a:p>
          <a:p xmlns:a="http://schemas.openxmlformats.org/drawingml/2006/main">
            <a:r>
              <a:t>It cannot decide whether the model understood enough context, which agent is right, or whether a disagreement is resolved. Context loss is surfaced through bounded in-session routed evidence; it is not solved by shared memory or durable replay.</a:t>
            </a:r>
          </a:p>
          <a:p xmlns:a="http://schemas.openxmlformats.org/drawingml/2006/main">
            <a:r>
              <a:t/>
            </a:r>
          </a:p>
          <a:p xmlns:a="http://schemas.openxmlformats.org/drawingml/2006/main">
            <a:r>
              <a:t>If the real-agent branch stalls, use the scripted offline proof and continue. Detailed stage and hardware recovery stays in the presenter README rather than on the audience-facing slide.</a:t>
            </a:r>
          </a:p>
          <a:p xmlns:a="http://schemas.openxmlformats.org/drawingml/2006/main">
            <a:r>
              <a:t/>
            </a:r>
          </a:p>
          <a:p xmlns:a="http://schemas.openxmlformats.org/drawingml/2006/main">
            <a:r>
              <a:t>Transition: “Because terminal I/O is the boundary, the same protocol can sit in front of several CLI surfaces.”</a:t>
            </a:r>
          </a:p>
          <a:p xmlns:a="http://schemas.openxmlformats.org/drawingml/2006/main">
            <a:r>
              <a:t/>
            </a:r>
          </a:p>
          <a:p xmlns:a="http://schemas.openxmlformats.org/drawingml/2006/main">
            <a:r>
              <a:t>[Sources]</a:t>
            </a:r>
          </a:p>
          <a:p xmlns:a="http://schemas.openxmlformats.org/drawingml/2006/main">
            <a:r>
              <a:t>- /Users/lech.kalinowski/products/agents commander/src/orchestration/protocol.ts</a:t>
            </a:r>
          </a:p>
          <a:p xmlns:a="http://schemas.openxmlformats.org/drawingml/2006/main">
            <a:r>
              <a:t>- /Users/lech.kalinowski/products/agents commander/src/orchestration/orchestrator.ts</a:t>
            </a:r>
          </a:p>
          <a:p xmlns:a="http://schemas.openxmlformats.org/drawingml/2006/main">
            <a:r>
              <a:t>- /Users/lech.kalinowski/products/agents commander/src/orchestration/message-ledger.ts</a:t>
            </a:r>
          </a:p>
          <a:p xmlns:a="http://schemas.openxmlformats.org/drawingml/2006/main">
            <a:r>
              <a:t>- /Users/lech.kalinowski/products/agents commander/src/panels/terminal-panel.ts</a:t>
            </a:r>
          </a:p>
          <a:p xmlns:a="http://schemas.openxmlformats.org/drawingml/2006/main">
            <a:r>
              <a:t>- /Users/lech.kalinowski/products/agents commander/presentation/README.md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a:t>
            </a:r>
          </a:p>
          <a:p xmlns:a="http://schemas.openxmlformats.org/drawingml/2006/main">
            <a:r>
              <a:t/>
            </a:r>
          </a:p>
          <a:p xmlns:a="http://schemas.openxmlformats.org/drawingml/2006/main">
            <a:r>
              <a:t>Name the supported launch surfaces precisely: Claude Code, Codex CLI, Gemini CLI, OpenCode, and Shell. The second row remains catalogued—not launchable until an adapter is implemented—for Aider, Cline, Goose, Kiro, and Amp.</a:t>
            </a:r>
          </a:p>
          <a:p xmlns:a="http://schemas.openxmlformats.org/drawingml/2006/main">
            <a:r>
              <a:t/>
            </a:r>
          </a:p>
          <a:p xmlns:a="http://schemas.openxmlformats.org/drawingml/2006/main">
            <a:r>
              <a:t>Do not claim universal agent compatibility. Commander adds no shared provider SDK or remote coordinator, but each real CLI can still require its own account, credentials, provider, and network connection.</a:t>
            </a:r>
          </a:p>
          <a:p xmlns:a="http://schemas.openxmlformats.org/drawingml/2006/main">
            <a:r>
              <a:t/>
            </a:r>
          </a:p>
          <a:p xmlns:a="http://schemas.openxmlformats.org/drawingml/2006/main">
            <a:r>
              <a:t>Transition: “The takeaway is a small design pattern, not a demand to adopt a large stack.”</a:t>
            </a:r>
          </a:p>
          <a:p xmlns:a="http://schemas.openxmlformats.org/drawingml/2006/main">
            <a:r>
              <a:t/>
            </a:r>
          </a:p>
          <a:p xmlns:a="http://schemas.openxmlformats.org/drawingml/2006/main">
            <a:r>
              <a:t>[Sources]</a:t>
            </a:r>
          </a:p>
          <a:p xmlns:a="http://schemas.openxmlformats.org/drawingml/2006/main">
            <a:r>
              <a:t>- /Users/lech.kalinowski/products/agents commander/README.md</a:t>
            </a:r>
          </a:p>
          <a:p xmlns:a="http://schemas.openxmlformats.org/drawingml/2006/main">
            <a:r>
              <a:t>- /Users/lech.kalinowski/products/agents commander/src/agents/agent-registry.ts</a:t>
            </a:r>
          </a:p>
          <a:p xmlns:a="http://schemas.openxmlformats.org/drawingml/2006/main">
            <a:r>
              <a:t>- /Users/lech.kalinowski/products/agents commander/src/agents/opencode-adapter.ts</a:t>
            </a:r>
          </a:p>
          <a:p xmlns:a="http://schemas.openxmlformats.org/drawingml/2006/main">
            <a:r>
              <a:t>- /Users/lech.kalinowski/products/agents commander/src/agents/types.ts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a:t>
            </a:r>
          </a:p>
          <a:p xmlns:a="http://schemas.openxmlformats.org/drawingml/2006/main">
            <a:r>
              <a:t/>
            </a:r>
          </a:p>
          <a:p xmlns:a="http://schemas.openxmlformats.org/drawingml/2006/main">
            <a:r>
              <a:t>Close with three takeaways. First, local terminal transport can stay small: observe output, validate a tiny protocol, and inject input. Second, delivery is not agreement—semantic quality stays visible and contestable. Third, visible IDs, errors, and sessions make collaboration inspectable, debuggable, and interruptible.</a:t>
            </a:r>
          </a:p>
          <a:p xmlns:a="http://schemas.openxmlformats.org/drawingml/2006/main">
            <a:r>
              <a:t/>
            </a:r>
          </a:p>
          <a:p xmlns:a="http://schemas.openxmlformats.org/drawingml/2006/main">
            <a:r>
              <a:t>Invite attendees to the repository, the deterministic transport proof, and the optional physical controller after the session. Pause on the URL.</a:t>
            </a:r>
          </a:p>
          <a:p xmlns:a="http://schemas.openxmlformats.org/drawingml/2006/main">
            <a:r>
              <a:t/>
            </a:r>
          </a:p>
          <a:p xmlns:a="http://schemas.openxmlformats.org/drawingml/2006/main">
            <a:r>
              <a:t>Transition: “So where should collaboration between agents fail closed?”</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commander/presentation/README.md</a:t>
            </a:r>
          </a:p>
          <a:p xmlns:a="http://schemas.openxmlformats.org/drawingml/2006/main">
            <a:r>
              <a:t>- /Users/lech.kalinowski/products/agents commander/package.json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5:00</a:t>
            </a:r>
          </a:p>
          <a:p xmlns:a="http://schemas.openxmlformats.org/drawingml/2006/main">
            <a:r>
              <a:t/>
            </a:r>
          </a:p>
          <a:p xmlns:a="http://schemas.openxmlformats.org/drawingml/2006/main">
            <a:r>
              <a:t>Use the prompts to structure Q&amp;A: what evidence must survive each handoff, when one agent should challenge another, and where a human interruption is mandatory.</a:t>
            </a:r>
          </a:p>
          <a:p xmlns:a="http://schemas.openxmlformats.org/drawingml/2006/main">
            <a:r>
              <a:t/>
            </a:r>
          </a:p>
          <a:p xmlns:a="http://schemas.openxmlformats.org/drawingml/2006/main">
            <a:r>
              <a:t>If questions are slow, ask: “Would you authorize one agent to broadcast to every other agent automatically? What evidence would make that safe?”</a:t>
            </a:r>
          </a:p>
          <a:p xmlns:a="http://schemas.openxmlformats.org/drawingml/2006/main">
            <a:r>
              <a:t/>
            </a:r>
          </a:p>
          <a:p xmlns:a="http://schemas.openxmlformats.org/drawingml/2006/main">
            <a:r>
              <a:t>End with the practical boundary: Commander can make transport visible and controllable; it does not make model reasoning correct, disagreement resolved, or history durable by itself.</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commander/src/orchestration/protocol.ts</a:t>
            </a:r>
          </a:p>
          <a:p xmlns:a="http://schemas.openxmlformats.org/drawingml/2006/main">
            <a:r>
              <a:t>- /Users/lech.kalinowski/products/agents commander/src/orchestration/message-ledger.ts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6d47d24074f4a0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61cd1f2a57f4b5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42e59725368435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6707ad8d1ce49b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092cd6f9b7e42d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29cf1e703c9494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88e84d5d4d864a2e"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a228b41bd8f4f9d"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a89d51f2e08b4e0e"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83921f8eba454dae"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a7cba8542fed4788"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8D7CA46-DC3C-45F2-9052-5D92E35F3F8B}"/>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3BDA128-384E-4A4E-BEC0-81E847304F73}"/>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10124124-F56D-477B-A387-37B4029734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521DE0BE-5544-4D84-81C4-5E429B6ECEB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8B7DCC41-2E33-480B-952B-C3558E95C46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758345-A3E0-4D5D-9CFA-A3B42FB0FC2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DE8BD06-215C-4854-A422-66CC6F2639B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1AD2CE5-EBD3-4F3F-9AD6-30AAA23F4BB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0180C6F-1391-4071-9D16-8F74F9AF74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CC1E7826-60A3-4921-9A0D-36DF5DA839B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3AFF5A5-6250-47ED-AA8D-23FA1C07CFE0}"/>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331F9B6-82FC-4A98-A844-B115DA9A366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3DCAA89-2487-4C5C-A410-76096E51BE8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FCA77239-126A-47BC-9E57-713A6AF9A7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7FF064D-4A1A-4EF6-8CDB-2CC08B815D4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E3D0B7E-D4AB-44FE-AB10-B9142ACED2A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1B25D0B-CBF6-43C2-BEA6-E0084947AC7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2EC68A06-9F0E-4C3C-AE8D-7B5C76D992E0}"/>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B1AA3CC0-E977-4665-86A0-81320B6097B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173F75B-EB1C-47E8-9A17-2C72051213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CF2C95CA-CF23-4351-8686-2B39B0EB97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9FFDF4F-D8C5-48C2-BCBD-9FBCF1CEA5C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78F4AC57-0A93-4002-BBC2-591A93041A5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F4AAA74A-46A0-4577-A3A3-0C8AFB4115D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8E234D39-1734-4934-A96D-40CFD0F7A1E1}"/>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A662F3AE-DFB1-4050-8BFF-98458C37E11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BE6DE3BD-FAEE-4B9D-B9C2-4759A36A44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CE15CADE-C857-48CA-A37A-65E2DA87A5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AB2C4DB3-066A-4761-9CA7-3B52808B90D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39B17AB-C158-4D1F-8721-F943FA38A3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B089A156-C9CF-471E-A96D-5FA22127B6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92F5DB43-FD9A-4231-BD93-3B6C79FCC5D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B508FC53-E1C2-4E19-8A21-7277C034D66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4E1890D-1F1E-43F8-9A31-0C7F325F26F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022D7EBA-370A-4961-BBFC-1D897F5500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23247573-DA77-4F39-8B78-C0B50EC7BB5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0F718B4-F2AE-4CDB-A33E-73B66B8F363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7E7A708-1847-4A6F-912D-4785C95EEA1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73D24881-D57D-486A-8853-9FCEF3249471}"/>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6B1C701-6569-4501-A3CF-468698E3554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C31A831B-1E20-438E-B284-FC4447FA3E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3087F804-5B6F-4B76-9E23-5D6B0C9BBD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D3E7011-5068-49DE-B11D-3E340AC1D6C8}"/>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716B6C0B-99D3-4C46-BB50-10178A7E43F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ED1E47AD-A098-497B-B495-5BE3EAF5EE80}"/>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4091853-AD5A-4246-AD62-350DFE17862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F1F55D4-92A9-4C33-8447-B73E79B736C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E65ABD08-8F50-4726-9D35-B700B31C2BE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22617B-F95F-4401-93FF-F9AC57EA171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324A57A-5FCA-46E4-887C-0C0BFBCE7C61}"/>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87006EC1-8CAA-45D5-8B93-8444309DF2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DE5D6C4C-E20A-4324-B7A8-0F3DFAD7474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0787BCFD-5563-478A-B7AB-9B1165CBC55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7C757974-379F-4C4B-A30F-4A1235AA103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B03FB64-0E98-4132-A093-DBED2105D305}"/>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77EC6F3-DF9E-432C-B619-DC973447B5B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E99499C-B5C7-44D5-8E5E-2813DD52B92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D914F7E8-A266-4ECA-9D48-1F2EA76469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3ca7bcff5684df5" /><Relationship Type="http://schemas.openxmlformats.org/officeDocument/2006/relationships/slideLayout" Target="/ppt/slideLayouts/slideLayout1.xml" Id="Rcd8c28227d224ccd" /><Relationship Type="http://schemas.openxmlformats.org/officeDocument/2006/relationships/slideLayout" Target="/ppt/slideLayouts/slideLayout2.xml" Id="R1204579527f44e32" /><Relationship Type="http://schemas.openxmlformats.org/officeDocument/2006/relationships/slideLayout" Target="/ppt/slideLayouts/slideLayout3.xml" Id="Rd34bb741e03f4cd0" /><Relationship Type="http://schemas.openxmlformats.org/officeDocument/2006/relationships/slideLayout" Target="/ppt/slideLayouts/slideLayout4.xml" Id="Ra211514c77c04071" /><Relationship Type="http://schemas.openxmlformats.org/officeDocument/2006/relationships/slideLayout" Target="/ppt/slideLayouts/slideLayout5.xml" Id="Rb2fc62182b7a4745" /><Relationship Type="http://schemas.openxmlformats.org/officeDocument/2006/relationships/slideLayout" Target="/ppt/slideLayouts/slideLayout6.xml" Id="Rd60930b7168049a8" /><Relationship Type="http://schemas.openxmlformats.org/officeDocument/2006/relationships/slideLayout" Target="/ppt/slideLayouts/slideLayout7.xml" Id="R74c1c73186ea4e8b" /><Relationship Type="http://schemas.openxmlformats.org/officeDocument/2006/relationships/slideLayout" Target="/ppt/slideLayouts/slideLayout8.xml" Id="R90a8e17177dc47a4" /><Relationship Type="http://schemas.openxmlformats.org/officeDocument/2006/relationships/slideLayout" Target="/ppt/slideLayouts/slideLayout9.xml" Id="Rc3794beb4487463f" /><Relationship Type="http://schemas.openxmlformats.org/officeDocument/2006/relationships/slideLayout" Target="/ppt/slideLayouts/slideLayout10.xml" Id="Rcca45d5971b542c2" /><Relationship Type="http://schemas.openxmlformats.org/officeDocument/2006/relationships/slideLayout" Target="/ppt/slideLayouts/slideLayout11.xml" Id="Ra1ac72902a4f4cdd"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FEEE26-531D-487D-90CC-4F207A74E2C5}"/>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8C56BBC0-71B6-419E-9DF6-AF60CC3CD00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D73DD697-1987-409D-9B50-9D88F76B6CD8}"/>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74820924-9AF1-4DB5-A5A7-45D88CFC06A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D716DE6-005E-41F3-A99F-B190C664E66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d8c28227d224ccd"/>
    <p:sldLayoutId xmlns:r="http://schemas.openxmlformats.org/officeDocument/2006/relationships" id="2147483650" r:id="R1204579527f44e32"/>
    <p:sldLayoutId xmlns:r="http://schemas.openxmlformats.org/officeDocument/2006/relationships" id="2147483651" r:id="Rd34bb741e03f4cd0"/>
    <p:sldLayoutId xmlns:r="http://schemas.openxmlformats.org/officeDocument/2006/relationships" id="2147483652" r:id="Ra211514c77c04071"/>
    <p:sldLayoutId xmlns:r="http://schemas.openxmlformats.org/officeDocument/2006/relationships" id="2147483653" r:id="Rb2fc62182b7a4745"/>
    <p:sldLayoutId xmlns:r="http://schemas.openxmlformats.org/officeDocument/2006/relationships" id="2147483654" r:id="Rd60930b7168049a8"/>
    <p:sldLayoutId xmlns:r="http://schemas.openxmlformats.org/officeDocument/2006/relationships" id="2147483655" r:id="R74c1c73186ea4e8b"/>
    <p:sldLayoutId xmlns:r="http://schemas.openxmlformats.org/officeDocument/2006/relationships" id="2147483656" r:id="R90a8e17177dc47a4"/>
    <p:sldLayoutId xmlns:r="http://schemas.openxmlformats.org/officeDocument/2006/relationships" id="2147483657" r:id="Rc3794beb4487463f"/>
    <p:sldLayoutId xmlns:r="http://schemas.openxmlformats.org/officeDocument/2006/relationships" id="2147483658" r:id="Rcca45d5971b542c2"/>
    <p:sldLayoutId xmlns:r="http://schemas.openxmlformats.org/officeDocument/2006/relationships" id="2147483659" r:id="Ra1ac72902a4f4cdd"/>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6052fe27416d4163" /><Relationship Type="http://schemas.openxmlformats.org/officeDocument/2006/relationships/image" Target="/ppt/media/image.png" Id="Rfe64a4170ca5445e" /><Relationship Type="http://schemas.openxmlformats.org/officeDocument/2006/relationships/image" Target="/ppt/media/image2.png" Id="R64083f9f24b74fe5" /><Relationship Type="http://schemas.openxmlformats.org/officeDocument/2006/relationships/notesSlide" Target="/ppt/notesSlides/notesSlide1.xml" Id="R540e37067157438b"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e4065db3e34e450d" /><Relationship Type="http://schemas.openxmlformats.org/officeDocument/2006/relationships/notesSlide" Target="/ppt/notesSlides/notesSlide2.xml" Id="R257b4fa0580147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aba39bc487b7496e" /><Relationship Type="http://schemas.openxmlformats.org/officeDocument/2006/relationships/notesSlide" Target="/ppt/notesSlides/notesSlide3.xml" Id="R00d562ec741b4e32"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c2cc7dce3f6c46af" /><Relationship Type="http://schemas.openxmlformats.org/officeDocument/2006/relationships/notesSlide" Target="/ppt/notesSlides/notesSlide4.xml" Id="Rcf9153fb78574176"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eab5354413324aba" /><Relationship Type="http://schemas.openxmlformats.org/officeDocument/2006/relationships/notesSlide" Target="/ppt/notesSlides/notesSlide5.xml" Id="Rce9bb3fd5efa4d72"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8f3fd3bfa4ed420b" /><Relationship Type="http://schemas.openxmlformats.org/officeDocument/2006/relationships/notesSlide" Target="/ppt/notesSlides/notesSlide6.xml" Id="Rb057563f04044720"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2336356b2f3741a2" /><Relationship Type="http://schemas.openxmlformats.org/officeDocument/2006/relationships/notesSlide" Target="/ppt/notesSlides/notesSlide7.xml" Id="Rec5dd94117044654"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0c35e39b30ed4079" /><Relationship Type="http://schemas.openxmlformats.org/officeDocument/2006/relationships/notesSlide" Target="/ppt/notesSlides/notesSlide8.xml" Id="Rde25327f87224e03"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7f43ffedf7d94faa" /><Relationship Type="http://schemas.openxmlformats.org/officeDocument/2006/relationships/notesSlide" Target="/ppt/notesSlides/notesSlide9.xml" Id="Rb3d3c7dfa6364c4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c8a5c5fa709246c0" /><Relationship Type="http://schemas.openxmlformats.org/officeDocument/2006/relationships/notesSlide" Target="/ppt/notesSlides/notesSlide10.xml" Id="R79d351913e3e42c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b20934ad3c2c479d" /><Relationship Type="http://schemas.openxmlformats.org/officeDocument/2006/relationships/notesSlide" Target="/ppt/notesSlides/notesSlide11.xml" Id="R1305ae192b0441d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c584cb87000b4854" /><Relationship Type="http://schemas.openxmlformats.org/officeDocument/2006/relationships/image" Target="/ppt/media/image.png" Id="R81dbe901752544ed" /><Relationship Type="http://schemas.openxmlformats.org/officeDocument/2006/relationships/image" Target="/ppt/media/image3.png" Id="R8e8a93e39ff840cc" /><Relationship Type="http://schemas.openxmlformats.org/officeDocument/2006/relationships/notesSlide" Target="/ppt/notesSlides/notesSlide12.xml" Id="Rf34bfeba911d433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dc772b8aa6924ff7" /><Relationship Type="http://schemas.openxmlformats.org/officeDocument/2006/relationships/image" Target="/ppt/media/image.png" Id="Recd10a2f3c9e4994" /><Relationship Type="http://schemas.openxmlformats.org/officeDocument/2006/relationships/image" Target="/ppt/media/image4.png" Id="Refd022f91f7842f0" /><Relationship Type="http://schemas.openxmlformats.org/officeDocument/2006/relationships/notesSlide" Target="/ppt/notesSlides/notesSlide13.xml" Id="Rf87c07619ef94d18" /></Relationships>
</file>

<file path=ppt/slides/slide1.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0" name="Picture 1"/>
          <p:cNvPicPr>
            <a:picLocks xmlns:a="http://schemas.openxmlformats.org/drawingml/2006/main" noChangeAspect="1"/>
          </p:cNvPicPr>
          <p:nvPr/>
        </p:nvPicPr>
        <p:blipFill>
          <a:blip xmlns:r="http://schemas.openxmlformats.org/officeDocument/2006/relationships" xmlns:a="http://schemas.openxmlformats.org/drawingml/2006/main" r:embed="Rfe64a4170ca5445e"/>
          <a:stretch xmlns:a="http://schemas.openxmlformats.org/drawingml/2006/main">
            <a:fillRect l="0" t="0" r="0" b="0"/>
          </a:stretch>
        </p:blipFill>
        <p:spPr>
          <a:xfrm xmlns:a="http://schemas.openxmlformats.org/drawingml/2006/main">
            <a:off x="9429750" y="1095375"/>
            <a:ext cx="1905000" cy="1524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FE563BE6-A522-4E92-AC67-FFB63D6B74F2}"/>
              </a:ext>
            </a:extLst>
          </p:cNvPr>
          <p:cNvSpPr>
            <a:spLocks xmlns:a="http://schemas.openxmlformats.org/drawingml/2006/main" noGrp="1"/>
          </p:cNvSpPr>
          <p:nvPr/>
        </p:nvSpPr>
        <p:spPr>
          <a:xfrm xmlns:a="http://schemas.openxmlformats.org/drawingml/2006/main">
            <a:off x="609600" y="2333625"/>
            <a:ext cx="8477250" cy="1737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4350" b="0">
                <a:solidFill>
                  <a:srgbClr val="FFFFFF"/>
                </a:solidFill>
                <a:latin typeface="Alliance No.2"/>
                <a:ea typeface="Alliance No.2"/>
                <a:cs typeface="Alliance No.2"/>
              </a:defRPr>
            </a:pPr>
            <a:r>
              <a:rPr sz="4350" b="0">
                <a:solidFill>
                  <a:srgbClr val="FFFFFF"/>
                </a:solidFill>
                <a:latin typeface="Alliance No.2"/>
                <a:ea typeface="Alliance No.2"/>
                <a:cs typeface="Alliance No.2"/>
              </a:rPr>
              <a:t>NO FRAMEWORK, NO SERVER:</a:t>
            </a:r>
          </a:p>
        </p:txBody>
      </p:sp>
      <p:sp>
        <p:nvSpPr>
          <p:cNvPr id="4" name="TextBox 3">
            <a:extLst xmlns:a="http://schemas.openxmlformats.org/drawingml/2006/main">
              <a:ext uri="{FF2B5EF4-FFF2-40B4-BE49-F238E27FC236}">
                <a16:creationId xmlns:a16="http://schemas.microsoft.com/office/drawing/2014/main" id="{41191EC2-0170-423E-B785-102419F74F3E}"/>
              </a:ext>
            </a:extLst>
          </p:cNvPr>
          <p:cNvSpPr>
            <a:spLocks xmlns:a="http://schemas.openxmlformats.org/drawingml/2006/main" noGrp="1"/>
          </p:cNvSpPr>
          <p:nvPr/>
        </p:nvSpPr>
        <p:spPr>
          <a:xfrm xmlns:a="http://schemas.openxmlformats.org/drawingml/2006/main">
            <a:off x="609600" y="3781425"/>
            <a:ext cx="7905750" cy="552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100" b="0">
                <a:solidFill>
                  <a:srgbClr val="E9E7EE"/>
                </a:solidFill>
                <a:latin typeface="Switzer"/>
                <a:ea typeface="Switzer"/>
                <a:cs typeface="Switzer"/>
              </a:defRPr>
            </a:pPr>
            <a:r>
              <a:rPr sz="2100" b="0">
                <a:solidFill>
                  <a:srgbClr val="E9E7EE"/>
                </a:solidFill>
                <a:latin typeface="Switzer"/>
                <a:ea typeface="Switzer"/>
                <a:cs typeface="Switzer"/>
              </a:rPr>
              <a:t>Making AI Agents Collaborate in One Terminal</a:t>
            </a:r>
          </a:p>
        </p:txBody>
      </p:sp>
      <p:sp>
        <p:nvSpPr>
          <p:cNvPr id="5" name="TextBox 4">
            <a:extLst xmlns:a="http://schemas.openxmlformats.org/drawingml/2006/main">
              <a:ext uri="{FF2B5EF4-FFF2-40B4-BE49-F238E27FC236}">
                <a16:creationId xmlns:a16="http://schemas.microsoft.com/office/drawing/2014/main" id="{9BC0269B-D4B5-4E2B-9998-0593711684D8}"/>
              </a:ext>
            </a:extLst>
          </p:cNvPr>
          <p:cNvSpPr>
            <a:spLocks xmlns:a="http://schemas.openxmlformats.org/drawingml/2006/main" noGrp="1"/>
          </p:cNvSpPr>
          <p:nvPr/>
        </p:nvSpPr>
        <p:spPr>
          <a:xfrm xmlns:a="http://schemas.openxmlformats.org/drawingml/2006/main">
            <a:off x="609600" y="48577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CBAAFF"/>
                </a:solidFill>
                <a:latin typeface="Consolas"/>
                <a:ea typeface="Consolas"/>
                <a:cs typeface="Consolas"/>
              </a:defRPr>
            </a:pPr>
            <a:r>
              <a:rPr sz="1350" b="0">
                <a:solidFill>
                  <a:srgbClr val="CBAAFF"/>
                </a:solidFill>
                <a:latin typeface="Consolas"/>
                <a:ea typeface="Consolas"/>
                <a:cs typeface="Consolas"/>
              </a:rPr>
              <a:t>Agents Commander  •  Code Europe 2026  •  AI Engineering &amp; Data</a:t>
            </a:r>
          </a:p>
        </p:txBody>
      </p:sp>
      <p:sp>
        <p:nvSpPr>
          <p:cNvPr id="6" name="TextBox 5">
            <a:extLst xmlns:a="http://schemas.openxmlformats.org/drawingml/2006/main">
              <a:ext uri="{FF2B5EF4-FFF2-40B4-BE49-F238E27FC236}">
                <a16:creationId xmlns:a16="http://schemas.microsoft.com/office/drawing/2014/main" id="{512402D6-EADC-4756-91DD-C6F372D7D266}"/>
              </a:ext>
            </a:extLst>
          </p:cNvPr>
          <p:cNvSpPr>
            <a:spLocks xmlns:a="http://schemas.openxmlformats.org/drawingml/2006/main" noGrp="1"/>
          </p:cNvSpPr>
          <p:nvPr/>
        </p:nvSpPr>
        <p:spPr>
          <a:xfrm xmlns:a="http://schemas.openxmlformats.org/drawingml/2006/main">
            <a:off x="609600" y="54673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E9E7EE"/>
                </a:solidFill>
                <a:latin typeface="Switzer"/>
                <a:ea typeface="Switzer"/>
                <a:cs typeface="Switzer"/>
              </a:defRPr>
            </a:pPr>
            <a:r>
              <a:rPr sz="1350" b="0">
                <a:solidFill>
                  <a:srgbClr val="E9E7EE"/>
                </a:solidFill>
                <a:latin typeface="Switzer"/>
                <a:ea typeface="Switzer"/>
                <a:cs typeface="Switzer"/>
              </a:rPr>
              <a:t>Lech Kalinowski  •  Senior AI Systems Engineer at Callstack</a:t>
            </a:r>
          </a:p>
        </p:txBody>
      </p:sp>
      <p:sp>
        <p:nvSpPr>
          <p:cNvPr id="7" name="TextBox 6">
            <a:extLst xmlns:a="http://schemas.openxmlformats.org/drawingml/2006/main">
              <a:ext uri="{FF2B5EF4-FFF2-40B4-BE49-F238E27FC236}">
                <a16:creationId xmlns:a16="http://schemas.microsoft.com/office/drawing/2014/main" id="{6DC6C857-8428-433C-B7DE-9F4EF04C48BE}"/>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050" b="0">
                <a:solidFill>
                  <a:srgbClr val="BCBBC2"/>
                </a:solidFill>
                <a:latin typeface="Consolas"/>
                <a:ea typeface="Consolas"/>
                <a:cs typeface="Consolas"/>
              </a:defRPr>
            </a:pPr>
            <a:r>
              <a:rPr sz="1050" b="0">
                <a:solidFill>
                  <a:srgbClr val="BCBBC2"/>
                </a:solidFill>
                <a:latin typeface="Consolas"/>
                <a:ea typeface="Consolas"/>
                <a:cs typeface="Consolas"/>
              </a:rPr>
              <a:t>1/13</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64083f9f24b74fe5"/>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495145724"/>
      </p:ext>
    </p:extLst>
  </p:cSld>
</p:sld>
</file>

<file path=ppt/slides/slide2.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8DB7FB2E-79B3-4C79-BF29-306AB845B373}"/>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1">
                <a:solidFill>
                  <a:srgbClr val="CBAAFF"/>
                </a:solidFill>
                <a:latin typeface="Consolas"/>
                <a:ea typeface="Consolas"/>
                <a:cs typeface="Consolas"/>
              </a:defRPr>
            </a:pPr>
            <a:r>
              <a:rPr sz="1125" b="1">
                <a:solidFill>
                  <a:srgbClr val="CBAAFF"/>
                </a:solidFill>
                <a:latin typeface="Consolas"/>
                <a:ea typeface="Consolas"/>
                <a:cs typeface="Consolas"/>
              </a:rPr>
              <a:t>THE FRICTION</a:t>
            </a:r>
          </a:p>
        </p:txBody>
      </p:sp>
      <p:sp>
        <p:nvSpPr>
          <p:cNvPr id="3" name="TextBox 2">
            <a:extLst xmlns:a="http://schemas.openxmlformats.org/drawingml/2006/main">
              <a:ext uri="{FF2B5EF4-FFF2-40B4-BE49-F238E27FC236}">
                <a16:creationId xmlns:a16="http://schemas.microsoft.com/office/drawing/2014/main" id="{7A16B2E3-80F8-418E-BD97-B8277A055761}"/>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450" b="0">
                <a:solidFill>
                  <a:srgbClr val="FFFFFF"/>
                </a:solidFill>
                <a:latin typeface="Alliance No.2"/>
                <a:ea typeface="Alliance No.2"/>
                <a:cs typeface="Alliance No.2"/>
              </a:defRPr>
            </a:pPr>
            <a:r>
              <a:rPr sz="3450" b="0">
                <a:solidFill>
                  <a:srgbClr val="FFFFFF"/>
                </a:solidFill>
                <a:latin typeface="Alliance No.2"/>
                <a:ea typeface="Alliance No.2"/>
                <a:cs typeface="Alliance No.2"/>
              </a:rPr>
              <a:t>Your agents are capable. Their handoffs are invisible.</a:t>
            </a:r>
          </a:p>
        </p:txBody>
      </p:sp>
      <p:sp>
        <p:nvSpPr>
          <p:cNvPr id="4" name="Rounded Rectangle 3">
            <a:extLst xmlns:a="http://schemas.openxmlformats.org/drawingml/2006/main">
              <a:ext uri="{FF2B5EF4-FFF2-40B4-BE49-F238E27FC236}">
                <a16:creationId xmlns:a16="http://schemas.microsoft.com/office/drawing/2014/main" id="{4A8BA537-401B-4076-B401-A7EA6D2EF829}"/>
              </a:ext>
            </a:extLst>
          </p:cNvPr>
          <p:cNvSpPr>
            <a:spLocks xmlns:a="http://schemas.openxmlformats.org/drawingml/2006/main" noGrp="1"/>
          </p:cNvSpPr>
          <p:nvPr/>
        </p:nvSpPr>
        <p:spPr>
          <a:xfrm xmlns:a="http://schemas.openxmlformats.org/drawingml/2006/main">
            <a:off x="731520" y="2286000"/>
            <a:ext cx="3291840" cy="3200400"/>
          </a:xfrm>
          <a:prstGeom xmlns:a="http://schemas.openxmlformats.org/drawingml/2006/main" prst="roundRect">
            <a:avLst>
              <a:gd name="adj" fmla="val 2381"/>
            </a:avLst>
          </a:prstGeom>
          <a:solidFill xmlns:a="http://schemas.openxmlformats.org/drawingml/2006/main">
            <a:srgbClr val="000000"/>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1F5B12D-9D1F-4767-B1BF-D5C204E6EBF7}"/>
              </a:ext>
            </a:extLst>
          </p:cNvPr>
          <p:cNvSpPr>
            <a:spLocks xmlns:a="http://schemas.openxmlformats.org/drawingml/2006/main" noGrp="1"/>
          </p:cNvSpPr>
          <p:nvPr/>
        </p:nvSpPr>
        <p:spPr>
          <a:xfrm xmlns:a="http://schemas.openxmlformats.org/drawingml/2006/main">
            <a:off x="1005840" y="265176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100" b="1">
                <a:solidFill>
                  <a:srgbClr val="FA7171"/>
                </a:solidFill>
                <a:latin typeface="Consolas"/>
                <a:ea typeface="Consolas"/>
                <a:cs typeface="Consolas"/>
              </a:defRPr>
            </a:pPr>
            <a:r>
              <a:rPr sz="2100" b="1">
                <a:solidFill>
                  <a:srgbClr val="FA7171"/>
                </a:solidFill>
                <a:latin typeface="Consolas"/>
                <a:ea typeface="Consolas"/>
                <a:cs typeface="Consolas"/>
              </a:rPr>
              <a:t>✖</a:t>
            </a:r>
          </a:p>
        </p:txBody>
      </p:sp>
      <p:sp>
        <p:nvSpPr>
          <p:cNvPr id="6" name="TextBox 5">
            <a:extLst xmlns:a="http://schemas.openxmlformats.org/drawingml/2006/main">
              <a:ext uri="{FF2B5EF4-FFF2-40B4-BE49-F238E27FC236}">
                <a16:creationId xmlns:a16="http://schemas.microsoft.com/office/drawing/2014/main" id="{36AA03E3-6B25-47E7-A18B-8F4D0C18AE26}"/>
              </a:ext>
            </a:extLst>
          </p:cNvPr>
          <p:cNvSpPr>
            <a:spLocks xmlns:a="http://schemas.openxmlformats.org/drawingml/2006/main" noGrp="1"/>
          </p:cNvSpPr>
          <p:nvPr/>
        </p:nvSpPr>
        <p:spPr>
          <a:xfrm xmlns:a="http://schemas.openxmlformats.org/drawingml/2006/main">
            <a:off x="1005840" y="320040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0">
                <a:solidFill>
                  <a:srgbClr val="FFFFFF"/>
                </a:solidFill>
                <a:latin typeface="Alliance No.2"/>
                <a:ea typeface="Alliance No.2"/>
                <a:cs typeface="Alliance No.2"/>
              </a:defRPr>
            </a:pPr>
            <a:r>
              <a:rPr sz="1800" b="0">
                <a:solidFill>
                  <a:srgbClr val="FFFFFF"/>
                </a:solidFill>
                <a:latin typeface="Alliance No.2"/>
                <a:ea typeface="Alliance No.2"/>
                <a:cs typeface="Alliance No.2"/>
              </a:rPr>
              <a:t>Separate Sessions</a:t>
            </a:r>
          </a:p>
        </p:txBody>
      </p:sp>
      <p:sp>
        <p:nvSpPr>
          <p:cNvPr id="7" name="TextBox 6">
            <a:extLst xmlns:a="http://schemas.openxmlformats.org/drawingml/2006/main">
              <a:ext uri="{FF2B5EF4-FFF2-40B4-BE49-F238E27FC236}">
                <a16:creationId xmlns:a16="http://schemas.microsoft.com/office/drawing/2014/main" id="{6F445219-C048-47E8-8BFF-3B5F93CDAFF5}"/>
              </a:ext>
            </a:extLst>
          </p:cNvPr>
          <p:cNvSpPr>
            <a:spLocks xmlns:a="http://schemas.openxmlformats.org/drawingml/2006/main" noGrp="1"/>
          </p:cNvSpPr>
          <p:nvPr/>
        </p:nvSpPr>
        <p:spPr>
          <a:xfrm xmlns:a="http://schemas.openxmlformats.org/drawingml/2006/main">
            <a:off x="1005840" y="3840480"/>
            <a:ext cx="2743200" cy="14630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25" b="0">
                <a:solidFill>
                  <a:srgbClr val="BCBBC2"/>
                </a:solidFill>
                <a:latin typeface="Switzer"/>
                <a:ea typeface="Switzer"/>
                <a:cs typeface="Switzer"/>
              </a:defRPr>
            </a:pPr>
            <a:r>
              <a:rPr sz="1425" b="0">
                <a:solidFill>
                  <a:srgbClr val="BCBBC2"/>
                </a:solidFill>
                <a:latin typeface="Switzer"/>
                <a:ea typeface="Switzer"/>
                <a:cs typeface="Switzer"/>
              </a:rPr>
              <a:t>One agent analyzes, another writes tests, and a third reviews—each in a separate CLI session.</a:t>
            </a:r>
          </a:p>
        </p:txBody>
      </p:sp>
      <p:sp>
        <p:nvSpPr>
          <p:cNvPr id="8" name="Rounded Rectangle 7">
            <a:extLst xmlns:a="http://schemas.openxmlformats.org/drawingml/2006/main">
              <a:ext uri="{FF2B5EF4-FFF2-40B4-BE49-F238E27FC236}">
                <a16:creationId xmlns:a16="http://schemas.microsoft.com/office/drawing/2014/main" id="{1CF19786-0700-45F1-AF72-DDE1B671F25B}"/>
              </a:ext>
            </a:extLst>
          </p:cNvPr>
          <p:cNvSpPr>
            <a:spLocks xmlns:a="http://schemas.openxmlformats.org/drawingml/2006/main" noGrp="1"/>
          </p:cNvSpPr>
          <p:nvPr/>
        </p:nvSpPr>
        <p:spPr>
          <a:xfrm xmlns:a="http://schemas.openxmlformats.org/drawingml/2006/main">
            <a:off x="4389120" y="2286000"/>
            <a:ext cx="3291840" cy="3200400"/>
          </a:xfrm>
          <a:prstGeom xmlns:a="http://schemas.openxmlformats.org/drawingml/2006/main" prst="roundRect">
            <a:avLst>
              <a:gd name="adj" fmla="val 2381"/>
            </a:avLst>
          </a:prstGeom>
          <a:solidFill xmlns:a="http://schemas.openxmlformats.org/drawingml/2006/main">
            <a:srgbClr val="000000"/>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C232865A-4F38-4EFF-8D46-1F139EB25503}"/>
              </a:ext>
            </a:extLst>
          </p:cNvPr>
          <p:cNvSpPr>
            <a:spLocks xmlns:a="http://schemas.openxmlformats.org/drawingml/2006/main" noGrp="1"/>
          </p:cNvSpPr>
          <p:nvPr/>
        </p:nvSpPr>
        <p:spPr>
          <a:xfrm xmlns:a="http://schemas.openxmlformats.org/drawingml/2006/main">
            <a:off x="4663440" y="265176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100" b="1">
                <a:solidFill>
                  <a:srgbClr val="FA7171"/>
                </a:solidFill>
                <a:latin typeface="Consolas"/>
                <a:ea typeface="Consolas"/>
                <a:cs typeface="Consolas"/>
              </a:defRPr>
            </a:pPr>
            <a:r>
              <a:rPr sz="2100" b="1">
                <a:solidFill>
                  <a:srgbClr val="FA7171"/>
                </a:solidFill>
                <a:latin typeface="Consolas"/>
                <a:ea typeface="Consolas"/>
                <a:cs typeface="Consolas"/>
              </a:rPr>
              <a:t>✖</a:t>
            </a:r>
          </a:p>
        </p:txBody>
      </p:sp>
      <p:sp>
        <p:nvSpPr>
          <p:cNvPr id="10" name="TextBox 9">
            <a:extLst xmlns:a="http://schemas.openxmlformats.org/drawingml/2006/main">
              <a:ext uri="{FF2B5EF4-FFF2-40B4-BE49-F238E27FC236}">
                <a16:creationId xmlns:a16="http://schemas.microsoft.com/office/drawing/2014/main" id="{241711A9-517B-4A15-9941-D0EC60EE3345}"/>
              </a:ext>
            </a:extLst>
          </p:cNvPr>
          <p:cNvSpPr>
            <a:spLocks xmlns:a="http://schemas.openxmlformats.org/drawingml/2006/main" noGrp="1"/>
          </p:cNvSpPr>
          <p:nvPr/>
        </p:nvSpPr>
        <p:spPr>
          <a:xfrm xmlns:a="http://schemas.openxmlformats.org/drawingml/2006/main">
            <a:off x="4663440" y="320040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0">
                <a:solidFill>
                  <a:srgbClr val="FFFFFF"/>
                </a:solidFill>
                <a:latin typeface="Alliance No.2"/>
                <a:ea typeface="Alliance No.2"/>
                <a:cs typeface="Alliance No.2"/>
              </a:defRPr>
            </a:pPr>
            <a:r>
              <a:rPr sz="1800" b="0">
                <a:solidFill>
                  <a:srgbClr val="FFFFFF"/>
                </a:solidFill>
                <a:latin typeface="Alliance No.2"/>
                <a:ea typeface="Alliance No.2"/>
                <a:cs typeface="Alliance No.2"/>
              </a:rPr>
              <a:t>Manual Handoffs</a:t>
            </a:r>
          </a:p>
        </p:txBody>
      </p:sp>
      <p:sp>
        <p:nvSpPr>
          <p:cNvPr id="11" name="TextBox 10">
            <a:extLst xmlns:a="http://schemas.openxmlformats.org/drawingml/2006/main">
              <a:ext uri="{FF2B5EF4-FFF2-40B4-BE49-F238E27FC236}">
                <a16:creationId xmlns:a16="http://schemas.microsoft.com/office/drawing/2014/main" id="{5BBA05EB-136A-4DDC-8081-81E60D277DA3}"/>
              </a:ext>
            </a:extLst>
          </p:cNvPr>
          <p:cNvSpPr>
            <a:spLocks xmlns:a="http://schemas.openxmlformats.org/drawingml/2006/main" noGrp="1"/>
          </p:cNvSpPr>
          <p:nvPr/>
        </p:nvSpPr>
        <p:spPr>
          <a:xfrm xmlns:a="http://schemas.openxmlformats.org/drawingml/2006/main">
            <a:off x="4663440" y="3840480"/>
            <a:ext cx="2743200" cy="14630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25" b="0">
                <a:solidFill>
                  <a:srgbClr val="BCBBC2"/>
                </a:solidFill>
                <a:latin typeface="Switzer"/>
                <a:ea typeface="Switzer"/>
                <a:cs typeface="Switzer"/>
              </a:defRPr>
            </a:pPr>
            <a:r>
              <a:rPr sz="1425" b="0">
                <a:solidFill>
                  <a:srgbClr val="BCBBC2"/>
                </a:solidFill>
                <a:latin typeface="Switzer"/>
                <a:ea typeface="Switzer"/>
                <a:cs typeface="Switzer"/>
              </a:rPr>
              <a:t>The developer carries prompts, outputs, and assumptions between terminals.</a:t>
            </a:r>
          </a:p>
        </p:txBody>
      </p:sp>
      <p:sp>
        <p:nvSpPr>
          <p:cNvPr id="12" name="Rounded Rectangle 11">
            <a:extLst xmlns:a="http://schemas.openxmlformats.org/drawingml/2006/main">
              <a:ext uri="{FF2B5EF4-FFF2-40B4-BE49-F238E27FC236}">
                <a16:creationId xmlns:a16="http://schemas.microsoft.com/office/drawing/2014/main" id="{B858EAC9-F2DE-4213-A2A0-2A5570C31F0B}"/>
              </a:ext>
            </a:extLst>
          </p:cNvPr>
          <p:cNvSpPr>
            <a:spLocks xmlns:a="http://schemas.openxmlformats.org/drawingml/2006/main" noGrp="1"/>
          </p:cNvSpPr>
          <p:nvPr/>
        </p:nvSpPr>
        <p:spPr>
          <a:xfrm xmlns:a="http://schemas.openxmlformats.org/drawingml/2006/main">
            <a:off x="8046720" y="2286000"/>
            <a:ext cx="3291840" cy="3200400"/>
          </a:xfrm>
          <a:prstGeom xmlns:a="http://schemas.openxmlformats.org/drawingml/2006/main" prst="roundRect">
            <a:avLst>
              <a:gd name="adj" fmla="val 2381"/>
            </a:avLst>
          </a:prstGeom>
          <a:solidFill xmlns:a="http://schemas.openxmlformats.org/drawingml/2006/main">
            <a:srgbClr val="000000"/>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C22E90B1-0489-4F4C-B5A2-001B66FBA773}"/>
              </a:ext>
            </a:extLst>
          </p:cNvPr>
          <p:cNvSpPr>
            <a:spLocks xmlns:a="http://schemas.openxmlformats.org/drawingml/2006/main" noGrp="1"/>
          </p:cNvSpPr>
          <p:nvPr/>
        </p:nvSpPr>
        <p:spPr>
          <a:xfrm xmlns:a="http://schemas.openxmlformats.org/drawingml/2006/main">
            <a:off x="8321040" y="265176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100" b="1">
                <a:solidFill>
                  <a:srgbClr val="FA7171"/>
                </a:solidFill>
                <a:latin typeface="Consolas"/>
                <a:ea typeface="Consolas"/>
                <a:cs typeface="Consolas"/>
              </a:defRPr>
            </a:pPr>
            <a:r>
              <a:rPr sz="2100" b="1">
                <a:solidFill>
                  <a:srgbClr val="FA7171"/>
                </a:solidFill>
                <a:latin typeface="Consolas"/>
                <a:ea typeface="Consolas"/>
                <a:cs typeface="Consolas"/>
              </a:rPr>
              <a:t>✖</a:t>
            </a:r>
          </a:p>
        </p:txBody>
      </p:sp>
      <p:sp>
        <p:nvSpPr>
          <p:cNvPr id="14" name="TextBox 13">
            <a:extLst xmlns:a="http://schemas.openxmlformats.org/drawingml/2006/main">
              <a:ext uri="{FF2B5EF4-FFF2-40B4-BE49-F238E27FC236}">
                <a16:creationId xmlns:a16="http://schemas.microsoft.com/office/drawing/2014/main" id="{C2BB9575-96D9-42C7-A4D1-5F2E947B6729}"/>
              </a:ext>
            </a:extLst>
          </p:cNvPr>
          <p:cNvSpPr>
            <a:spLocks xmlns:a="http://schemas.openxmlformats.org/drawingml/2006/main" noGrp="1"/>
          </p:cNvSpPr>
          <p:nvPr/>
        </p:nvSpPr>
        <p:spPr>
          <a:xfrm xmlns:a="http://schemas.openxmlformats.org/drawingml/2006/main">
            <a:off x="8321040" y="3200400"/>
            <a:ext cx="27432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0">
                <a:solidFill>
                  <a:srgbClr val="FFFFFF"/>
                </a:solidFill>
                <a:latin typeface="Alliance No.2"/>
                <a:ea typeface="Alliance No.2"/>
                <a:cs typeface="Alliance No.2"/>
              </a:defRPr>
            </a:pPr>
            <a:r>
              <a:rPr sz="1800" b="0">
                <a:solidFill>
                  <a:srgbClr val="FFFFFF"/>
                </a:solidFill>
                <a:latin typeface="Alliance No.2"/>
                <a:ea typeface="Alliance No.2"/>
                <a:cs typeface="Alliance No.2"/>
              </a:rPr>
              <a:t>Hidden State</a:t>
            </a:r>
          </a:p>
        </p:txBody>
      </p:sp>
      <p:sp>
        <p:nvSpPr>
          <p:cNvPr id="15" name="TextBox 14">
            <a:extLst xmlns:a="http://schemas.openxmlformats.org/drawingml/2006/main">
              <a:ext uri="{FF2B5EF4-FFF2-40B4-BE49-F238E27FC236}">
                <a16:creationId xmlns:a16="http://schemas.microsoft.com/office/drawing/2014/main" id="{7325164A-A810-46D6-A6BA-5558150D5D13}"/>
              </a:ext>
            </a:extLst>
          </p:cNvPr>
          <p:cNvSpPr>
            <a:spLocks xmlns:a="http://schemas.openxmlformats.org/drawingml/2006/main" noGrp="1"/>
          </p:cNvSpPr>
          <p:nvPr/>
        </p:nvSpPr>
        <p:spPr>
          <a:xfrm xmlns:a="http://schemas.openxmlformats.org/drawingml/2006/main">
            <a:off x="8321040" y="3840480"/>
            <a:ext cx="2743200" cy="14630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25" b="0">
                <a:solidFill>
                  <a:srgbClr val="BCBBC2"/>
                </a:solidFill>
                <a:latin typeface="Switzer"/>
                <a:ea typeface="Switzer"/>
                <a:cs typeface="Switzer"/>
              </a:defRPr>
            </a:pPr>
            <a:r>
              <a:rPr sz="1425" b="0">
                <a:solidFill>
                  <a:srgbClr val="BCBBC2"/>
                </a:solidFill>
                <a:latin typeface="Switzer"/>
                <a:ea typeface="Switzer"/>
                <a:cs typeface="Switzer"/>
              </a:rPr>
              <a:t>You lose who asked, what arrived, and how the result changed the next step.</a:t>
            </a:r>
          </a:p>
        </p:txBody>
      </p:sp>
      <p:sp>
        <p:nvSpPr>
          <p:cNvPr id="16" name="TextBox 15">
            <a:extLst xmlns:a="http://schemas.openxmlformats.org/drawingml/2006/main">
              <a:ext uri="{FF2B5EF4-FFF2-40B4-BE49-F238E27FC236}">
                <a16:creationId xmlns:a16="http://schemas.microsoft.com/office/drawing/2014/main" id="{B733AC0A-325D-4589-BFD5-C49C65F936DA}"/>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050" b="0">
                <a:solidFill>
                  <a:srgbClr val="838289"/>
                </a:solidFill>
                <a:latin typeface="Consolas"/>
                <a:ea typeface="Consolas"/>
                <a:cs typeface="Consolas"/>
              </a:defRPr>
            </a:pPr>
            <a:r>
              <a:rPr sz="1050" b="0">
                <a:solidFill>
                  <a:srgbClr val="838289"/>
                </a:solidFill>
                <a:latin typeface="Consolas"/>
                <a:ea typeface="Consolas"/>
                <a:cs typeface="Consolas"/>
              </a:rPr>
              <a:t>2/13</a:t>
            </a:r>
          </a:p>
        </p:txBody>
      </p:sp>
      <p:sp>
        <p:nvSpPr>
          <p:cNvPr id="17" name="Callstack accent rule">
            <a:extLst xmlns:a="http://schemas.openxmlformats.org/drawingml/2006/main">
              <a:ext uri="{FF2B5EF4-FFF2-40B4-BE49-F238E27FC236}">
                <a16:creationId xmlns:a16="http://schemas.microsoft.com/office/drawing/2014/main" id="{81A8F8A6-A0BF-4192-9DCD-F467761C92E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Tree>
    <p:extLst>
      <p:ext uri="{BB962C8B-B14F-4D97-AF65-F5344CB8AC3E}">
        <p14:creationId xmlns:p14="http://schemas.microsoft.com/office/powerpoint/2010/main" val="2126517147"/>
      </p:ext>
    </p:extLst>
  </p:cSld>
</p:sld>
</file>

<file path=ppt/slides/slide3.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1">
                <a:solidFill>
                  <a:srgbClr val="CBAAFF"/>
                </a:solidFill>
                <a:latin typeface="Consolas"/>
                <a:ea typeface="Consolas"/>
                <a:cs typeface="Consolas"/>
              </a:defRPr>
            </a:pPr>
            <a:r>
              <a:rPr sz="1125" b="1">
                <a:solidFill>
                  <a:srgbClr val="CBAAFF"/>
                </a:solidFill>
                <a:latin typeface="Consolas"/>
                <a:ea typeface="Consolas"/>
                <a:cs typeface="Consolas"/>
              </a:rPr>
              <a:t>LOCAL TERMINAL TRANSPORT</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450" b="0">
                <a:solidFill>
                  <a:srgbClr val="FFFFFF"/>
                </a:solidFill>
                <a:latin typeface="Alliance No.2"/>
                <a:ea typeface="Alliance No.2"/>
                <a:cs typeface="Alliance No.2"/>
              </a:defRPr>
            </a:pPr>
            <a:r>
              <a:rPr sz="3450" b="0">
                <a:solidFill>
                  <a:srgbClr val="FFFFFF"/>
                </a:solidFill>
                <a:latin typeface="Alliance No.2"/>
                <a:ea typeface="Alliance No.2"/>
                <a:cs typeface="Alliance No.2"/>
              </a:rPr>
              <a:t>No framework. No server. Just terminal I/O.</a:t>
            </a:r>
          </a:p>
        </p:txBody>
      </p:sp>
      <p:sp>
        <p:nvSpPr>
          <p:cNvPr id="4" name="TextBox 3">
            <a:extLst xmlns:a="http://schemas.openxmlformats.org/drawingml/2006/main">
              <a:ext uri="{FF2B5EF4-FFF2-40B4-BE49-F238E27FC236}">
                <a16:creationId xmlns:a16="http://schemas.microsoft.com/office/drawing/2014/main" id="{E8180EE0-9054-4818-9FE5-F05E6BCCB4E1}"/>
              </a:ext>
            </a:extLst>
          </p:cNvPr>
          <p:cNvSpPr>
            <a:spLocks xmlns:a="http://schemas.openxmlformats.org/drawingml/2006/main" noGrp="1"/>
          </p:cNvSpPr>
          <p:nvPr/>
        </p:nvSpPr>
        <p:spPr>
          <a:xfrm xmlns:a="http://schemas.openxmlformats.org/drawingml/2006/main">
            <a:off x="731520" y="2011680"/>
            <a:ext cx="100584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00" b="0">
                <a:solidFill>
                  <a:srgbClr val="BCBBC2"/>
                </a:solidFill>
                <a:latin typeface="Switzer"/>
                <a:ea typeface="Switzer"/>
                <a:cs typeface="Switzer"/>
              </a:defRPr>
            </a:pPr>
            <a:r>
              <a:rPr sz="1500" b="0">
                <a:solidFill>
                  <a:srgbClr val="BCBBC2"/>
                </a:solidFill>
                <a:latin typeface="Switzer"/>
                <a:ea typeface="Switzer"/>
                <a:cs typeface="Switzer"/>
              </a:rPr>
              <a:t>Local routing uses existing terminal input and output—no orchestration server, agent SDK, or heavyweight framework.</a:t>
            </a:r>
          </a:p>
        </p:txBody>
      </p:sp>
      <p:sp>
        <p:nvSpPr>
          <p:cNvPr id="5" name="Rounded Rectangle 4">
            <a:extLst xmlns:a="http://schemas.openxmlformats.org/drawingml/2006/main">
              <a:ext uri="{FF2B5EF4-FFF2-40B4-BE49-F238E27FC236}">
                <a16:creationId xmlns:a16="http://schemas.microsoft.com/office/drawing/2014/main" id="{29B138E6-A850-40F6-92B8-4556D634760F}"/>
              </a:ext>
            </a:extLst>
          </p:cNvPr>
          <p:cNvSpPr>
            <a:spLocks xmlns:a="http://schemas.openxmlformats.org/drawingml/2006/main" noGrp="1"/>
          </p:cNvSpPr>
          <p:nvPr/>
        </p:nvSpPr>
        <p:spPr>
          <a:xfrm xmlns:a="http://schemas.openxmlformats.org/drawingml/2006/main">
            <a:off x="731520" y="3017520"/>
            <a:ext cx="3291840" cy="3200400"/>
          </a:xfrm>
          <a:prstGeom xmlns:a="http://schemas.openxmlformats.org/drawingml/2006/main" prst="roundRect">
            <a:avLst>
              <a:gd name="adj" fmla="val 2381"/>
            </a:avLst>
          </a:prstGeom>
          <a:solidFill xmlns:a="http://schemas.openxmlformats.org/drawingml/2006/main">
            <a:srgbClr val="000000"/>
          </a:solidFill>
          <a:ln xmlns:a="http://schemas.openxmlformats.org/drawingml/2006/main" w="9525">
            <a:solidFill>
              <a:srgbClr val="A6E34A"/>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Oval 5">
            <a:extLst xmlns:a="http://schemas.openxmlformats.org/drawingml/2006/main">
              <a:ext uri="{FF2B5EF4-FFF2-40B4-BE49-F238E27FC236}">
                <a16:creationId xmlns:a16="http://schemas.microsoft.com/office/drawing/2014/main" id="{27B75FD9-8258-4398-816F-372A13E3B095}"/>
              </a:ext>
            </a:extLst>
          </p:cNvPr>
          <p:cNvSpPr>
            <a:spLocks xmlns:a="http://schemas.openxmlformats.org/drawingml/2006/main" noGrp="1"/>
          </p:cNvSpPr>
          <p:nvPr/>
        </p:nvSpPr>
        <p:spPr>
          <a:xfrm xmlns:a="http://schemas.openxmlformats.org/drawingml/2006/main">
            <a:off x="1005840" y="3291840"/>
            <a:ext cx="457200" cy="457200"/>
          </a:xfrm>
          <a:prstGeom xmlns:a="http://schemas.openxmlformats.org/drawingml/2006/main" prst="ellipse">
            <a:avLst/>
          </a:prstGeom>
          <a:solidFill xmlns:a="http://schemas.openxmlformats.org/drawingml/2006/main">
            <a:srgbClr val="A6E34A"/>
          </a:solidFill>
          <a:ln xmlns:a="http://schemas.openxmlformats.org/drawingml/2006/main" w="4763">
            <a:solidFill>
              <a:srgbClr val="A6E34A"/>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defRPr sz="1425" b="1">
                <a:solidFill>
                  <a:srgbClr val="000000"/>
                </a:solidFill>
                <a:latin typeface="Consolas"/>
                <a:ea typeface="Consolas"/>
                <a:cs typeface="Consolas"/>
              </a:defRPr>
            </a:pPr>
            <a:r>
              <a:rPr sz="1425" b="1">
                <a:solidFill>
                  <a:srgbClr val="000000"/>
                </a:solidFill>
                <a:latin typeface="Consolas"/>
                <a:ea typeface="Consolas"/>
                <a:cs typeface="Consolas"/>
              </a:rPr>
              <a:t>1</a:t>
            </a:r>
          </a:p>
        </p:txBody>
      </p:sp>
      <p:sp>
        <p:nvSpPr>
          <p:cNvPr id="7" name="TextBox 6">
            <a:extLst xmlns:a="http://schemas.openxmlformats.org/drawingml/2006/main">
              <a:ext uri="{FF2B5EF4-FFF2-40B4-BE49-F238E27FC236}">
                <a16:creationId xmlns:a16="http://schemas.microsoft.com/office/drawing/2014/main" id="{1613D8AE-EDB8-4FCD-B20F-581E57628E3E}"/>
              </a:ext>
            </a:extLst>
          </p:cNvPr>
          <p:cNvSpPr>
            <a:spLocks xmlns:a="http://schemas.openxmlformats.org/drawingml/2006/main" noGrp="1"/>
          </p:cNvSpPr>
          <p:nvPr/>
        </p:nvSpPr>
        <p:spPr>
          <a:xfrm xmlns:a="http://schemas.openxmlformats.org/drawingml/2006/main">
            <a:off x="1645920" y="3337560"/>
            <a:ext cx="210312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50" b="0">
                <a:solidFill>
                  <a:srgbClr val="A6E34A"/>
                </a:solidFill>
                <a:latin typeface="Alliance No.2"/>
                <a:ea typeface="Alliance No.2"/>
                <a:cs typeface="Alliance No.2"/>
              </a:defRPr>
            </a:pPr>
            <a:r>
              <a:rPr sz="1650" b="0">
                <a:solidFill>
                  <a:srgbClr val="A6E34A"/>
                </a:solidFill>
                <a:latin typeface="Alliance No.2"/>
                <a:ea typeface="Alliance No.2"/>
                <a:cs typeface="Alliance No.2"/>
              </a:rPr>
              <a:t>TEACH — Ctrl+P</a:t>
            </a:r>
          </a:p>
        </p:txBody>
      </p:sp>
      <p:sp>
        <p:nvSpPr>
          <p:cNvPr id="8" name="TextBox 7">
            <a:extLst xmlns:a="http://schemas.openxmlformats.org/drawingml/2006/main">
              <a:ext uri="{FF2B5EF4-FFF2-40B4-BE49-F238E27FC236}">
                <a16:creationId xmlns:a16="http://schemas.microsoft.com/office/drawing/2014/main" id="{75318279-C587-4CE4-9256-646FEDAC5DBA}"/>
              </a:ext>
            </a:extLst>
          </p:cNvPr>
          <p:cNvSpPr>
            <a:spLocks xmlns:a="http://schemas.openxmlformats.org/drawingml/2006/main" noGrp="1"/>
          </p:cNvSpPr>
          <p:nvPr/>
        </p:nvSpPr>
        <p:spPr>
          <a:xfrm xmlns:a="http://schemas.openxmlformats.org/drawingml/2006/main">
            <a:off x="1005840" y="4114800"/>
            <a:ext cx="2743200" cy="18288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Arm one CLI with a fresh session-bound capability. Copied or stale markers remain inert. No binary, SDK, or plugin modification.</a:t>
            </a:r>
          </a:p>
        </p:txBody>
      </p:sp>
      <p:sp>
        <p:nvSpPr>
          <p:cNvPr id="9" name="Rounded Rectangle 8">
            <a:extLst xmlns:a="http://schemas.openxmlformats.org/drawingml/2006/main">
              <a:ext uri="{FF2B5EF4-FFF2-40B4-BE49-F238E27FC236}">
                <a16:creationId xmlns:a16="http://schemas.microsoft.com/office/drawing/2014/main" id="{C09B4D58-3B44-4E8C-9702-8118808F89F4}"/>
              </a:ext>
            </a:extLst>
          </p:cNvPr>
          <p:cNvSpPr>
            <a:spLocks xmlns:a="http://schemas.openxmlformats.org/drawingml/2006/main" noGrp="1"/>
          </p:cNvSpPr>
          <p:nvPr/>
        </p:nvSpPr>
        <p:spPr>
          <a:xfrm xmlns:a="http://schemas.openxmlformats.org/drawingml/2006/main">
            <a:off x="4389120" y="3017520"/>
            <a:ext cx="3291840" cy="3200400"/>
          </a:xfrm>
          <a:prstGeom xmlns:a="http://schemas.openxmlformats.org/drawingml/2006/main" prst="roundRect">
            <a:avLst>
              <a:gd name="adj" fmla="val 2381"/>
            </a:avLst>
          </a:prstGeom>
          <a:solidFill xmlns:a="http://schemas.openxmlformats.org/drawingml/2006/main">
            <a:srgbClr val="000000"/>
          </a:solidFill>
          <a:ln xmlns:a="http://schemas.openxmlformats.org/drawingml/2006/main" w="9525">
            <a:solidFill>
              <a:srgbClr val="72C6F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4074826A-7FAE-4F02-BA1C-65B8FE175B66}"/>
              </a:ext>
            </a:extLst>
          </p:cNvPr>
          <p:cNvSpPr>
            <a:spLocks xmlns:a="http://schemas.openxmlformats.org/drawingml/2006/main" noGrp="1"/>
          </p:cNvSpPr>
          <p:nvPr/>
        </p:nvSpPr>
        <p:spPr>
          <a:xfrm xmlns:a="http://schemas.openxmlformats.org/drawingml/2006/main">
            <a:off x="4663440" y="3291840"/>
            <a:ext cx="457200" cy="457200"/>
          </a:xfrm>
          <a:prstGeom xmlns:a="http://schemas.openxmlformats.org/drawingml/2006/main" prst="ellipse">
            <a:avLst/>
          </a:prstGeom>
          <a:solidFill xmlns:a="http://schemas.openxmlformats.org/drawingml/2006/main">
            <a:srgbClr val="72C6F9"/>
          </a:solidFill>
          <a:ln xmlns:a="http://schemas.openxmlformats.org/drawingml/2006/main" w="4763">
            <a:solidFill>
              <a:srgbClr val="72C6F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defRPr sz="1425" b="1">
                <a:solidFill>
                  <a:srgbClr val="000000"/>
                </a:solidFill>
                <a:latin typeface="Consolas"/>
                <a:ea typeface="Consolas"/>
                <a:cs typeface="Consolas"/>
              </a:defRPr>
            </a:pPr>
            <a:r>
              <a:rPr sz="1425" b="1">
                <a:solidFill>
                  <a:srgbClr val="000000"/>
                </a:solidFill>
                <a:latin typeface="Consolas"/>
                <a:ea typeface="Consolas"/>
                <a:cs typeface="Consolas"/>
              </a:rPr>
              <a:t>2</a:t>
            </a:r>
          </a:p>
        </p:txBody>
      </p:sp>
      <p:sp>
        <p:nvSpPr>
          <p:cNvPr id="11" name="TextBox 10">
            <a:extLst xmlns:a="http://schemas.openxmlformats.org/drawingml/2006/main">
              <a:ext uri="{FF2B5EF4-FFF2-40B4-BE49-F238E27FC236}">
                <a16:creationId xmlns:a16="http://schemas.microsoft.com/office/drawing/2014/main" id="{C5583D51-0FA1-49FC-82C3-907DF3D810C9}"/>
              </a:ext>
            </a:extLst>
          </p:cNvPr>
          <p:cNvSpPr>
            <a:spLocks xmlns:a="http://schemas.openxmlformats.org/drawingml/2006/main" noGrp="1"/>
          </p:cNvSpPr>
          <p:nvPr/>
        </p:nvSpPr>
        <p:spPr>
          <a:xfrm xmlns:a="http://schemas.openxmlformats.org/drawingml/2006/main">
            <a:off x="5303520" y="3337560"/>
            <a:ext cx="210312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50" b="0">
                <a:solidFill>
                  <a:srgbClr val="72C6F9"/>
                </a:solidFill>
                <a:latin typeface="Alliance No.2"/>
                <a:ea typeface="Alliance No.2"/>
                <a:cs typeface="Alliance No.2"/>
              </a:defRPr>
            </a:pPr>
            <a:r>
              <a:rPr sz="1650" b="0">
                <a:solidFill>
                  <a:srgbClr val="72C6F9"/>
                </a:solidFill>
                <a:latin typeface="Alliance No.2"/>
                <a:ea typeface="Alliance No.2"/>
                <a:cs typeface="Alliance No.2"/>
              </a:rPr>
              <a:t>OBSERVE — PTY Output</a:t>
            </a:r>
          </a:p>
        </p:txBody>
      </p:sp>
      <p:sp>
        <p:nvSpPr>
          <p:cNvPr id="12" name="TextBox 11">
            <a:extLst xmlns:a="http://schemas.openxmlformats.org/drawingml/2006/main">
              <a:ext uri="{FF2B5EF4-FFF2-40B4-BE49-F238E27FC236}">
                <a16:creationId xmlns:a16="http://schemas.microsoft.com/office/drawing/2014/main" id="{772F5E9A-B89F-4EE6-A8B1-19B80FDF0BD3}"/>
              </a:ext>
            </a:extLst>
          </p:cNvPr>
          <p:cNvSpPr>
            <a:spLocks xmlns:a="http://schemas.openxmlformats.org/drawingml/2006/main" noGrp="1"/>
          </p:cNvSpPr>
          <p:nvPr/>
        </p:nvSpPr>
        <p:spPr>
          <a:xfrm xmlns:a="http://schemas.openxmlformats.org/drawingml/2006/main">
            <a:off x="4663440" y="4114800"/>
            <a:ext cx="2743200" cy="18288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Read printable terminal output and reconstruct complete frames across chunks, ANSI controls, and soft-wrapped rows.</a:t>
            </a:r>
          </a:p>
        </p:txBody>
      </p:sp>
      <p:sp>
        <p:nvSpPr>
          <p:cNvPr id="13" name="Rounded Rectangle 12">
            <a:extLst xmlns:a="http://schemas.openxmlformats.org/drawingml/2006/main">
              <a:ext uri="{FF2B5EF4-FFF2-40B4-BE49-F238E27FC236}">
                <a16:creationId xmlns:a16="http://schemas.microsoft.com/office/drawing/2014/main" id="{AC580CDC-1F91-49DE-89D2-CD243F9D69B0}"/>
              </a:ext>
            </a:extLst>
          </p:cNvPr>
          <p:cNvSpPr>
            <a:spLocks xmlns:a="http://schemas.openxmlformats.org/drawingml/2006/main" noGrp="1"/>
          </p:cNvSpPr>
          <p:nvPr/>
        </p:nvSpPr>
        <p:spPr>
          <a:xfrm xmlns:a="http://schemas.openxmlformats.org/drawingml/2006/main">
            <a:off x="8046720" y="3017520"/>
            <a:ext cx="3291840" cy="3200400"/>
          </a:xfrm>
          <a:prstGeom xmlns:a="http://schemas.openxmlformats.org/drawingml/2006/main" prst="roundRect">
            <a:avLst>
              <a:gd name="adj" fmla="val 2381"/>
            </a:avLst>
          </a:prstGeom>
          <a:solidFill xmlns:a="http://schemas.openxmlformats.org/drawingml/2006/main">
            <a:srgbClr val="000000"/>
          </a:solidFill>
          <a:ln xmlns:a="http://schemas.openxmlformats.org/drawingml/2006/main" w="9525">
            <a:solidFill>
              <a:srgbClr val="6AE8CD"/>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Oval 13">
            <a:extLst xmlns:a="http://schemas.openxmlformats.org/drawingml/2006/main">
              <a:ext uri="{FF2B5EF4-FFF2-40B4-BE49-F238E27FC236}">
                <a16:creationId xmlns:a16="http://schemas.microsoft.com/office/drawing/2014/main" id="{C5EAD9D2-7ED9-4553-B438-580BF294FF23}"/>
              </a:ext>
            </a:extLst>
          </p:cNvPr>
          <p:cNvSpPr>
            <a:spLocks xmlns:a="http://schemas.openxmlformats.org/drawingml/2006/main" noGrp="1"/>
          </p:cNvSpPr>
          <p:nvPr/>
        </p:nvSpPr>
        <p:spPr>
          <a:xfrm xmlns:a="http://schemas.openxmlformats.org/drawingml/2006/main">
            <a:off x="8321040" y="3291840"/>
            <a:ext cx="457200" cy="457200"/>
          </a:xfrm>
          <a:prstGeom xmlns:a="http://schemas.openxmlformats.org/drawingml/2006/main" prst="ellipse">
            <a:avLst/>
          </a:prstGeom>
          <a:solidFill xmlns:a="http://schemas.openxmlformats.org/drawingml/2006/main">
            <a:srgbClr val="6AE8CD"/>
          </a:solidFill>
          <a:ln xmlns:a="http://schemas.openxmlformats.org/drawingml/2006/main" w="4763">
            <a:solidFill>
              <a:srgbClr val="6AE8CD"/>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defRPr sz="1425" b="1">
                <a:solidFill>
                  <a:srgbClr val="000000"/>
                </a:solidFill>
                <a:latin typeface="Consolas"/>
                <a:ea typeface="Consolas"/>
                <a:cs typeface="Consolas"/>
              </a:defRPr>
            </a:pPr>
            <a:r>
              <a:rPr sz="1425" b="1">
                <a:solidFill>
                  <a:srgbClr val="000000"/>
                </a:solidFill>
                <a:latin typeface="Consolas"/>
                <a:ea typeface="Consolas"/>
                <a:cs typeface="Consolas"/>
              </a:rPr>
              <a:t>3</a:t>
            </a:r>
          </a:p>
        </p:txBody>
      </p:sp>
      <p:sp>
        <p:nvSpPr>
          <p:cNvPr id="15" name="TextBox 14">
            <a:extLst xmlns:a="http://schemas.openxmlformats.org/drawingml/2006/main">
              <a:ext uri="{FF2B5EF4-FFF2-40B4-BE49-F238E27FC236}">
                <a16:creationId xmlns:a16="http://schemas.microsoft.com/office/drawing/2014/main" id="{097BDA51-D39F-415B-9021-9979713B2890}"/>
              </a:ext>
            </a:extLst>
          </p:cNvPr>
          <p:cNvSpPr>
            <a:spLocks xmlns:a="http://schemas.openxmlformats.org/drawingml/2006/main" noGrp="1"/>
          </p:cNvSpPr>
          <p:nvPr/>
        </p:nvSpPr>
        <p:spPr>
          <a:xfrm xmlns:a="http://schemas.openxmlformats.org/drawingml/2006/main">
            <a:off x="8961120" y="3337560"/>
            <a:ext cx="2103120" cy="594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50" b="0">
                <a:solidFill>
                  <a:srgbClr val="6AE8CD"/>
                </a:solidFill>
                <a:latin typeface="Alliance No.2"/>
                <a:ea typeface="Alliance No.2"/>
                <a:cs typeface="Alliance No.2"/>
              </a:defRPr>
            </a:pPr>
            <a:r>
              <a:rPr sz="1650" b="0">
                <a:solidFill>
                  <a:srgbClr val="6AE8CD"/>
                </a:solidFill>
                <a:latin typeface="Alliance No.2"/>
                <a:ea typeface="Alliance No.2"/>
                <a:cs typeface="Alliance No.2"/>
              </a:rPr>
              <a:t>INJECT — PTY Input</a:t>
            </a:r>
          </a:p>
        </p:txBody>
      </p:sp>
      <p:sp>
        <p:nvSpPr>
          <p:cNvPr id="16" name="TextBox 15">
            <a:extLst xmlns:a="http://schemas.openxmlformats.org/drawingml/2006/main">
              <a:ext uri="{FF2B5EF4-FFF2-40B4-BE49-F238E27FC236}">
                <a16:creationId xmlns:a16="http://schemas.microsoft.com/office/drawing/2014/main" id="{8129C177-EA0A-44D6-99E5-EB0BFF6B4887}"/>
              </a:ext>
            </a:extLst>
          </p:cNvPr>
          <p:cNvSpPr>
            <a:spLocks xmlns:a="http://schemas.openxmlformats.org/drawingml/2006/main" noGrp="1"/>
          </p:cNvSpPr>
          <p:nvPr/>
        </p:nvSpPr>
        <p:spPr>
          <a:xfrm xmlns:a="http://schemas.openxmlformats.org/drawingml/2006/main">
            <a:off x="8321040" y="4114800"/>
            <a:ext cx="2743200" cy="18288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Validate the target, inject text through the destination PTY, record IDs, and return an explicit ACK.</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050" b="0">
                <a:solidFill>
                  <a:srgbClr val="838289"/>
                </a:solidFill>
                <a:latin typeface="Consolas"/>
                <a:ea typeface="Consolas"/>
                <a:cs typeface="Consolas"/>
              </a:defRPr>
            </a:pPr>
            <a:r>
              <a:rPr sz="1050" b="0">
                <a:solidFill>
                  <a:srgbClr val="838289"/>
                </a:solidFill>
                <a:latin typeface="Consolas"/>
                <a:ea typeface="Consolas"/>
                <a:cs typeface="Consolas"/>
              </a:rPr>
              <a:t>3/13</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Tree>
    <p:extLst>
      <p:ext uri="{BB962C8B-B14F-4D97-AF65-F5344CB8AC3E}">
        <p14:creationId xmlns:p14="http://schemas.microsoft.com/office/powerpoint/2010/main" val="2090962750"/>
      </p:ext>
    </p:extLst>
  </p:cSld>
</p:sld>
</file>

<file path=ppt/slides/slide4.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D4F931B-3CEF-428C-BDDD-1E469E282935}"/>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1">
                <a:solidFill>
                  <a:srgbClr val="CBAAFF"/>
                </a:solidFill>
                <a:latin typeface="Consolas"/>
                <a:ea typeface="Consolas"/>
                <a:cs typeface="Consolas"/>
              </a:defRPr>
            </a:pPr>
            <a:r>
              <a:rPr sz="1125" b="1">
                <a:solidFill>
                  <a:srgbClr val="CBAAFF"/>
                </a:solidFill>
                <a:latin typeface="Consolas"/>
                <a:ea typeface="Consolas"/>
                <a:cs typeface="Consolas"/>
              </a:rPr>
              <a:t>A TINY TEXT PROTOCOL</a:t>
            </a:r>
          </a:p>
        </p:txBody>
      </p:sp>
      <p:sp>
        <p:nvSpPr>
          <p:cNvPr id="3" name="TextBox 2">
            <a:extLst xmlns:a="http://schemas.openxmlformats.org/drawingml/2006/main">
              <a:ext uri="{FF2B5EF4-FFF2-40B4-BE49-F238E27FC236}">
                <a16:creationId xmlns:a16="http://schemas.microsoft.com/office/drawing/2014/main" id="{0392EC51-FF0C-4F64-AA85-4771C7D692F3}"/>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450" b="0">
                <a:solidFill>
                  <a:srgbClr val="FFFFFF"/>
                </a:solidFill>
                <a:latin typeface="Alliance No.2"/>
                <a:ea typeface="Alliance No.2"/>
                <a:cs typeface="Alliance No.2"/>
              </a:defRPr>
            </a:pPr>
            <a:r>
              <a:rPr sz="3450" b="0">
                <a:solidFill>
                  <a:srgbClr val="FFFFFF"/>
                </a:solidFill>
                <a:latin typeface="Alliance No.2"/>
                <a:ea typeface="Alliance No.2"/>
                <a:cs typeface="Alliance No.2"/>
              </a:rPr>
              <a:t>Five verbs. One capability per armed session.</a:t>
            </a:r>
          </a:p>
        </p:txBody>
      </p:sp>
      <p:sp>
        <p:nvSpPr>
          <p:cNvPr id="4" name="TextBox 3">
            <a:extLst xmlns:a="http://schemas.openxmlformats.org/drawingml/2006/main">
              <a:ext uri="{FF2B5EF4-FFF2-40B4-BE49-F238E27FC236}">
                <a16:creationId xmlns:a16="http://schemas.microsoft.com/office/drawing/2014/main" id="{958F19BE-EC95-4CE7-A937-044AA66722C9}"/>
              </a:ext>
            </a:extLst>
          </p:cNvPr>
          <p:cNvSpPr>
            <a:spLocks xmlns:a="http://schemas.openxmlformats.org/drawingml/2006/main" noGrp="1"/>
          </p:cNvSpPr>
          <p:nvPr/>
        </p:nvSpPr>
        <p:spPr>
          <a:xfrm xmlns:a="http://schemas.openxmlformats.org/drawingml/2006/main">
            <a:off x="731520" y="2011680"/>
            <a:ext cx="1371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A6E34A"/>
                </a:solidFill>
                <a:latin typeface="Alliance No.2"/>
                <a:ea typeface="Alliance No.2"/>
                <a:cs typeface="Alliance No.2"/>
              </a:defRPr>
            </a:pPr>
            <a:r>
              <a:rPr sz="1575" b="0">
                <a:solidFill>
                  <a:srgbClr val="A6E34A"/>
                </a:solidFill>
                <a:latin typeface="Alliance No.2"/>
                <a:ea typeface="Alliance No.2"/>
                <a:cs typeface="Alliance No.2"/>
              </a:rPr>
              <a:t>SEND</a:t>
            </a:r>
          </a:p>
        </p:txBody>
      </p:sp>
      <p:sp>
        <p:nvSpPr>
          <p:cNvPr id="5" name="TextBox 4">
            <a:extLst xmlns:a="http://schemas.openxmlformats.org/drawingml/2006/main">
              <a:ext uri="{FF2B5EF4-FFF2-40B4-BE49-F238E27FC236}">
                <a16:creationId xmlns:a16="http://schemas.microsoft.com/office/drawing/2014/main" id="{C47FCCB7-749F-4BBD-B669-1747CC472460}"/>
              </a:ext>
            </a:extLst>
          </p:cNvPr>
          <p:cNvSpPr>
            <a:spLocks xmlns:a="http://schemas.openxmlformats.org/drawingml/2006/main" noGrp="1"/>
          </p:cNvSpPr>
          <p:nvPr/>
        </p:nvSpPr>
        <p:spPr>
          <a:xfrm xmlns:a="http://schemas.openxmlformats.org/drawingml/2006/main">
            <a:off x="2286000" y="2011680"/>
            <a:ext cx="4114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Deliver to a named agent and panel</a:t>
            </a:r>
          </a:p>
        </p:txBody>
      </p:sp>
      <p:sp>
        <p:nvSpPr>
          <p:cNvPr id="6" name="TextBox 5">
            <a:extLst xmlns:a="http://schemas.openxmlformats.org/drawingml/2006/main">
              <a:ext uri="{FF2B5EF4-FFF2-40B4-BE49-F238E27FC236}">
                <a16:creationId xmlns:a16="http://schemas.microsoft.com/office/drawing/2014/main" id="{083E3287-6A63-4B1A-8CC5-B61FE3D65FAD}"/>
              </a:ext>
            </a:extLst>
          </p:cNvPr>
          <p:cNvSpPr>
            <a:spLocks xmlns:a="http://schemas.openxmlformats.org/drawingml/2006/main" noGrp="1"/>
          </p:cNvSpPr>
          <p:nvPr/>
        </p:nvSpPr>
        <p:spPr>
          <a:xfrm xmlns:a="http://schemas.openxmlformats.org/drawingml/2006/main">
            <a:off x="731520" y="2926080"/>
            <a:ext cx="1371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A6E34A"/>
                </a:solidFill>
                <a:latin typeface="Alliance No.2"/>
                <a:ea typeface="Alliance No.2"/>
                <a:cs typeface="Alliance No.2"/>
              </a:defRPr>
            </a:pPr>
            <a:r>
              <a:rPr sz="1575" b="0">
                <a:solidFill>
                  <a:srgbClr val="A6E34A"/>
                </a:solidFill>
                <a:latin typeface="Alliance No.2"/>
                <a:ea typeface="Alliance No.2"/>
                <a:cs typeface="Alliance No.2"/>
              </a:rPr>
              <a:t>REPLY</a:t>
            </a:r>
          </a:p>
        </p:txBody>
      </p:sp>
      <p:sp>
        <p:nvSpPr>
          <p:cNvPr id="7" name="TextBox 6">
            <a:extLst xmlns:a="http://schemas.openxmlformats.org/drawingml/2006/main">
              <a:ext uri="{FF2B5EF4-FFF2-40B4-BE49-F238E27FC236}">
                <a16:creationId xmlns:a16="http://schemas.microsoft.com/office/drawing/2014/main" id="{5103057C-F157-43BE-BB85-4A08D1218C3D}"/>
              </a:ext>
            </a:extLst>
          </p:cNvPr>
          <p:cNvSpPr>
            <a:spLocks xmlns:a="http://schemas.openxmlformats.org/drawingml/2006/main" noGrp="1"/>
          </p:cNvSpPr>
          <p:nvPr/>
        </p:nvSpPr>
        <p:spPr>
          <a:xfrm xmlns:a="http://schemas.openxmlformats.org/drawingml/2006/main">
            <a:off x="2286000" y="2926080"/>
            <a:ext cx="4114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Continue the last routed thread</a:t>
            </a:r>
          </a:p>
        </p:txBody>
      </p:sp>
      <p:sp>
        <p:nvSpPr>
          <p:cNvPr id="8" name="TextBox 7">
            <a:extLst xmlns:a="http://schemas.openxmlformats.org/drawingml/2006/main">
              <a:ext uri="{FF2B5EF4-FFF2-40B4-BE49-F238E27FC236}">
                <a16:creationId xmlns:a16="http://schemas.microsoft.com/office/drawing/2014/main" id="{07594296-2844-44D0-AC77-305A39982DA9}"/>
              </a:ext>
            </a:extLst>
          </p:cNvPr>
          <p:cNvSpPr>
            <a:spLocks xmlns:a="http://schemas.openxmlformats.org/drawingml/2006/main" noGrp="1"/>
          </p:cNvSpPr>
          <p:nvPr/>
        </p:nvSpPr>
        <p:spPr>
          <a:xfrm xmlns:a="http://schemas.openxmlformats.org/drawingml/2006/main">
            <a:off x="731520" y="3840480"/>
            <a:ext cx="16383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A6E34A"/>
                </a:solidFill>
                <a:latin typeface="Alliance No.2"/>
                <a:ea typeface="Alliance No.2"/>
                <a:cs typeface="Alliance No.2"/>
              </a:defRPr>
            </a:pPr>
            <a:r>
              <a:rPr sz="1575" b="0">
                <a:solidFill>
                  <a:srgbClr val="A6E34A"/>
                </a:solidFill>
                <a:latin typeface="Alliance No.2"/>
                <a:ea typeface="Alliance No.2"/>
                <a:cs typeface="Alliance No.2"/>
              </a:rPr>
              <a:t>BROADCAST</a:t>
            </a:r>
          </a:p>
        </p:txBody>
      </p:sp>
      <p:sp>
        <p:nvSpPr>
          <p:cNvPr id="9" name="TextBox 8">
            <a:extLst xmlns:a="http://schemas.openxmlformats.org/drawingml/2006/main">
              <a:ext uri="{FF2B5EF4-FFF2-40B4-BE49-F238E27FC236}">
                <a16:creationId xmlns:a16="http://schemas.microsoft.com/office/drawing/2014/main" id="{C7378B50-A0BF-472A-8A4C-B7D2456D4E72}"/>
              </a:ext>
            </a:extLst>
          </p:cNvPr>
          <p:cNvSpPr>
            <a:spLocks xmlns:a="http://schemas.openxmlformats.org/drawingml/2006/main" noGrp="1"/>
          </p:cNvSpPr>
          <p:nvPr/>
        </p:nvSpPr>
        <p:spPr>
          <a:xfrm xmlns:a="http://schemas.openxmlformats.org/drawingml/2006/main">
            <a:off x="2476500" y="3840480"/>
            <a:ext cx="39243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Fan out to every other running agent</a:t>
            </a:r>
          </a:p>
        </p:txBody>
      </p:sp>
      <p:sp>
        <p:nvSpPr>
          <p:cNvPr id="10" name="TextBox 9">
            <a:extLst xmlns:a="http://schemas.openxmlformats.org/drawingml/2006/main">
              <a:ext uri="{FF2B5EF4-FFF2-40B4-BE49-F238E27FC236}">
                <a16:creationId xmlns:a16="http://schemas.microsoft.com/office/drawing/2014/main" id="{DA0BC42A-0553-4E7B-A050-78BF80D97122}"/>
              </a:ext>
            </a:extLst>
          </p:cNvPr>
          <p:cNvSpPr>
            <a:spLocks xmlns:a="http://schemas.openxmlformats.org/drawingml/2006/main" noGrp="1"/>
          </p:cNvSpPr>
          <p:nvPr/>
        </p:nvSpPr>
        <p:spPr>
          <a:xfrm xmlns:a="http://schemas.openxmlformats.org/drawingml/2006/main">
            <a:off x="731520" y="4754880"/>
            <a:ext cx="1371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A6E34A"/>
                </a:solidFill>
                <a:latin typeface="Alliance No.2"/>
                <a:ea typeface="Alliance No.2"/>
                <a:cs typeface="Alliance No.2"/>
              </a:defRPr>
            </a:pPr>
            <a:r>
              <a:rPr sz="1575" b="0">
                <a:solidFill>
                  <a:srgbClr val="A6E34A"/>
                </a:solidFill>
                <a:latin typeface="Alliance No.2"/>
                <a:ea typeface="Alliance No.2"/>
                <a:cs typeface="Alliance No.2"/>
              </a:rPr>
              <a:t>STATUS</a:t>
            </a:r>
          </a:p>
        </p:txBody>
      </p:sp>
      <p:sp>
        <p:nvSpPr>
          <p:cNvPr id="11" name="TextBox 10">
            <a:extLst xmlns:a="http://schemas.openxmlformats.org/drawingml/2006/main">
              <a:ext uri="{FF2B5EF4-FFF2-40B4-BE49-F238E27FC236}">
                <a16:creationId xmlns:a16="http://schemas.microsoft.com/office/drawing/2014/main" id="{C390B50B-8D02-4ECA-8A37-A0596B4B46C8}"/>
              </a:ext>
            </a:extLst>
          </p:cNvPr>
          <p:cNvSpPr>
            <a:spLocks xmlns:a="http://schemas.openxmlformats.org/drawingml/2006/main" noGrp="1"/>
          </p:cNvSpPr>
          <p:nvPr/>
        </p:nvSpPr>
        <p:spPr>
          <a:xfrm xmlns:a="http://schemas.openxmlformats.org/drawingml/2006/main">
            <a:off x="2286000" y="4754880"/>
            <a:ext cx="4114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Update local progress; do not route</a:t>
            </a:r>
          </a:p>
        </p:txBody>
      </p:sp>
      <p:sp>
        <p:nvSpPr>
          <p:cNvPr id="12" name="TextBox 11">
            <a:extLst xmlns:a="http://schemas.openxmlformats.org/drawingml/2006/main">
              <a:ext uri="{FF2B5EF4-FFF2-40B4-BE49-F238E27FC236}">
                <a16:creationId xmlns:a16="http://schemas.microsoft.com/office/drawing/2014/main" id="{8387EA0D-E3A6-48C9-9C73-11DBE1B5C2B2}"/>
              </a:ext>
            </a:extLst>
          </p:cNvPr>
          <p:cNvSpPr>
            <a:spLocks xmlns:a="http://schemas.openxmlformats.org/drawingml/2006/main" noGrp="1"/>
          </p:cNvSpPr>
          <p:nvPr/>
        </p:nvSpPr>
        <p:spPr>
          <a:xfrm xmlns:a="http://schemas.openxmlformats.org/drawingml/2006/main">
            <a:off x="731520" y="5669280"/>
            <a:ext cx="13716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A6E34A"/>
                </a:solidFill>
                <a:latin typeface="Alliance No.2"/>
                <a:ea typeface="Alliance No.2"/>
                <a:cs typeface="Alliance No.2"/>
              </a:defRPr>
            </a:pPr>
            <a:r>
              <a:rPr sz="1575" b="0">
                <a:solidFill>
                  <a:srgbClr val="A6E34A"/>
                </a:solidFill>
                <a:latin typeface="Alliance No.2"/>
                <a:ea typeface="Alliance No.2"/>
                <a:cs typeface="Alliance No.2"/>
              </a:rPr>
              <a:t>QUERY</a:t>
            </a:r>
          </a:p>
        </p:txBody>
      </p:sp>
      <p:sp>
        <p:nvSpPr>
          <p:cNvPr id="13" name="TextBox 12">
            <a:extLst xmlns:a="http://schemas.openxmlformats.org/drawingml/2006/main">
              <a:ext uri="{FF2B5EF4-FFF2-40B4-BE49-F238E27FC236}">
                <a16:creationId xmlns:a16="http://schemas.microsoft.com/office/drawing/2014/main" id="{9D740F22-9B06-4437-86D5-E91A30D9E922}"/>
              </a:ext>
            </a:extLst>
          </p:cNvPr>
          <p:cNvSpPr>
            <a:spLocks xmlns:a="http://schemas.openxmlformats.org/drawingml/2006/main" noGrp="1"/>
          </p:cNvSpPr>
          <p:nvPr/>
        </p:nvSpPr>
        <p:spPr>
          <a:xfrm xmlns:a="http://schemas.openxmlformats.org/drawingml/2006/main">
            <a:off x="2286000" y="5669280"/>
            <a:ext cx="4114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List the agents Commander can see</a:t>
            </a:r>
          </a:p>
        </p:txBody>
      </p:sp>
      <p:sp>
        <p:nvSpPr>
          <p:cNvPr id="14" name="Rounded Rectangle 13">
            <a:extLst xmlns:a="http://schemas.openxmlformats.org/drawingml/2006/main">
              <a:ext uri="{FF2B5EF4-FFF2-40B4-BE49-F238E27FC236}">
                <a16:creationId xmlns:a16="http://schemas.microsoft.com/office/drawing/2014/main" id="{65775697-7084-4910-905D-C867F98A7802}"/>
              </a:ext>
            </a:extLst>
          </p:cNvPr>
          <p:cNvSpPr>
            <a:spLocks xmlns:a="http://schemas.openxmlformats.org/drawingml/2006/main" noGrp="1"/>
          </p:cNvSpPr>
          <p:nvPr/>
        </p:nvSpPr>
        <p:spPr>
          <a:xfrm xmlns:a="http://schemas.openxmlformats.org/drawingml/2006/main">
            <a:off x="6858000" y="1828800"/>
            <a:ext cx="4754880" cy="4572000"/>
          </a:xfrm>
          <a:prstGeom xmlns:a="http://schemas.openxmlformats.org/drawingml/2006/main" prst="roundRect">
            <a:avLst>
              <a:gd name="adj" fmla="val 1667"/>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5C2496A5-9F5B-4ECA-98A1-568B48BBC17B}"/>
              </a:ext>
            </a:extLst>
          </p:cNvPr>
          <p:cNvSpPr>
            <a:spLocks xmlns:a="http://schemas.openxmlformats.org/drawingml/2006/main" noGrp="1"/>
          </p:cNvSpPr>
          <p:nvPr/>
        </p:nvSpPr>
        <p:spPr>
          <a:xfrm xmlns:a="http://schemas.openxmlformats.org/drawingml/2006/main">
            <a:off x="7040880" y="1920240"/>
            <a:ext cx="438912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E9E7EE"/>
                </a:solidFill>
                <a:latin typeface="Consolas"/>
                <a:ea typeface="Consolas"/>
                <a:cs typeface="Consolas"/>
              </a:defRPr>
            </a:pPr>
            <a:r>
              <a:rPr sz="1200" b="1">
                <a:solidFill>
                  <a:srgbClr val="E9E7EE"/>
                </a:solidFill>
                <a:latin typeface="Consolas"/>
                <a:ea typeface="Consolas"/>
                <a:cs typeface="Consolas"/>
              </a:rPr>
              <a:t>Examples (&lt;k&gt; is this session's capability)</a:t>
            </a:r>
          </a:p>
        </p:txBody>
      </p:sp>
      <p:sp>
        <p:nvSpPr>
          <p:cNvPr id="16" name="TextBox 15">
            <a:extLst xmlns:a="http://schemas.openxmlformats.org/drawingml/2006/main">
              <a:ext uri="{FF2B5EF4-FFF2-40B4-BE49-F238E27FC236}">
                <a16:creationId xmlns:a16="http://schemas.microsoft.com/office/drawing/2014/main" id="{FC6D4426-1883-49A7-96CD-16CC023BB2A3}"/>
              </a:ext>
            </a:extLst>
          </p:cNvPr>
          <p:cNvSpPr>
            <a:spLocks xmlns:a="http://schemas.openxmlformats.org/drawingml/2006/main" noGrp="1"/>
          </p:cNvSpPr>
          <p:nvPr/>
        </p:nvSpPr>
        <p:spPr>
          <a:xfrm xmlns:a="http://schemas.openxmlformats.org/drawingml/2006/main">
            <a:off x="7040880" y="2286000"/>
            <a:ext cx="4389120" cy="4023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 SEND — direct message</a:t>
            </a:r>
          </a:p>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===COMMANDER:SEND:codex:2:&lt;k&gt;===</a:t>
            </a:r>
          </a:p>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Write unit tests for src/auth/</a:t>
            </a:r>
          </a:p>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===COMMANDER:END:&lt;k&gt;===</a:t>
            </a:r>
          </a:p>
          <a:p xmlns:a="http://schemas.openxmlformats.org/drawingml/2006/main">
            <a:pPr>
              <a:spcAft>
                <a:spcPts val="400"/>
              </a:spcAft>
              <a:buNone/>
              <a:defRPr sz="1300" b="0">
                <a:solidFill>
                  <a:srgbClr val="D0E8D0"/>
                </a:solidFill>
                <a:latin typeface="Consolas"/>
                <a:ea typeface="Consolas"/>
                <a:cs typeface="Consolas"/>
              </a:defRPr>
            </a:pPr>
            <a:r>
              <a:t/>
            </a:r>
          </a:p>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 REPLY — respond to sender</a:t>
            </a:r>
          </a:p>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===COMMANDER:REPLY:&lt;k&gt;===</a:t>
            </a:r>
          </a:p>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12 tests passing, 0 failing.</a:t>
            </a:r>
          </a:p>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===COMMANDER:END:&lt;k&gt;===</a:t>
            </a:r>
          </a:p>
          <a:p xmlns:a="http://schemas.openxmlformats.org/drawingml/2006/main">
            <a:pPr>
              <a:spcAft>
                <a:spcPts val="400"/>
              </a:spcAft>
              <a:buNone/>
              <a:defRPr sz="1300" b="0">
                <a:solidFill>
                  <a:srgbClr val="D0E8D0"/>
                </a:solidFill>
                <a:latin typeface="Consolas"/>
                <a:ea typeface="Consolas"/>
                <a:cs typeface="Consolas"/>
              </a:defRPr>
            </a:pPr>
            <a:r>
              <a:t/>
            </a:r>
          </a:p>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 BROADCAST — all other agents</a:t>
            </a:r>
          </a:p>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===COMMANDER:BROADCAST:&lt;k&gt;===</a:t>
            </a:r>
          </a:p>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Phase 1 complete. Begin phase 2.</a:t>
            </a:r>
          </a:p>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===COMMANDER:END:&lt;k&gt;===</a:t>
            </a:r>
          </a:p>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 Routed verbs create bounded records</a:t>
            </a:r>
          </a:p>
          <a:p xmlns:a="http://schemas.openxmlformats.org/drawingml/2006/main">
            <a:pPr algn="l">
              <a:spcAft>
                <a:spcPts val="400"/>
              </a:spcAft>
              <a:buNone/>
              <a:defRPr sz="1200" b="0">
                <a:solidFill>
                  <a:srgbClr val="A6E34A"/>
                </a:solidFill>
                <a:latin typeface="Consolas"/>
                <a:ea typeface="Consolas"/>
                <a:cs typeface="Consolas"/>
              </a:defRPr>
            </a:pPr>
            <a:r>
              <a:rPr sz="1200" b="0">
                <a:solidFill>
                  <a:srgbClr val="A6E34A"/>
                </a:solidFill>
                <a:latin typeface="Consolas"/>
                <a:ea typeface="Consolas"/>
                <a:cs typeface="Consolas"/>
              </a:rPr>
              <a:t>  ACK = transport, not correctness</a:t>
            </a:r>
          </a:p>
        </p:txBody>
      </p:sp>
      <p:sp>
        <p:nvSpPr>
          <p:cNvPr id="17" name="TextBox 16">
            <a:extLst xmlns:a="http://schemas.openxmlformats.org/drawingml/2006/main">
              <a:ext uri="{FF2B5EF4-FFF2-40B4-BE49-F238E27FC236}">
                <a16:creationId xmlns:a16="http://schemas.microsoft.com/office/drawing/2014/main" id="{F2B74B2A-E1EC-4C33-BF64-34105BEEE0CB}"/>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050" b="0">
                <a:solidFill>
                  <a:srgbClr val="838289"/>
                </a:solidFill>
                <a:latin typeface="Consolas"/>
                <a:ea typeface="Consolas"/>
                <a:cs typeface="Consolas"/>
              </a:defRPr>
            </a:pPr>
            <a:r>
              <a:rPr sz="1050" b="0">
                <a:solidFill>
                  <a:srgbClr val="838289"/>
                </a:solidFill>
                <a:latin typeface="Consolas"/>
                <a:ea typeface="Consolas"/>
                <a:cs typeface="Consolas"/>
              </a:rPr>
              <a:t>4/13</a:t>
            </a:r>
          </a:p>
        </p:txBody>
      </p:sp>
      <p:sp>
        <p:nvSpPr>
          <p:cNvPr id="18" name="Callstack accent rule">
            <a:extLst xmlns:a="http://schemas.openxmlformats.org/drawingml/2006/main">
              <a:ext uri="{FF2B5EF4-FFF2-40B4-BE49-F238E27FC236}">
                <a16:creationId xmlns:a16="http://schemas.microsoft.com/office/drawing/2014/main" id="{BCAFB515-4394-49A6-BDCF-BF3937215B8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Tree>
    <p:extLst>
      <p:ext uri="{BB962C8B-B14F-4D97-AF65-F5344CB8AC3E}">
        <p14:creationId xmlns:p14="http://schemas.microsoft.com/office/powerpoint/2010/main" val="503360568"/>
      </p:ext>
    </p:extLst>
  </p:cSld>
</p:sld>
</file>

<file path=ppt/slides/slide5.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D14A90BD-F9A0-4DE6-94FF-FC226C52D935}"/>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1">
                <a:solidFill>
                  <a:srgbClr val="CBAAFF"/>
                </a:solidFill>
                <a:latin typeface="Consolas"/>
                <a:ea typeface="Consolas"/>
                <a:cs typeface="Consolas"/>
              </a:defRPr>
            </a:pPr>
            <a:r>
              <a:rPr sz="1125" b="1">
                <a:solidFill>
                  <a:srgbClr val="CBAAFF"/>
                </a:solidFill>
                <a:latin typeface="Consolas"/>
                <a:ea typeface="Consolas"/>
                <a:cs typeface="Consolas"/>
              </a:rPr>
              <a:t>STREAM CONTRACT</a:t>
            </a:r>
          </a:p>
        </p:txBody>
      </p:sp>
      <p:sp>
        <p:nvSpPr>
          <p:cNvPr id="3" name="TextBox 2">
            <a:extLst xmlns:a="http://schemas.openxmlformats.org/drawingml/2006/main">
              <a:ext uri="{FF2B5EF4-FFF2-40B4-BE49-F238E27FC236}">
                <a16:creationId xmlns:a16="http://schemas.microsoft.com/office/drawing/2014/main" id="{D4C72E13-4133-4A4A-AFAD-F67776F7D283}"/>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450" b="0">
                <a:solidFill>
                  <a:srgbClr val="FFFFFF"/>
                </a:solidFill>
                <a:latin typeface="Alliance No.2"/>
                <a:ea typeface="Alliance No.2"/>
                <a:cs typeface="Alliance No.2"/>
              </a:defRPr>
            </a:pPr>
            <a:r>
              <a:rPr sz="3450" b="0">
                <a:solidFill>
                  <a:srgbClr val="FFFFFF"/>
                </a:solidFill>
                <a:latin typeface="Alliance No.2"/>
                <a:ea typeface="Alliance No.2"/>
                <a:cs typeface="Alliance No.2"/>
              </a:rPr>
              <a:t>A partial frame is not a handoff.</a:t>
            </a:r>
          </a:p>
        </p:txBody>
      </p:sp>
      <p:sp>
        <p:nvSpPr>
          <p:cNvPr id="4" name="Rounded Rectangle 3">
            <a:extLst xmlns:a="http://schemas.openxmlformats.org/drawingml/2006/main">
              <a:ext uri="{FF2B5EF4-FFF2-40B4-BE49-F238E27FC236}">
                <a16:creationId xmlns:a16="http://schemas.microsoft.com/office/drawing/2014/main" id="{2DEB8A47-8BE8-4BC0-B770-47ACE03E4A73}"/>
              </a:ext>
            </a:extLst>
          </p:cNvPr>
          <p:cNvSpPr>
            <a:spLocks xmlns:a="http://schemas.openxmlformats.org/drawingml/2006/main" noGrp="1"/>
          </p:cNvSpPr>
          <p:nvPr/>
        </p:nvSpPr>
        <p:spPr>
          <a:xfrm xmlns:a="http://schemas.openxmlformats.org/drawingml/2006/main">
            <a:off x="1371600" y="2286000"/>
            <a:ext cx="9418320" cy="2011680"/>
          </a:xfrm>
          <a:prstGeom xmlns:a="http://schemas.openxmlformats.org/drawingml/2006/main" prst="roundRect">
            <a:avLst>
              <a:gd name="adj" fmla="val 3788"/>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B43EF4F-765A-481C-9F3D-1FA43943D971}"/>
              </a:ext>
            </a:extLst>
          </p:cNvPr>
          <p:cNvSpPr>
            <a:spLocks xmlns:a="http://schemas.openxmlformats.org/drawingml/2006/main" noGrp="1"/>
          </p:cNvSpPr>
          <p:nvPr/>
        </p:nvSpPr>
        <p:spPr>
          <a:xfrm xmlns:a="http://schemas.openxmlformats.org/drawingml/2006/main">
            <a:off x="1828800" y="2560320"/>
            <a:ext cx="8229600" cy="5486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175" b="1">
                <a:solidFill>
                  <a:srgbClr val="A6E34A"/>
                </a:solidFill>
                <a:latin typeface="Consolas"/>
                <a:ea typeface="Consolas"/>
                <a:cs typeface="Consolas"/>
              </a:defRPr>
            </a:pPr>
            <a:r>
              <a:rPr sz="2175" b="1">
                <a:solidFill>
                  <a:srgbClr val="A6E34A"/>
                </a:solidFill>
                <a:latin typeface="Consolas"/>
                <a:ea typeface="Consolas"/>
                <a:cs typeface="Consolas"/>
              </a:rPr>
              <a:t>===COMMANDER:SEND:codex:2:&lt;k&gt;===</a:t>
            </a:r>
          </a:p>
        </p:txBody>
      </p:sp>
      <p:sp>
        <p:nvSpPr>
          <p:cNvPr id="6" name="TextBox 5">
            <a:extLst xmlns:a="http://schemas.openxmlformats.org/drawingml/2006/main">
              <a:ext uri="{FF2B5EF4-FFF2-40B4-BE49-F238E27FC236}">
                <a16:creationId xmlns:a16="http://schemas.microsoft.com/office/drawing/2014/main" id="{9F02DEE6-20B8-47B0-9436-B901739D0593}"/>
              </a:ext>
            </a:extLst>
          </p:cNvPr>
          <p:cNvSpPr>
            <a:spLocks xmlns:a="http://schemas.openxmlformats.org/drawingml/2006/main" noGrp="1"/>
          </p:cNvSpPr>
          <p:nvPr/>
        </p:nvSpPr>
        <p:spPr>
          <a:xfrm xmlns:a="http://schemas.openxmlformats.org/drawingml/2006/main">
            <a:off x="1828800" y="3200400"/>
            <a:ext cx="82296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125" b="0">
                <a:solidFill>
                  <a:srgbClr val="838289"/>
                </a:solidFill>
                <a:latin typeface="Consolas"/>
                <a:ea typeface="Consolas"/>
                <a:cs typeface="Consolas"/>
              </a:defRPr>
            </a:pPr>
            <a:r>
              <a:rPr sz="1125" b="0">
                <a:solidFill>
                  <a:srgbClr val="838289"/>
                </a:solidFill>
                <a:latin typeface="Consolas"/>
                <a:ea typeface="Consolas"/>
                <a:cs typeface="Consolas"/>
              </a:rPr>
              <a:t>marker      action      agent      panel      capability      marker</a:t>
            </a:r>
          </a:p>
        </p:txBody>
      </p:sp>
      <p:sp>
        <p:nvSpPr>
          <p:cNvPr id="7" name="TextBox 6">
            <a:extLst xmlns:a="http://schemas.openxmlformats.org/drawingml/2006/main">
              <a:ext uri="{FF2B5EF4-FFF2-40B4-BE49-F238E27FC236}">
                <a16:creationId xmlns:a16="http://schemas.microsoft.com/office/drawing/2014/main" id="{3823D96E-18CF-4561-90A5-E4E76547D5AA}"/>
              </a:ext>
            </a:extLst>
          </p:cNvPr>
          <p:cNvSpPr>
            <a:spLocks xmlns:a="http://schemas.openxmlformats.org/drawingml/2006/main" noGrp="1"/>
          </p:cNvSpPr>
          <p:nvPr/>
        </p:nvSpPr>
        <p:spPr>
          <a:xfrm xmlns:a="http://schemas.openxmlformats.org/drawingml/2006/main">
            <a:off x="1828800" y="3657600"/>
            <a:ext cx="822960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650" b="0">
                <a:solidFill>
                  <a:srgbClr val="E9E7EE"/>
                </a:solidFill>
                <a:latin typeface="Switzer"/>
                <a:ea typeface="Switzer"/>
                <a:cs typeface="Switzer"/>
              </a:defRPr>
            </a:pPr>
            <a:r>
              <a:rPr sz="1650" b="0">
                <a:solidFill>
                  <a:srgbClr val="E9E7EE"/>
                </a:solidFill>
                <a:latin typeface="Switzer"/>
                <a:ea typeface="Switzer"/>
                <a:cs typeface="Switzer"/>
              </a:rPr>
              <a:t>{bounded multiline text reconstructed from streamed chunks}</a:t>
            </a:r>
          </a:p>
        </p:txBody>
      </p:sp>
      <p:sp>
        <p:nvSpPr>
          <p:cNvPr id="8" name="TextBox 7">
            <a:extLst xmlns:a="http://schemas.openxmlformats.org/drawingml/2006/main">
              <a:ext uri="{FF2B5EF4-FFF2-40B4-BE49-F238E27FC236}">
                <a16:creationId xmlns:a16="http://schemas.microsoft.com/office/drawing/2014/main" id="{2082A228-44F8-4EF8-A55A-A3C67EBB3A7B}"/>
              </a:ext>
            </a:extLst>
          </p:cNvPr>
          <p:cNvSpPr>
            <a:spLocks xmlns:a="http://schemas.openxmlformats.org/drawingml/2006/main" noGrp="1"/>
          </p:cNvSpPr>
          <p:nvPr/>
        </p:nvSpPr>
        <p:spPr>
          <a:xfrm xmlns:a="http://schemas.openxmlformats.org/drawingml/2006/main">
            <a:off x="1828800" y="3880485"/>
            <a:ext cx="8229600" cy="5181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175" b="1">
                <a:solidFill>
                  <a:srgbClr val="A6E34A"/>
                </a:solidFill>
                <a:latin typeface="Consolas"/>
                <a:ea typeface="Consolas"/>
                <a:cs typeface="Consolas"/>
              </a:defRPr>
            </a:pPr>
            <a:r>
              <a:rPr sz="2175" b="1">
                <a:solidFill>
                  <a:srgbClr val="A6E34A"/>
                </a:solidFill>
                <a:latin typeface="Consolas"/>
                <a:ea typeface="Consolas"/>
                <a:cs typeface="Consolas"/>
              </a:rPr>
              <a:t>===COMMANDER:END:&lt;k&gt;===</a:t>
            </a:r>
          </a:p>
        </p:txBody>
      </p:sp>
      <p:sp>
        <p:nvSpPr>
          <p:cNvPr id="9" name="TextBox 8">
            <a:extLst xmlns:a="http://schemas.openxmlformats.org/drawingml/2006/main">
              <a:ext uri="{FF2B5EF4-FFF2-40B4-BE49-F238E27FC236}">
                <a16:creationId xmlns:a16="http://schemas.microsoft.com/office/drawing/2014/main" id="{C954CF3D-FD1D-42D9-9A8B-61BB75255376}"/>
              </a:ext>
            </a:extLst>
          </p:cNvPr>
          <p:cNvSpPr>
            <a:spLocks xmlns:a="http://schemas.openxmlformats.org/drawingml/2006/main" noGrp="1"/>
          </p:cNvSpPr>
          <p:nvPr/>
        </p:nvSpPr>
        <p:spPr>
          <a:xfrm xmlns:a="http://schemas.openxmlformats.org/drawingml/2006/main">
            <a:off x="731520" y="4846320"/>
            <a:ext cx="109728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00" b="0">
                <a:solidFill>
                  <a:srgbClr val="A6E34A"/>
                </a:solidFill>
                <a:latin typeface="Alliance No.2"/>
                <a:ea typeface="Alliance No.2"/>
                <a:cs typeface="Alliance No.2"/>
              </a:defRPr>
            </a:pPr>
            <a:r>
              <a:rPr sz="1500" b="0">
                <a:solidFill>
                  <a:srgbClr val="A6E34A"/>
                </a:solidFill>
                <a:latin typeface="Alliance No.2"/>
                <a:ea typeface="Alliance No.2"/>
                <a:cs typeface="Alliance No.2"/>
              </a:rPr>
              <a:t>Delivery invariants:</a:t>
            </a:r>
          </a:p>
        </p:txBody>
      </p:sp>
      <p:sp>
        <p:nvSpPr>
          <p:cNvPr id="10" name="TextBox 9">
            <a:extLst xmlns:a="http://schemas.openxmlformats.org/drawingml/2006/main">
              <a:ext uri="{FF2B5EF4-FFF2-40B4-BE49-F238E27FC236}">
                <a16:creationId xmlns:a16="http://schemas.microsoft.com/office/drawing/2014/main" id="{1E918B97-A894-46CA-AF49-B2BDB76C63BB}"/>
              </a:ext>
            </a:extLst>
          </p:cNvPr>
          <p:cNvSpPr>
            <a:spLocks xmlns:a="http://schemas.openxmlformats.org/drawingml/2006/main" noGrp="1"/>
          </p:cNvSpPr>
          <p:nvPr/>
        </p:nvSpPr>
        <p:spPr>
          <a:xfrm xmlns:a="http://schemas.openxmlformats.org/drawingml/2006/main">
            <a:off x="731520" y="5212080"/>
            <a:ext cx="10972800" cy="18288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350" b="0">
                <a:solidFill>
                  <a:srgbClr val="BCBBC2"/>
                </a:solidFill>
                <a:latin typeface="Switzer"/>
                <a:ea typeface="Switzer"/>
                <a:cs typeface="Switzer"/>
              </a:defRPr>
            </a:pPr>
            <a:r>
              <a:rPr sz="1350" b="0">
                <a:solidFill>
                  <a:srgbClr val="BCBBC2"/>
                </a:solidFill>
                <a:latin typeface="Switzer"/>
                <a:ea typeface="Switzer"/>
                <a:cs typeface="Switzer"/>
              </a:rPr>
              <a:t>1. Normalize ANSI output without changing printable payloads</a:t>
            </a:r>
          </a:p>
          <a:p xmlns:a="http://schemas.openxmlformats.org/drawingml/2006/main">
            <a:pPr algn="l">
              <a:spcAft>
                <a:spcPts val="400"/>
              </a:spcAft>
              <a:buNone/>
              <a:defRPr sz="1350" b="0">
                <a:solidFill>
                  <a:srgbClr val="BCBBC2"/>
                </a:solidFill>
                <a:latin typeface="Switzer"/>
                <a:ea typeface="Switzer"/>
                <a:cs typeface="Switzer"/>
              </a:defRPr>
            </a:pPr>
            <a:r>
              <a:rPr sz="1350" b="0">
                <a:solidFill>
                  <a:srgbClr val="BCBBC2"/>
                </a:solidFill>
                <a:latin typeface="Switzer"/>
                <a:ea typeface="Switzer"/>
                <a:cs typeface="Switzer"/>
              </a:rPr>
              <a:t>2. Reassemble complete frames across chunks and soft-wrapped rows</a:t>
            </a:r>
          </a:p>
          <a:p xmlns:a="http://schemas.openxmlformats.org/drawingml/2006/main">
            <a:pPr algn="l">
              <a:spcAft>
                <a:spcPts val="400"/>
              </a:spcAft>
              <a:buNone/>
              <a:defRPr sz="1350" b="0">
                <a:solidFill>
                  <a:srgbClr val="BCBBC2"/>
                </a:solidFill>
                <a:latin typeface="Switzer"/>
                <a:ea typeface="Switzer"/>
                <a:cs typeface="Switzer"/>
              </a:defRPr>
            </a:pPr>
            <a:r>
              <a:rPr sz="1350" b="0">
                <a:solidFill>
                  <a:srgbClr val="BCBBC2"/>
                </a:solidFill>
                <a:latin typeface="Switzer"/>
                <a:ea typeface="Switzer"/>
                <a:cs typeface="Switzer"/>
              </a:rPr>
              <a:t>3. Match the current capability; validate target and bounded content</a:t>
            </a:r>
          </a:p>
          <a:p xmlns:a="http://schemas.openxmlformats.org/drawingml/2006/main">
            <a:pPr algn="l">
              <a:spcAft>
                <a:spcPts val="400"/>
              </a:spcAft>
              <a:buNone/>
              <a:defRPr sz="1350" b="0">
                <a:solidFill>
                  <a:srgbClr val="BCBBC2"/>
                </a:solidFill>
                <a:latin typeface="Switzer"/>
                <a:ea typeface="Switzer"/>
                <a:cs typeface="Switzer"/>
              </a:defRPr>
            </a:pPr>
            <a:r>
              <a:rPr sz="1350" b="0">
                <a:solidFill>
                  <a:srgbClr val="BCBBC2"/>
                </a:solidFill>
                <a:latin typeface="Switzer"/>
                <a:ea typeface="Switzer"/>
                <a:cs typeface="Switzer"/>
              </a:rPr>
              <a:t>4. Suppress exact injected echoes while scanning stays live</a:t>
            </a:r>
          </a:p>
          <a:p xmlns:a="http://schemas.openxmlformats.org/drawingml/2006/main">
            <a:pPr algn="l">
              <a:spcAft>
                <a:spcPts val="400"/>
              </a:spcAft>
              <a:buNone/>
              <a:defRPr sz="1350" b="0">
                <a:solidFill>
                  <a:srgbClr val="BCBBC2"/>
                </a:solidFill>
                <a:latin typeface="Switzer"/>
                <a:ea typeface="Switzer"/>
                <a:cs typeface="Switzer"/>
              </a:defRPr>
            </a:pPr>
            <a:r>
              <a:rPr sz="1350" b="0">
                <a:solidFill>
                  <a:srgbClr val="BCBBC2"/>
                </a:solidFill>
                <a:latin typeface="Switzer"/>
                <a:ea typeface="Switzer"/>
                <a:cs typeface="Switzer"/>
              </a:rPr>
              <a:t>5. Record IDs; ACK confirms PTY submission—not correctness</a:t>
            </a:r>
          </a:p>
        </p:txBody>
      </p:sp>
      <p:sp>
        <p:nvSpPr>
          <p:cNvPr id="11" name="TextBox 10">
            <a:extLst xmlns:a="http://schemas.openxmlformats.org/drawingml/2006/main">
              <a:ext uri="{FF2B5EF4-FFF2-40B4-BE49-F238E27FC236}">
                <a16:creationId xmlns:a16="http://schemas.microsoft.com/office/drawing/2014/main" id="{C67EF9B9-01A7-4D8A-83E7-4C39D8358563}"/>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050" b="0">
                <a:solidFill>
                  <a:srgbClr val="838289"/>
                </a:solidFill>
                <a:latin typeface="Consolas"/>
                <a:ea typeface="Consolas"/>
                <a:cs typeface="Consolas"/>
              </a:defRPr>
            </a:pPr>
            <a:r>
              <a:rPr sz="1050" b="0">
                <a:solidFill>
                  <a:srgbClr val="838289"/>
                </a:solidFill>
                <a:latin typeface="Consolas"/>
                <a:ea typeface="Consolas"/>
                <a:cs typeface="Consolas"/>
              </a:rPr>
              <a:t>5/13</a:t>
            </a:r>
          </a:p>
        </p:txBody>
      </p:sp>
      <p:sp>
        <p:nvSpPr>
          <p:cNvPr id="12" name="Callstack accent rule">
            <a:extLst xmlns:a="http://schemas.openxmlformats.org/drawingml/2006/main">
              <a:ext uri="{FF2B5EF4-FFF2-40B4-BE49-F238E27FC236}">
                <a16:creationId xmlns:a16="http://schemas.microsoft.com/office/drawing/2014/main" id="{40D80EF0-A0A3-4E80-81D1-43F41C357C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Tree>
    <p:extLst>
      <p:ext uri="{BB962C8B-B14F-4D97-AF65-F5344CB8AC3E}">
        <p14:creationId xmlns:p14="http://schemas.microsoft.com/office/powerpoint/2010/main" val="574963073"/>
      </p:ext>
    </p:extLst>
  </p:cSld>
</p:sld>
</file>

<file path=ppt/slides/slide6.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1">
                <a:solidFill>
                  <a:srgbClr val="CBAAFF"/>
                </a:solidFill>
                <a:latin typeface="Consolas"/>
                <a:ea typeface="Consolas"/>
                <a:cs typeface="Consolas"/>
              </a:defRPr>
            </a:pPr>
            <a:r>
              <a:rPr sz="1125" b="1">
                <a:solidFill>
                  <a:srgbClr val="CBAAFF"/>
                </a:solidFill>
                <a:latin typeface="Consolas"/>
                <a:ea typeface="Consolas"/>
                <a:cs typeface="Consolas"/>
              </a:rPr>
              <a:t>SCRIPTED OFFLINE TRANSPORT PROOF</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450" b="0">
                <a:solidFill>
                  <a:srgbClr val="FFFFFF"/>
                </a:solidFill>
                <a:latin typeface="Alliance No.2"/>
                <a:ea typeface="Alliance No.2"/>
                <a:cs typeface="Alliance No.2"/>
              </a:defRPr>
            </a:pPr>
            <a:r>
              <a:rPr sz="3450" b="0">
                <a:solidFill>
                  <a:srgbClr val="FFFFFF"/>
                </a:solidFill>
                <a:latin typeface="Alliance No.2"/>
                <a:ea typeface="Alliance No.2"/>
                <a:cs typeface="Alliance No.2"/>
              </a:rPr>
              <a:t>Schematic: SEND → local STATUS → REPLY.</a:t>
            </a:r>
          </a:p>
        </p:txBody>
      </p:sp>
      <p:sp>
        <p:nvSpPr>
          <p:cNvPr id="4" name="Rounded Rectangle 3">
            <a:extLst xmlns:a="http://schemas.openxmlformats.org/drawingml/2006/main">
              <a:ext uri="{FF2B5EF4-FFF2-40B4-BE49-F238E27FC236}">
                <a16:creationId xmlns:a16="http://schemas.microsoft.com/office/drawing/2014/main" id="{8142692C-9158-45DB-9197-7E9024E15575}"/>
              </a:ext>
            </a:extLst>
          </p:cNvPr>
          <p:cNvSpPr>
            <a:spLocks xmlns:a="http://schemas.openxmlformats.org/drawingml/2006/main" noGrp="1"/>
          </p:cNvSpPr>
          <p:nvPr/>
        </p:nvSpPr>
        <p:spPr>
          <a:xfrm xmlns:a="http://schemas.openxmlformats.org/drawingml/2006/main">
            <a:off x="731520" y="2103120"/>
            <a:ext cx="3291840" cy="4114800"/>
          </a:xfrm>
          <a:prstGeom xmlns:a="http://schemas.openxmlformats.org/drawingml/2006/main" prst="roundRect">
            <a:avLst>
              <a:gd name="adj" fmla="val 2315"/>
            </a:avLst>
          </a:prstGeom>
          <a:solidFill xmlns:a="http://schemas.openxmlformats.org/drawingml/2006/main">
            <a:srgbClr val="000000"/>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B7375E16-D10D-458C-886E-5857BC0D94BD}"/>
              </a:ext>
            </a:extLst>
          </p:cNvPr>
          <p:cNvSpPr>
            <a:spLocks xmlns:a="http://schemas.openxmlformats.org/drawingml/2006/main" noGrp="1"/>
          </p:cNvSpPr>
          <p:nvPr/>
        </p:nvSpPr>
        <p:spPr>
          <a:xfrm xmlns:a="http://schemas.openxmlformats.org/drawingml/2006/main">
            <a:off x="914400" y="2194560"/>
            <a:ext cx="29260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25" b="0">
                <a:solidFill>
                  <a:srgbClr val="A6E34A"/>
                </a:solidFill>
                <a:latin typeface="Alliance No.2"/>
                <a:ea typeface="Alliance No.2"/>
                <a:cs typeface="Alliance No.2"/>
              </a:defRPr>
            </a:pPr>
            <a:r>
              <a:rPr sz="1425" b="0">
                <a:solidFill>
                  <a:srgbClr val="A6E34A"/>
                </a:solidFill>
                <a:latin typeface="Alliance No.2"/>
                <a:ea typeface="Alliance No.2"/>
                <a:cs typeface="Alliance No.2"/>
              </a:rPr>
              <a:t>Demo Coordinator (scripted)</a:t>
            </a:r>
          </a:p>
        </p:txBody>
      </p:sp>
      <p:sp>
        <p:nvSpPr>
          <p:cNvPr id="6" name="TextBox 5">
            <a:extLst xmlns:a="http://schemas.openxmlformats.org/drawingml/2006/main">
              <a:ext uri="{FF2B5EF4-FFF2-40B4-BE49-F238E27FC236}">
                <a16:creationId xmlns:a16="http://schemas.microsoft.com/office/drawing/2014/main" id="{DF0A6C4D-7A03-4178-A6A6-635834F2A455}"/>
              </a:ext>
            </a:extLst>
          </p:cNvPr>
          <p:cNvSpPr>
            <a:spLocks xmlns:a="http://schemas.openxmlformats.org/drawingml/2006/main" noGrp="1"/>
          </p:cNvSpPr>
          <p:nvPr/>
        </p:nvSpPr>
        <p:spPr>
          <a:xfrm xmlns:a="http://schemas.openxmlformats.org/drawingml/2006/main">
            <a:off x="914400" y="2651760"/>
            <a:ext cx="29260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200" b="0">
                <a:solidFill>
                  <a:srgbClr val="E9E7EE"/>
                </a:solidFill>
                <a:latin typeface="Consolas"/>
                <a:ea typeface="Consolas"/>
                <a:cs typeface="Consolas"/>
              </a:defRPr>
            </a:pPr>
            <a:r>
              <a:rPr sz="1200" b="0">
                <a:solidFill>
                  <a:srgbClr val="E9E7EE"/>
                </a:solidFill>
                <a:latin typeface="Consolas"/>
                <a:ea typeface="Consolas"/>
                <a:cs typeface="Consolas"/>
              </a:rPr>
              <a:t>SEND → panel 2</a:t>
            </a:r>
          </a:p>
          <a:p xmlns:a="http://schemas.openxmlformats.org/drawingml/2006/main">
            <a:pPr algn="l">
              <a:spcAft>
                <a:spcPts val="400"/>
              </a:spcAft>
              <a:buNone/>
              <a:defRPr sz="1200" b="0">
                <a:solidFill>
                  <a:srgbClr val="E9E7EE"/>
                </a:solidFill>
                <a:latin typeface="Consolas"/>
                <a:ea typeface="Consolas"/>
                <a:cs typeface="Consolas"/>
              </a:defRPr>
            </a:pPr>
            <a:r>
              <a:rPr sz="1200" b="0">
                <a:solidFill>
                  <a:srgbClr val="E9E7EE"/>
                </a:solidFill>
                <a:latin typeface="Consolas"/>
                <a:ea typeface="Consolas"/>
                <a:cs typeface="Consolas"/>
              </a:rPr>
              <a:t>Review brief.md: total=42</a:t>
            </a:r>
          </a:p>
          <a:p xmlns:a="http://schemas.openxmlformats.org/drawingml/2006/main">
            <a:pPr algn="l">
              <a:spcAft>
                <a:spcPts val="400"/>
              </a:spcAft>
              <a:buNone/>
              <a:defRPr sz="1200" b="0">
                <a:solidFill>
                  <a:srgbClr val="E9E7EE"/>
                </a:solidFill>
                <a:latin typeface="Consolas"/>
                <a:ea typeface="Consolas"/>
                <a:cs typeface="Consolas"/>
              </a:defRPr>
            </a:pPr>
            <a:r>
              <a:rPr sz="1200" b="0">
                <a:solidFill>
                  <a:srgbClr val="E9E7EE"/>
                </a:solidFill>
                <a:latin typeface="Consolas"/>
                <a:ea typeface="Consolas"/>
                <a:cs typeface="Consolas"/>
              </a:rPr>
              <a:t>ACK · thr_000001 · msg_000001</a:t>
            </a:r>
          </a:p>
          <a:p xmlns:a="http://schemas.openxmlformats.org/drawingml/2006/main">
            <a:pPr>
              <a:spcAft>
                <a:spcPts val="400"/>
              </a:spcAft>
              <a:buNone/>
              <a:defRPr sz="1200" b="1">
                <a:solidFill>
                  <a:srgbClr val="00FF41"/>
                </a:solidFill>
                <a:latin typeface="Consolas"/>
                <a:ea typeface="Consolas"/>
                <a:cs typeface="Consolas"/>
              </a:defRPr>
            </a:pPr>
            <a:r>
              <a:rPr sz="1013" b="1">
                <a:solidFill>
                  <a:srgbClr val="00FF41"/>
                </a:solidFill>
                <a:latin typeface="Consolas"/>
                <a:ea typeface="Consolas"/>
                <a:cs typeface="Consolas"/>
              </a:rPr>
              <a:t/>
            </a:r>
          </a:p>
          <a:p xmlns:a="http://schemas.openxmlformats.org/drawingml/2006/main">
            <a:pPr algn="l">
              <a:spcAft>
                <a:spcPts val="400"/>
              </a:spcAft>
              <a:buNone/>
              <a:defRPr sz="1200" b="0">
                <a:solidFill>
                  <a:srgbClr val="E9E7EE"/>
                </a:solidFill>
                <a:latin typeface="Consolas"/>
                <a:ea typeface="Consolas"/>
                <a:cs typeface="Consolas"/>
              </a:defRPr>
            </a:pPr>
            <a:r>
              <a:rPr sz="1200" b="0">
                <a:solidFill>
                  <a:srgbClr val="E9E7EE"/>
                </a:solidFill>
                <a:latin typeface="Consolas"/>
                <a:ea typeface="Consolas"/>
                <a:cs typeface="Consolas"/>
              </a:rPr>
              <a:t>[From Demo Reviewer]</a:t>
            </a:r>
          </a:p>
          <a:p xmlns:a="http://schemas.openxmlformats.org/drawingml/2006/main">
            <a:pPr algn="l">
              <a:spcAft>
                <a:spcPts val="400"/>
              </a:spcAft>
              <a:buNone/>
              <a:defRPr sz="1200" b="0">
                <a:solidFill>
                  <a:srgbClr val="E9E7EE"/>
                </a:solidFill>
                <a:latin typeface="Consolas"/>
                <a:ea typeface="Consolas"/>
                <a:cs typeface="Consolas"/>
              </a:defRPr>
            </a:pPr>
            <a:r>
              <a:rPr sz="1200" b="0">
                <a:solidFill>
                  <a:srgbClr val="E9E7EE"/>
                </a:solidFill>
                <a:latin typeface="Consolas"/>
                <a:ea typeface="Consolas"/>
                <a:cs typeface="Consolas"/>
              </a:rPr>
              <a:t>review passed · total=42</a:t>
            </a:r>
          </a:p>
          <a:p xmlns:a="http://schemas.openxmlformats.org/drawingml/2006/main">
            <a:pPr>
              <a:spcAft>
                <a:spcPts val="400"/>
              </a:spcAft>
              <a:buNone/>
              <a:defRPr sz="1200" b="1">
                <a:solidFill>
                  <a:srgbClr val="00FF41"/>
                </a:solidFill>
                <a:latin typeface="Consolas"/>
                <a:ea typeface="Consolas"/>
                <a:cs typeface="Consolas"/>
              </a:defRPr>
            </a:pPr>
            <a:r>
              <a:rPr sz="1013" b="1">
                <a:solidFill>
                  <a:srgbClr val="00FF41"/>
                </a:solidFill>
                <a:latin typeface="Consolas"/>
                <a:ea typeface="Consolas"/>
                <a:cs typeface="Consolas"/>
              </a:rPr>
              <a:t/>
            </a:r>
          </a:p>
          <a:p xmlns:a="http://schemas.openxmlformats.org/drawingml/2006/main">
            <a:pPr algn="l">
              <a:spcAft>
                <a:spcPts val="400"/>
              </a:spcAft>
              <a:buNone/>
              <a:defRPr sz="1200" b="0">
                <a:solidFill>
                  <a:srgbClr val="E9E7EE"/>
                </a:solidFill>
                <a:latin typeface="Consolas"/>
                <a:ea typeface="Consolas"/>
                <a:cs typeface="Consolas"/>
              </a:defRPr>
            </a:pPr>
            <a:r>
              <a:rPr sz="1200" b="0">
                <a:solidFill>
                  <a:srgbClr val="E9E7EE"/>
                </a:solidFill>
                <a:latin typeface="Consolas"/>
                <a:ea typeface="Consolas"/>
                <a:cs typeface="Consolas"/>
              </a:rPr>
              <a:t>local STATUS: complete</a:t>
            </a:r>
          </a:p>
        </p:txBody>
      </p:sp>
      <p:sp>
        <p:nvSpPr>
          <p:cNvPr id="7" name="TextBox 6">
            <a:extLst xmlns:a="http://schemas.openxmlformats.org/drawingml/2006/main">
              <a:ext uri="{FF2B5EF4-FFF2-40B4-BE49-F238E27FC236}">
                <a16:creationId xmlns:a16="http://schemas.microsoft.com/office/drawing/2014/main" id="{170FED11-5DDF-430F-BC22-96084F076136}"/>
              </a:ext>
            </a:extLst>
          </p:cNvPr>
          <p:cNvSpPr>
            <a:spLocks xmlns:a="http://schemas.openxmlformats.org/drawingml/2006/main" noGrp="1"/>
          </p:cNvSpPr>
          <p:nvPr/>
        </p:nvSpPr>
        <p:spPr>
          <a:xfrm xmlns:a="http://schemas.openxmlformats.org/drawingml/2006/main">
            <a:off x="4114800" y="3840480"/>
            <a:ext cx="914400" cy="5486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3000" b="1">
                <a:solidFill>
                  <a:srgbClr val="A6E34A"/>
                </a:solidFill>
                <a:latin typeface="Consolas"/>
                <a:ea typeface="Consolas"/>
                <a:cs typeface="Consolas"/>
              </a:defRPr>
            </a:pPr>
            <a:r>
              <a:rPr sz="3000" b="1">
                <a:solidFill>
                  <a:srgbClr val="A6E34A"/>
                </a:solidFill>
                <a:latin typeface="Consolas"/>
                <a:ea typeface="Consolas"/>
                <a:cs typeface="Consolas"/>
              </a:rPr>
              <a:t>➔</a:t>
            </a:r>
          </a:p>
        </p:txBody>
      </p:sp>
      <p:sp>
        <p:nvSpPr>
          <p:cNvPr id="8" name="TextBox 7">
            <a:extLst xmlns:a="http://schemas.openxmlformats.org/drawingml/2006/main">
              <a:ext uri="{FF2B5EF4-FFF2-40B4-BE49-F238E27FC236}">
                <a16:creationId xmlns:a16="http://schemas.microsoft.com/office/drawing/2014/main" id="{D75E717A-C54F-4BAF-B8A0-01A9E9E0F492}"/>
              </a:ext>
            </a:extLst>
          </p:cNvPr>
          <p:cNvSpPr>
            <a:spLocks xmlns:a="http://schemas.openxmlformats.org/drawingml/2006/main" noGrp="1"/>
          </p:cNvSpPr>
          <p:nvPr/>
        </p:nvSpPr>
        <p:spPr>
          <a:xfrm xmlns:a="http://schemas.openxmlformats.org/drawingml/2006/main">
            <a:off x="4114800" y="4297680"/>
            <a:ext cx="9144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050" b="0">
                <a:solidFill>
                  <a:srgbClr val="838289"/>
                </a:solidFill>
                <a:latin typeface="Consolas"/>
                <a:ea typeface="Consolas"/>
                <a:cs typeface="Consolas"/>
              </a:defRPr>
            </a:pPr>
            <a:r>
              <a:rPr sz="1050" b="0">
                <a:solidFill>
                  <a:srgbClr val="838289"/>
                </a:solidFill>
                <a:latin typeface="Consolas"/>
                <a:ea typeface="Consolas"/>
                <a:cs typeface="Consolas"/>
              </a:rPr>
              <a:t>observe</a:t>
            </a:r>
          </a:p>
        </p:txBody>
      </p:sp>
      <p:sp>
        <p:nvSpPr>
          <p:cNvPr id="9" name="Rounded Rectangle 8">
            <a:extLst xmlns:a="http://schemas.openxmlformats.org/drawingml/2006/main">
              <a:ext uri="{FF2B5EF4-FFF2-40B4-BE49-F238E27FC236}">
                <a16:creationId xmlns:a16="http://schemas.microsoft.com/office/drawing/2014/main" id="{F425EC09-2148-4830-B45D-12A8E8CC8A2D}"/>
              </a:ext>
            </a:extLst>
          </p:cNvPr>
          <p:cNvSpPr>
            <a:spLocks xmlns:a="http://schemas.openxmlformats.org/drawingml/2006/main" noGrp="1"/>
          </p:cNvSpPr>
          <p:nvPr/>
        </p:nvSpPr>
        <p:spPr>
          <a:xfrm xmlns:a="http://schemas.openxmlformats.org/drawingml/2006/main">
            <a:off x="4846320" y="2926080"/>
            <a:ext cx="2468880" cy="2286000"/>
          </a:xfrm>
          <a:prstGeom xmlns:a="http://schemas.openxmlformats.org/drawingml/2006/main" prst="roundRect">
            <a:avLst>
              <a:gd name="adj" fmla="val 3333"/>
            </a:avLst>
          </a:prstGeom>
          <a:solidFill xmlns:a="http://schemas.openxmlformats.org/drawingml/2006/main">
            <a:srgbClr val="8232FF"/>
          </a:solidFill>
          <a:ln xmlns:a="http://schemas.openxmlformats.org/drawingml/2006/main" w="14288">
            <a:solidFill>
              <a:srgbClr val="CBAA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23798ACE-539F-411E-86EE-46B8924CA8A9}"/>
              </a:ext>
            </a:extLst>
          </p:cNvPr>
          <p:cNvSpPr>
            <a:spLocks xmlns:a="http://schemas.openxmlformats.org/drawingml/2006/main" noGrp="1"/>
          </p:cNvSpPr>
          <p:nvPr/>
        </p:nvSpPr>
        <p:spPr>
          <a:xfrm xmlns:a="http://schemas.openxmlformats.org/drawingml/2006/main">
            <a:off x="4846320" y="3200400"/>
            <a:ext cx="246888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2100" b="0">
                <a:solidFill>
                  <a:srgbClr val="FFFFFF"/>
                </a:solidFill>
                <a:latin typeface="Consolas"/>
                <a:ea typeface="Consolas"/>
                <a:cs typeface="Consolas"/>
              </a:defRPr>
            </a:pPr>
            <a:r>
              <a:rPr sz="2100" b="0">
                <a:solidFill>
                  <a:srgbClr val="FFFFFF"/>
                </a:solidFill>
                <a:latin typeface="Consolas"/>
                <a:ea typeface="Consolas"/>
                <a:cs typeface="Consolas"/>
              </a:rPr>
              <a:t>⚙</a:t>
            </a:r>
          </a:p>
        </p:txBody>
      </p:sp>
      <p:sp>
        <p:nvSpPr>
          <p:cNvPr id="11" name="TextBox 10">
            <a:extLst xmlns:a="http://schemas.openxmlformats.org/drawingml/2006/main">
              <a:ext uri="{FF2B5EF4-FFF2-40B4-BE49-F238E27FC236}">
                <a16:creationId xmlns:a16="http://schemas.microsoft.com/office/drawing/2014/main" id="{77EBC630-EBFC-4E7B-B915-87F5E5E36122}"/>
              </a:ext>
            </a:extLst>
          </p:cNvPr>
          <p:cNvSpPr>
            <a:spLocks xmlns:a="http://schemas.openxmlformats.org/drawingml/2006/main" noGrp="1"/>
          </p:cNvSpPr>
          <p:nvPr/>
        </p:nvSpPr>
        <p:spPr>
          <a:xfrm xmlns:a="http://schemas.openxmlformats.org/drawingml/2006/main">
            <a:off x="4846320" y="3749039"/>
            <a:ext cx="2468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425" b="0">
                <a:solidFill>
                  <a:srgbClr val="FFFFFF"/>
                </a:solidFill>
                <a:latin typeface="Alliance No.2"/>
                <a:ea typeface="Alliance No.2"/>
                <a:cs typeface="Alliance No.2"/>
              </a:defRPr>
            </a:pPr>
            <a:r>
              <a:rPr sz="1425" b="0">
                <a:solidFill>
                  <a:srgbClr val="FFFFFF"/>
                </a:solidFill>
                <a:latin typeface="Alliance No.2"/>
                <a:ea typeface="Alliance No.2"/>
                <a:cs typeface="Alliance No.2"/>
              </a:rPr>
              <a:t>LOCAL COMMANDER</a:t>
            </a:r>
          </a:p>
        </p:txBody>
      </p:sp>
      <p:sp>
        <p:nvSpPr>
          <p:cNvPr id="12" name="TextBox 11">
            <a:extLst xmlns:a="http://schemas.openxmlformats.org/drawingml/2006/main">
              <a:ext uri="{FF2B5EF4-FFF2-40B4-BE49-F238E27FC236}">
                <a16:creationId xmlns:a16="http://schemas.microsoft.com/office/drawing/2014/main" id="{18C7B657-7839-4F4D-BC65-3068C302148D}"/>
              </a:ext>
            </a:extLst>
          </p:cNvPr>
          <p:cNvSpPr>
            <a:spLocks xmlns:a="http://schemas.openxmlformats.org/drawingml/2006/main" noGrp="1"/>
          </p:cNvSpPr>
          <p:nvPr/>
        </p:nvSpPr>
        <p:spPr>
          <a:xfrm xmlns:a="http://schemas.openxmlformats.org/drawingml/2006/main">
            <a:off x="4846320" y="4114800"/>
            <a:ext cx="246888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125" b="0">
                <a:solidFill>
                  <a:srgbClr val="E9E7EE"/>
                </a:solidFill>
                <a:latin typeface="Consolas"/>
                <a:ea typeface="Consolas"/>
                <a:cs typeface="Consolas"/>
              </a:defRPr>
            </a:pPr>
            <a:r>
              <a:rPr sz="1125" b="0">
                <a:solidFill>
                  <a:srgbClr val="E9E7EE"/>
                </a:solidFill>
                <a:latin typeface="Consolas"/>
                <a:ea typeface="Consolas"/>
                <a:cs typeface="Consolas"/>
              </a:rPr>
              <a:t>observe • validate • inject</a:t>
            </a:r>
          </a:p>
        </p:txBody>
      </p:sp>
      <p:sp>
        <p:nvSpPr>
          <p:cNvPr id="13" name="TextBox 12">
            <a:extLst xmlns:a="http://schemas.openxmlformats.org/drawingml/2006/main">
              <a:ext uri="{FF2B5EF4-FFF2-40B4-BE49-F238E27FC236}">
                <a16:creationId xmlns:a16="http://schemas.microsoft.com/office/drawing/2014/main" id="{7EFE5A99-619A-4804-AD67-EB52335C1AC8}"/>
              </a:ext>
            </a:extLst>
          </p:cNvPr>
          <p:cNvSpPr>
            <a:spLocks xmlns:a="http://schemas.openxmlformats.org/drawingml/2006/main" noGrp="1"/>
          </p:cNvSpPr>
          <p:nvPr/>
        </p:nvSpPr>
        <p:spPr>
          <a:xfrm xmlns:a="http://schemas.openxmlformats.org/drawingml/2006/main">
            <a:off x="7406640" y="3840480"/>
            <a:ext cx="914400" cy="5486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3000" b="1">
                <a:solidFill>
                  <a:srgbClr val="A6E34A"/>
                </a:solidFill>
                <a:latin typeface="Consolas"/>
                <a:ea typeface="Consolas"/>
                <a:cs typeface="Consolas"/>
              </a:defRPr>
            </a:pPr>
            <a:r>
              <a:rPr sz="3000" b="1">
                <a:solidFill>
                  <a:srgbClr val="A6E34A"/>
                </a:solidFill>
                <a:latin typeface="Consolas"/>
                <a:ea typeface="Consolas"/>
                <a:cs typeface="Consolas"/>
              </a:rPr>
              <a:t>➔</a:t>
            </a:r>
          </a:p>
        </p:txBody>
      </p:sp>
      <p:sp>
        <p:nvSpPr>
          <p:cNvPr id="14" name="TextBox 13">
            <a:extLst xmlns:a="http://schemas.openxmlformats.org/drawingml/2006/main">
              <a:ext uri="{FF2B5EF4-FFF2-40B4-BE49-F238E27FC236}">
                <a16:creationId xmlns:a16="http://schemas.microsoft.com/office/drawing/2014/main" id="{D3443487-FE31-442B-B2E4-AAE830672524}"/>
              </a:ext>
            </a:extLst>
          </p:cNvPr>
          <p:cNvSpPr>
            <a:spLocks xmlns:a="http://schemas.openxmlformats.org/drawingml/2006/main" noGrp="1"/>
          </p:cNvSpPr>
          <p:nvPr/>
        </p:nvSpPr>
        <p:spPr>
          <a:xfrm xmlns:a="http://schemas.openxmlformats.org/drawingml/2006/main">
            <a:off x="7406640" y="4297680"/>
            <a:ext cx="9144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ctr">
              <a:buNone/>
              <a:defRPr sz="1050" b="0">
                <a:solidFill>
                  <a:srgbClr val="838289"/>
                </a:solidFill>
                <a:latin typeface="Consolas"/>
                <a:ea typeface="Consolas"/>
                <a:cs typeface="Consolas"/>
              </a:defRPr>
            </a:pPr>
            <a:r>
              <a:rPr sz="1050" b="0">
                <a:solidFill>
                  <a:srgbClr val="838289"/>
                </a:solidFill>
                <a:latin typeface="Consolas"/>
                <a:ea typeface="Consolas"/>
                <a:cs typeface="Consolas"/>
              </a:rPr>
              <a:t>inject</a:t>
            </a:r>
          </a:p>
        </p:txBody>
      </p:sp>
      <p:sp>
        <p:nvSpPr>
          <p:cNvPr id="15" name="Rounded Rectangle 14">
            <a:extLst xmlns:a="http://schemas.openxmlformats.org/drawingml/2006/main">
              <a:ext uri="{FF2B5EF4-FFF2-40B4-BE49-F238E27FC236}">
                <a16:creationId xmlns:a16="http://schemas.microsoft.com/office/drawing/2014/main" id="{743FA2BB-4D6E-41FF-A729-4C82B8E9215A}"/>
              </a:ext>
            </a:extLst>
          </p:cNvPr>
          <p:cNvSpPr>
            <a:spLocks xmlns:a="http://schemas.openxmlformats.org/drawingml/2006/main" noGrp="1"/>
          </p:cNvSpPr>
          <p:nvPr/>
        </p:nvSpPr>
        <p:spPr>
          <a:xfrm xmlns:a="http://schemas.openxmlformats.org/drawingml/2006/main">
            <a:off x="8229600" y="2103120"/>
            <a:ext cx="3291840" cy="4114800"/>
          </a:xfrm>
          <a:prstGeom xmlns:a="http://schemas.openxmlformats.org/drawingml/2006/main" prst="roundRect">
            <a:avLst>
              <a:gd name="adj" fmla="val 2315"/>
            </a:avLst>
          </a:prstGeom>
          <a:solidFill xmlns:a="http://schemas.openxmlformats.org/drawingml/2006/main">
            <a:srgbClr val="000000"/>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8E885279-45E9-4D25-BFEB-CD75BA9CFE52}"/>
              </a:ext>
            </a:extLst>
          </p:cNvPr>
          <p:cNvSpPr>
            <a:spLocks xmlns:a="http://schemas.openxmlformats.org/drawingml/2006/main" noGrp="1"/>
          </p:cNvSpPr>
          <p:nvPr/>
        </p:nvSpPr>
        <p:spPr>
          <a:xfrm xmlns:a="http://schemas.openxmlformats.org/drawingml/2006/main">
            <a:off x="8412480" y="2194560"/>
            <a:ext cx="29260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25" b="0">
                <a:solidFill>
                  <a:srgbClr val="A6E34A"/>
                </a:solidFill>
                <a:latin typeface="Alliance No.2"/>
                <a:ea typeface="Alliance No.2"/>
                <a:cs typeface="Alliance No.2"/>
              </a:defRPr>
            </a:pPr>
            <a:r>
              <a:rPr sz="1425" b="0">
                <a:solidFill>
                  <a:srgbClr val="A6E34A"/>
                </a:solidFill>
                <a:latin typeface="Alliance No.2"/>
                <a:ea typeface="Alliance No.2"/>
                <a:cs typeface="Alliance No.2"/>
              </a:rPr>
              <a:t>Demo Reviewer (scripted)</a:t>
            </a:r>
          </a:p>
        </p:txBody>
      </p:sp>
      <p:sp>
        <p:nvSpPr>
          <p:cNvPr id="17" name="TextBox 16">
            <a:extLst xmlns:a="http://schemas.openxmlformats.org/drawingml/2006/main">
              <a:ext uri="{FF2B5EF4-FFF2-40B4-BE49-F238E27FC236}">
                <a16:creationId xmlns:a16="http://schemas.microsoft.com/office/drawing/2014/main" id="{40E9AB56-0964-4D5D-95D4-51FF9ACBD66A}"/>
              </a:ext>
            </a:extLst>
          </p:cNvPr>
          <p:cNvSpPr>
            <a:spLocks xmlns:a="http://schemas.openxmlformats.org/drawingml/2006/main" noGrp="1"/>
          </p:cNvSpPr>
          <p:nvPr/>
        </p:nvSpPr>
        <p:spPr>
          <a:xfrm xmlns:a="http://schemas.openxmlformats.org/drawingml/2006/main">
            <a:off x="8412480" y="2651760"/>
            <a:ext cx="29260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200" b="0">
                <a:solidFill>
                  <a:srgbClr val="E9E7EE"/>
                </a:solidFill>
                <a:latin typeface="Consolas"/>
                <a:ea typeface="Consolas"/>
                <a:cs typeface="Consolas"/>
              </a:defRPr>
            </a:pPr>
            <a:r>
              <a:rPr sz="1200" b="0">
                <a:solidFill>
                  <a:srgbClr val="E9E7EE"/>
                </a:solidFill>
                <a:latin typeface="Consolas"/>
                <a:ea typeface="Consolas"/>
                <a:cs typeface="Consolas"/>
              </a:rPr>
              <a:t>[From Demo Coordinator]</a:t>
            </a:r>
          </a:p>
          <a:p xmlns:a="http://schemas.openxmlformats.org/drawingml/2006/main">
            <a:pPr algn="l">
              <a:spcAft>
                <a:spcPts val="400"/>
              </a:spcAft>
              <a:buNone/>
              <a:defRPr sz="1200" b="0">
                <a:solidFill>
                  <a:srgbClr val="E9E7EE"/>
                </a:solidFill>
                <a:latin typeface="Consolas"/>
                <a:ea typeface="Consolas"/>
                <a:cs typeface="Consolas"/>
              </a:defRPr>
            </a:pPr>
            <a:r>
              <a:rPr sz="1200" b="0">
                <a:solidFill>
                  <a:srgbClr val="E9E7EE"/>
                </a:solidFill>
                <a:latin typeface="Consolas"/>
                <a:ea typeface="Consolas"/>
                <a:cs typeface="Consolas"/>
              </a:rPr>
              <a:t>thr_000001 · msg_000001</a:t>
            </a:r>
          </a:p>
          <a:p xmlns:a="http://schemas.openxmlformats.org/drawingml/2006/main">
            <a:pPr algn="l">
              <a:spcAft>
                <a:spcPts val="400"/>
              </a:spcAft>
              <a:buNone/>
              <a:defRPr sz="1200" b="0">
                <a:solidFill>
                  <a:srgbClr val="E9E7EE"/>
                </a:solidFill>
                <a:latin typeface="Consolas"/>
                <a:ea typeface="Consolas"/>
                <a:cs typeface="Consolas"/>
              </a:defRPr>
            </a:pPr>
            <a:r>
              <a:rPr sz="1200" b="0">
                <a:solidFill>
                  <a:srgbClr val="E9E7EE"/>
                </a:solidFill>
                <a:latin typeface="Consolas"/>
                <a:ea typeface="Consolas"/>
                <a:cs typeface="Consolas"/>
              </a:rPr>
              <a:t>Review brief.md: total=42</a:t>
            </a:r>
          </a:p>
          <a:p xmlns:a="http://schemas.openxmlformats.org/drawingml/2006/main">
            <a:pPr>
              <a:spcAft>
                <a:spcPts val="400"/>
              </a:spcAft>
              <a:buNone/>
              <a:defRPr sz="1200" b="0">
                <a:solidFill>
                  <a:srgbClr val="D0E8D0"/>
                </a:solidFill>
                <a:latin typeface="Consolas"/>
                <a:ea typeface="Consolas"/>
                <a:cs typeface="Consolas"/>
              </a:defRPr>
            </a:pPr>
            <a:r>
              <a:t/>
            </a:r>
          </a:p>
          <a:p xmlns:a="http://schemas.openxmlformats.org/drawingml/2006/main">
            <a:pPr algn="l">
              <a:spcAft>
                <a:spcPts val="400"/>
              </a:spcAft>
              <a:buNone/>
              <a:defRPr sz="1200" b="0">
                <a:solidFill>
                  <a:srgbClr val="E9E7EE"/>
                </a:solidFill>
                <a:latin typeface="Consolas"/>
                <a:ea typeface="Consolas"/>
                <a:cs typeface="Consolas"/>
              </a:defRPr>
            </a:pPr>
            <a:r>
              <a:rPr sz="1200" b="0">
                <a:solidFill>
                  <a:srgbClr val="E9E7EE"/>
                </a:solidFill>
                <a:latin typeface="Consolas"/>
                <a:ea typeface="Consolas"/>
                <a:cs typeface="Consolas"/>
              </a:rPr>
              <a:t>local STATUS: total=42</a:t>
            </a:r>
          </a:p>
          <a:p xmlns:a="http://schemas.openxmlformats.org/drawingml/2006/main">
            <a:pPr>
              <a:spcAft>
                <a:spcPts val="400"/>
              </a:spcAft>
              <a:buNone/>
              <a:defRPr sz="1200" b="0">
                <a:solidFill>
                  <a:srgbClr val="7A9A7A"/>
                </a:solidFill>
                <a:latin typeface="Consolas"/>
                <a:ea typeface="Consolas"/>
                <a:cs typeface="Consolas"/>
              </a:defRPr>
            </a:pPr>
            <a:r>
              <a:t/>
            </a:r>
          </a:p>
          <a:p xmlns:a="http://schemas.openxmlformats.org/drawingml/2006/main">
            <a:pPr algn="l">
              <a:spcAft>
                <a:spcPts val="400"/>
              </a:spcAft>
              <a:buNone/>
              <a:defRPr sz="1200" b="0">
                <a:solidFill>
                  <a:srgbClr val="E9E7EE"/>
                </a:solidFill>
                <a:latin typeface="Consolas"/>
                <a:ea typeface="Consolas"/>
                <a:cs typeface="Consolas"/>
              </a:defRPr>
            </a:pPr>
            <a:r>
              <a:rPr sz="1200" b="0">
                <a:solidFill>
                  <a:srgbClr val="E9E7EE"/>
                </a:solidFill>
                <a:latin typeface="Consolas"/>
                <a:ea typeface="Consolas"/>
                <a:cs typeface="Consolas"/>
              </a:rPr>
              <a:t>REPLY → panel 1</a:t>
            </a:r>
          </a:p>
          <a:p xmlns:a="http://schemas.openxmlformats.org/drawingml/2006/main">
            <a:pPr algn="l">
              <a:spcAft>
                <a:spcPts val="400"/>
              </a:spcAft>
              <a:buNone/>
              <a:defRPr sz="1200" b="0">
                <a:solidFill>
                  <a:srgbClr val="E9E7EE"/>
                </a:solidFill>
                <a:latin typeface="Consolas"/>
                <a:ea typeface="Consolas"/>
                <a:cs typeface="Consolas"/>
              </a:defRPr>
            </a:pPr>
            <a:r>
              <a:rPr sz="1200" b="0">
                <a:solidFill>
                  <a:srgbClr val="E9E7EE"/>
                </a:solidFill>
                <a:latin typeface="Consolas"/>
                <a:ea typeface="Consolas"/>
                <a:cs typeface="Consolas"/>
              </a:rPr>
              <a:t>review passed · total=42</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050" b="0">
                <a:solidFill>
                  <a:srgbClr val="838289"/>
                </a:solidFill>
                <a:latin typeface="Consolas"/>
                <a:ea typeface="Consolas"/>
                <a:cs typeface="Consolas"/>
              </a:defRPr>
            </a:pPr>
            <a:r>
              <a:rPr sz="1050" b="0">
                <a:solidFill>
                  <a:srgbClr val="838289"/>
                </a:solidFill>
                <a:latin typeface="Consolas"/>
                <a:ea typeface="Consolas"/>
                <a:cs typeface="Consolas"/>
              </a:rPr>
              <a:t>6/13</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Tree>
    <p:extLst>
      <p:ext uri="{BB962C8B-B14F-4D97-AF65-F5344CB8AC3E}">
        <p14:creationId xmlns:p14="http://schemas.microsoft.com/office/powerpoint/2010/main" val="1960374928"/>
      </p:ext>
    </p:extLst>
  </p:cSld>
</p:sld>
</file>

<file path=ppt/slides/slide7.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1">
                <a:solidFill>
                  <a:srgbClr val="CBAAFF"/>
                </a:solidFill>
                <a:latin typeface="Consolas"/>
                <a:ea typeface="Consolas"/>
                <a:cs typeface="Consolas"/>
              </a:defRPr>
            </a:pPr>
            <a:r>
              <a:rPr sz="1125" b="1">
                <a:solidFill>
                  <a:srgbClr val="CBAAFF"/>
                </a:solidFill>
                <a:latin typeface="Consolas"/>
                <a:ea typeface="Consolas"/>
                <a:cs typeface="Consolas"/>
              </a:rPr>
              <a:t>LIVE AGENT BRANCH</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450" b="0">
                <a:solidFill>
                  <a:srgbClr val="FFFFFF"/>
                </a:solidFill>
                <a:latin typeface="Alliance No.2"/>
                <a:ea typeface="Alliance No.2"/>
                <a:cs typeface="Alliance No.2"/>
              </a:defRPr>
            </a:pPr>
            <a:r>
              <a:rPr sz="3450" b="0">
                <a:solidFill>
                  <a:srgbClr val="FFFFFF"/>
                </a:solidFill>
                <a:latin typeface="Alliance No.2"/>
                <a:ea typeface="Alliance No.2"/>
                <a:cs typeface="Alliance No.2"/>
              </a:rPr>
              <a:t>ACK proves delivery—not agreement.</a:t>
            </a:r>
          </a:p>
        </p:txBody>
      </p:sp>
      <p:sp>
        <p:nvSpPr>
          <p:cNvPr id="4" name="Rounded Rectangle 3">
            <a:extLst xmlns:a="http://schemas.openxmlformats.org/drawingml/2006/main">
              <a:ext uri="{FF2B5EF4-FFF2-40B4-BE49-F238E27FC236}">
                <a16:creationId xmlns:a16="http://schemas.microsoft.com/office/drawing/2014/main" id="{182443AD-00D7-4745-8189-D9D6AC1FD896}"/>
              </a:ext>
            </a:extLst>
          </p:cNvPr>
          <p:cNvSpPr>
            <a:spLocks xmlns:a="http://schemas.openxmlformats.org/drawingml/2006/main" noGrp="1"/>
          </p:cNvSpPr>
          <p:nvPr/>
        </p:nvSpPr>
        <p:spPr>
          <a:xfrm xmlns:a="http://schemas.openxmlformats.org/drawingml/2006/main">
            <a:off x="731520" y="2103120"/>
            <a:ext cx="5303520" cy="4389120"/>
          </a:xfrm>
          <a:prstGeom xmlns:a="http://schemas.openxmlformats.org/drawingml/2006/main" prst="roundRect">
            <a:avLst>
              <a:gd name="adj" fmla="val 1736"/>
            </a:avLst>
          </a:prstGeom>
          <a:solidFill xmlns:a="http://schemas.openxmlformats.org/drawingml/2006/main">
            <a:srgbClr val="000000"/>
          </a:solidFill>
          <a:ln xmlns:a="http://schemas.openxmlformats.org/drawingml/2006/main" w="9525">
            <a:solidFill>
              <a:srgbClr val="A6E34A"/>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5F56051-0CC9-4F4E-8BF1-C98E09414FB9}"/>
              </a:ext>
            </a:extLst>
          </p:cNvPr>
          <p:cNvSpPr>
            <a:spLocks xmlns:a="http://schemas.openxmlformats.org/drawingml/2006/main" noGrp="1"/>
          </p:cNvSpPr>
          <p:nvPr/>
        </p:nvSpPr>
        <p:spPr>
          <a:xfrm xmlns:a="http://schemas.openxmlformats.org/drawingml/2006/main">
            <a:off x="1005840" y="2286000"/>
            <a:ext cx="4754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25" b="0">
                <a:solidFill>
                  <a:srgbClr val="A6E34A"/>
                </a:solidFill>
                <a:latin typeface="Alliance No.2"/>
                <a:ea typeface="Alliance No.2"/>
                <a:cs typeface="Alliance No.2"/>
              </a:defRPr>
            </a:pPr>
            <a:r>
              <a:rPr sz="1725" b="0">
                <a:solidFill>
                  <a:srgbClr val="A6E34A"/>
                </a:solidFill>
                <a:latin typeface="Alliance No.2"/>
                <a:ea typeface="Alliance No.2"/>
                <a:cs typeface="Alliance No.2"/>
              </a:rPr>
              <a:t>Rehearsed challenge → refine</a:t>
            </a:r>
          </a:p>
        </p:txBody>
      </p:sp>
      <p:sp>
        <p:nvSpPr>
          <p:cNvPr id="6" name="TextBox 5">
            <a:extLst xmlns:a="http://schemas.openxmlformats.org/drawingml/2006/main">
              <a:ext uri="{FF2B5EF4-FFF2-40B4-BE49-F238E27FC236}">
                <a16:creationId xmlns:a16="http://schemas.microsoft.com/office/drawing/2014/main" id="{C3BEC5A1-0D46-4C60-8895-7C5F8CF073EF}"/>
              </a:ext>
            </a:extLst>
          </p:cNvPr>
          <p:cNvSpPr>
            <a:spLocks xmlns:a="http://schemas.openxmlformats.org/drawingml/2006/main" noGrp="1"/>
          </p:cNvSpPr>
          <p:nvPr/>
        </p:nvSpPr>
        <p:spPr>
          <a:xfrm xmlns:a="http://schemas.openxmlformats.org/drawingml/2006/main">
            <a:off x="1005840" y="2834640"/>
            <a:ext cx="47548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1. Agent A proposes a solution</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2. Agent B challenges one assumption</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3. Agent A receives the objection</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4. Agent A refines—or rejects—with evidence</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5. F12 shows bounded route evidence</a:t>
            </a:r>
          </a:p>
        </p:txBody>
      </p:sp>
      <p:sp>
        <p:nvSpPr>
          <p:cNvPr id="7" name="Rounded Rectangle 6">
            <a:extLst xmlns:a="http://schemas.openxmlformats.org/drawingml/2006/main">
              <a:ext uri="{FF2B5EF4-FFF2-40B4-BE49-F238E27FC236}">
                <a16:creationId xmlns:a16="http://schemas.microsoft.com/office/drawing/2014/main" id="{E61D8795-CDA4-4880-B712-0C2A1F24997A}"/>
              </a:ext>
            </a:extLst>
          </p:cNvPr>
          <p:cNvSpPr>
            <a:spLocks xmlns:a="http://schemas.openxmlformats.org/drawingml/2006/main" noGrp="1"/>
          </p:cNvSpPr>
          <p:nvPr/>
        </p:nvSpPr>
        <p:spPr>
          <a:xfrm xmlns:a="http://schemas.openxmlformats.org/drawingml/2006/main">
            <a:off x="6309360" y="2103120"/>
            <a:ext cx="5303520" cy="4389120"/>
          </a:xfrm>
          <a:prstGeom xmlns:a="http://schemas.openxmlformats.org/drawingml/2006/main" prst="roundRect">
            <a:avLst>
              <a:gd name="adj" fmla="val 1736"/>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699D0A29-D30C-4BD1-AFAB-445BD20C236F}"/>
              </a:ext>
            </a:extLst>
          </p:cNvPr>
          <p:cNvSpPr>
            <a:spLocks xmlns:a="http://schemas.openxmlformats.org/drawingml/2006/main" noGrp="1"/>
          </p:cNvSpPr>
          <p:nvPr/>
        </p:nvSpPr>
        <p:spPr>
          <a:xfrm xmlns:a="http://schemas.openxmlformats.org/drawingml/2006/main">
            <a:off x="6583680" y="2286000"/>
            <a:ext cx="4754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25" b="0">
                <a:solidFill>
                  <a:srgbClr val="CBAAFF"/>
                </a:solidFill>
                <a:latin typeface="Alliance No.2"/>
                <a:ea typeface="Alliance No.2"/>
                <a:cs typeface="Alliance No.2"/>
              </a:defRPr>
            </a:pPr>
            <a:r>
              <a:rPr sz="1725" b="0">
                <a:solidFill>
                  <a:srgbClr val="CBAAFF"/>
                </a:solidFill>
                <a:latin typeface="Alliance No.2"/>
                <a:ea typeface="Alliance No.2"/>
                <a:cs typeface="Alliance No.2"/>
              </a:rPr>
              <a:t>What Commander does not decide</a:t>
            </a:r>
          </a:p>
        </p:txBody>
      </p:sp>
      <p:sp>
        <p:nvSpPr>
          <p:cNvPr id="9" name="TextBox 8">
            <a:extLst xmlns:a="http://schemas.openxmlformats.org/drawingml/2006/main">
              <a:ext uri="{FF2B5EF4-FFF2-40B4-BE49-F238E27FC236}">
                <a16:creationId xmlns:a16="http://schemas.microsoft.com/office/drawing/2014/main" id="{34835CD2-FBF9-495C-AEC4-0767C420BCEE}"/>
              </a:ext>
            </a:extLst>
          </p:cNvPr>
          <p:cNvSpPr>
            <a:spLocks xmlns:a="http://schemas.openxmlformats.org/drawingml/2006/main" noGrp="1"/>
          </p:cNvSpPr>
          <p:nvPr/>
        </p:nvSpPr>
        <p:spPr>
          <a:xfrm xmlns:a="http://schemas.openxmlformats.org/drawingml/2006/main">
            <a:off x="6583680" y="2834640"/>
            <a:ext cx="47548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Whether the request was understood</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Whether enough context survived</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Which agent is correct</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Whether disagreement is resolved</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Whether agents loop, duplicate work, or shift ownership unexpectedly</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050" b="0">
                <a:solidFill>
                  <a:srgbClr val="838289"/>
                </a:solidFill>
                <a:latin typeface="Consolas"/>
                <a:ea typeface="Consolas"/>
                <a:cs typeface="Consolas"/>
              </a:defRPr>
            </a:pPr>
            <a:r>
              <a:rPr sz="1050" b="0">
                <a:solidFill>
                  <a:srgbClr val="838289"/>
                </a:solidFill>
                <a:latin typeface="Consolas"/>
                <a:ea typeface="Consolas"/>
                <a:cs typeface="Consolas"/>
              </a:rPr>
              <a:t>7/13</a:t>
            </a:r>
          </a:p>
        </p:txBody>
      </p:sp>
      <p:sp>
        <p:nvSpPr>
          <p:cNvPr id="11" name="Callstack accent rule">
            <a:extLst xmlns:a="http://schemas.openxmlformats.org/drawingml/2006/main">
              <a:ext uri="{FF2B5EF4-FFF2-40B4-BE49-F238E27FC236}">
                <a16:creationId xmlns:a16="http://schemas.microsoft.com/office/drawing/2014/main" id="{2AC290FB-4791-46E1-881E-E6F449D4F6E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Tree>
    <p:extLst>
      <p:ext uri="{BB962C8B-B14F-4D97-AF65-F5344CB8AC3E}">
        <p14:creationId xmlns:p14="http://schemas.microsoft.com/office/powerpoint/2010/main" val="1360156686"/>
      </p:ext>
    </p:extLst>
  </p:cSld>
</p:sld>
</file>

<file path=ppt/slides/slide8.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1">
                <a:solidFill>
                  <a:srgbClr val="CBAAFF"/>
                </a:solidFill>
                <a:latin typeface="Consolas"/>
                <a:ea typeface="Consolas"/>
                <a:cs typeface="Consolas"/>
              </a:defRPr>
            </a:pPr>
            <a:r>
              <a:rPr sz="1125" b="1">
                <a:solidFill>
                  <a:srgbClr val="CBAAFF"/>
                </a:solidFill>
                <a:latin typeface="Consolas"/>
                <a:ea typeface="Consolas"/>
                <a:cs typeface="Consolas"/>
              </a:rPr>
              <a:t>ONE TERMINAL</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450" b="0">
                <a:solidFill>
                  <a:srgbClr val="FFFFFF"/>
                </a:solidFill>
                <a:latin typeface="Alliance No.2"/>
                <a:ea typeface="Alliance No.2"/>
                <a:cs typeface="Alliance No.2"/>
              </a:defRPr>
            </a:pPr>
            <a:r>
              <a:rPr sz="3450" b="0">
                <a:solidFill>
                  <a:srgbClr val="FFFFFF"/>
                </a:solidFill>
                <a:latin typeface="Alliance No.2"/>
                <a:ea typeface="Alliance No.2"/>
                <a:cs typeface="Alliance No.2"/>
              </a:rPr>
              <a:t>Norton Commander's workspace—reimagined for AI.</a:t>
            </a:r>
          </a:p>
        </p:txBody>
      </p:sp>
      <p:sp>
        <p:nvSpPr>
          <p:cNvPr id="4" name="Rounded Rectangle 3">
            <a:extLst xmlns:a="http://schemas.openxmlformats.org/drawingml/2006/main">
              <a:ext uri="{FF2B5EF4-FFF2-40B4-BE49-F238E27FC236}">
                <a16:creationId xmlns:a16="http://schemas.microsoft.com/office/drawing/2014/main" id="{C12BA951-CA92-4D62-9D55-F229D332D076}"/>
              </a:ext>
            </a:extLst>
          </p:cNvPr>
          <p:cNvSpPr>
            <a:spLocks xmlns:a="http://schemas.openxmlformats.org/drawingml/2006/main" noGrp="1"/>
          </p:cNvSpPr>
          <p:nvPr/>
        </p:nvSpPr>
        <p:spPr>
          <a:xfrm xmlns:a="http://schemas.openxmlformats.org/drawingml/2006/main">
            <a:off x="731520" y="2103120"/>
            <a:ext cx="3291840" cy="1920240"/>
          </a:xfrm>
          <a:prstGeom xmlns:a="http://schemas.openxmlformats.org/drawingml/2006/main" prst="roundRect">
            <a:avLst>
              <a:gd name="adj" fmla="val 3968"/>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C00FC46-3C23-4F79-AEFD-FA41AF0AC47E}"/>
              </a:ext>
            </a:extLst>
          </p:cNvPr>
          <p:cNvSpPr>
            <a:spLocks xmlns:a="http://schemas.openxmlformats.org/drawingml/2006/main" noGrp="1"/>
          </p:cNvSpPr>
          <p:nvPr/>
        </p:nvSpPr>
        <p:spPr>
          <a:xfrm xmlns:a="http://schemas.openxmlformats.org/drawingml/2006/main">
            <a:off x="1005840" y="2286000"/>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50" b="0">
                <a:solidFill>
                  <a:srgbClr val="FFFFFF"/>
                </a:solidFill>
                <a:latin typeface="Alliance No.2"/>
                <a:ea typeface="Alliance No.2"/>
                <a:cs typeface="Alliance No.2"/>
              </a:defRPr>
            </a:pPr>
            <a:r>
              <a:rPr sz="1650" b="0">
                <a:solidFill>
                  <a:srgbClr val="FFFFFF"/>
                </a:solidFill>
                <a:latin typeface="Alliance No.2"/>
                <a:ea typeface="Alliance No.2"/>
                <a:cs typeface="Alliance No.2"/>
              </a:rPr>
              <a:t>Side-by-Side CLIs</a:t>
            </a:r>
          </a:p>
        </p:txBody>
      </p:sp>
      <p:sp>
        <p:nvSpPr>
          <p:cNvPr id="6" name="TextBox 5">
            <a:extLst xmlns:a="http://schemas.openxmlformats.org/drawingml/2006/main">
              <a:ext uri="{FF2B5EF4-FFF2-40B4-BE49-F238E27FC236}">
                <a16:creationId xmlns:a16="http://schemas.microsoft.com/office/drawing/2014/main" id="{20B4F52E-3FD1-4188-9DDF-939010C9B80A}"/>
              </a:ext>
            </a:extLst>
          </p:cNvPr>
          <p:cNvSpPr>
            <a:spLocks xmlns:a="http://schemas.openxmlformats.org/drawingml/2006/main" noGrp="1"/>
          </p:cNvSpPr>
          <p:nvPr/>
        </p:nvSpPr>
        <p:spPr>
          <a:xfrm xmlns:a="http://schemas.openxmlformats.org/drawingml/2006/main">
            <a:off x="1005840" y="2743200"/>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Claude, Codex, Gemini, OpenCode, and shell.</a:t>
            </a:r>
          </a:p>
        </p:txBody>
      </p:sp>
      <p:sp>
        <p:nvSpPr>
          <p:cNvPr id="7" name="TextBox 6">
            <a:extLst xmlns:a="http://schemas.openxmlformats.org/drawingml/2006/main">
              <a:ext uri="{FF2B5EF4-FFF2-40B4-BE49-F238E27FC236}">
                <a16:creationId xmlns:a16="http://schemas.microsoft.com/office/drawing/2014/main" id="{F278A593-F8BC-48D3-A632-CF3555FC780C}"/>
              </a:ext>
            </a:extLst>
          </p:cNvPr>
          <p:cNvSpPr>
            <a:spLocks xmlns:a="http://schemas.openxmlformats.org/drawingml/2006/main" noGrp="1"/>
          </p:cNvSpPr>
          <p:nvPr/>
        </p:nvSpPr>
        <p:spPr>
          <a:xfrm xmlns:a="http://schemas.openxmlformats.org/drawingml/2006/main">
            <a:off x="1005840" y="3657600"/>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A6E34A"/>
                </a:solidFill>
                <a:latin typeface="Consolas"/>
                <a:ea typeface="Consolas"/>
                <a:cs typeface="Consolas"/>
              </a:defRPr>
            </a:pPr>
            <a:r>
              <a:rPr sz="1050" b="0">
                <a:solidFill>
                  <a:srgbClr val="A6E34A"/>
                </a:solidFill>
                <a:latin typeface="Consolas"/>
                <a:ea typeface="Consolas"/>
                <a:cs typeface="Consolas"/>
              </a:rPr>
              <a:t>5 supported</a:t>
            </a:r>
          </a:p>
        </p:txBody>
      </p:sp>
      <p:sp>
        <p:nvSpPr>
          <p:cNvPr id="8" name="Rounded Rectangle 7">
            <a:extLst xmlns:a="http://schemas.openxmlformats.org/drawingml/2006/main">
              <a:ext uri="{FF2B5EF4-FFF2-40B4-BE49-F238E27FC236}">
                <a16:creationId xmlns:a16="http://schemas.microsoft.com/office/drawing/2014/main" id="{3AE74B01-7CFD-434E-8233-4FF362F0372A}"/>
              </a:ext>
            </a:extLst>
          </p:cNvPr>
          <p:cNvSpPr>
            <a:spLocks xmlns:a="http://schemas.openxmlformats.org/drawingml/2006/main" noGrp="1"/>
          </p:cNvSpPr>
          <p:nvPr/>
        </p:nvSpPr>
        <p:spPr>
          <a:xfrm xmlns:a="http://schemas.openxmlformats.org/drawingml/2006/main">
            <a:off x="4389120" y="2103120"/>
            <a:ext cx="3291840" cy="1920240"/>
          </a:xfrm>
          <a:prstGeom xmlns:a="http://schemas.openxmlformats.org/drawingml/2006/main" prst="roundRect">
            <a:avLst>
              <a:gd name="adj" fmla="val 3968"/>
            </a:avLst>
          </a:prstGeom>
          <a:solidFill xmlns:a="http://schemas.openxmlformats.org/drawingml/2006/main">
            <a:srgbClr val="000000"/>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256DE4B-E836-487D-8F37-2AD596F96B66}"/>
              </a:ext>
            </a:extLst>
          </p:cNvPr>
          <p:cNvSpPr>
            <a:spLocks xmlns:a="http://schemas.openxmlformats.org/drawingml/2006/main" noGrp="1"/>
          </p:cNvSpPr>
          <p:nvPr/>
        </p:nvSpPr>
        <p:spPr>
          <a:xfrm xmlns:a="http://schemas.openxmlformats.org/drawingml/2006/main">
            <a:off x="4663440" y="2286000"/>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50" b="0">
                <a:solidFill>
                  <a:srgbClr val="FFFFFF"/>
                </a:solidFill>
                <a:latin typeface="Alliance No.2"/>
                <a:ea typeface="Alliance No.2"/>
                <a:cs typeface="Alliance No.2"/>
              </a:defRPr>
            </a:pPr>
            <a:r>
              <a:rPr sz="1650" b="0">
                <a:solidFill>
                  <a:srgbClr val="FFFFFF"/>
                </a:solidFill>
                <a:latin typeface="Alliance No.2"/>
                <a:ea typeface="Alliance No.2"/>
                <a:cs typeface="Alliance No.2"/>
              </a:rPr>
              <a:t>Panels Stay Live</a:t>
            </a:r>
          </a:p>
        </p:txBody>
      </p:sp>
      <p:sp>
        <p:nvSpPr>
          <p:cNvPr id="10" name="TextBox 9">
            <a:extLst xmlns:a="http://schemas.openxmlformats.org/drawingml/2006/main">
              <a:ext uri="{FF2B5EF4-FFF2-40B4-BE49-F238E27FC236}">
                <a16:creationId xmlns:a16="http://schemas.microsoft.com/office/drawing/2014/main" id="{C4DF7916-8A95-4985-9C34-7C7E36D93944}"/>
              </a:ext>
            </a:extLst>
          </p:cNvPr>
          <p:cNvSpPr>
            <a:spLocks xmlns:a="http://schemas.openxmlformats.org/drawingml/2006/main" noGrp="1"/>
          </p:cNvSpPr>
          <p:nvPr/>
        </p:nvSpPr>
        <p:spPr>
          <a:xfrm xmlns:a="http://schemas.openxmlformats.org/drawingml/2006/main">
            <a:off x="4663440" y="2743200"/>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Each CLI keeps its own PTY and context across pages in the current run.</a:t>
            </a:r>
          </a:p>
        </p:txBody>
      </p:sp>
      <p:sp>
        <p:nvSpPr>
          <p:cNvPr id="11" name="TextBox 10">
            <a:extLst xmlns:a="http://schemas.openxmlformats.org/drawingml/2006/main">
              <a:ext uri="{FF2B5EF4-FFF2-40B4-BE49-F238E27FC236}">
                <a16:creationId xmlns:a16="http://schemas.microsoft.com/office/drawing/2014/main" id="{A195BEE2-165A-4734-A2C8-A7C1ECE209BB}"/>
              </a:ext>
            </a:extLst>
          </p:cNvPr>
          <p:cNvSpPr>
            <a:spLocks xmlns:a="http://schemas.openxmlformats.org/drawingml/2006/main" noGrp="1"/>
          </p:cNvSpPr>
          <p:nvPr/>
        </p:nvSpPr>
        <p:spPr>
          <a:xfrm xmlns:a="http://schemas.openxmlformats.org/drawingml/2006/main">
            <a:off x="4663440" y="3657600"/>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A6E34A"/>
                </a:solidFill>
                <a:latin typeface="Consolas"/>
                <a:ea typeface="Consolas"/>
                <a:cs typeface="Consolas"/>
              </a:defRPr>
            </a:pPr>
            <a:r>
              <a:rPr sz="1050" b="0">
                <a:solidFill>
                  <a:srgbClr val="A6E34A"/>
                </a:solidFill>
                <a:latin typeface="Consolas"/>
                <a:ea typeface="Consolas"/>
                <a:cs typeface="Consolas"/>
              </a:rPr>
              <a:t>sessions stay live</a:t>
            </a:r>
          </a:p>
        </p:txBody>
      </p:sp>
      <p:sp>
        <p:nvSpPr>
          <p:cNvPr id="12" name="Rounded Rectangle 11">
            <a:extLst xmlns:a="http://schemas.openxmlformats.org/drawingml/2006/main">
              <a:ext uri="{FF2B5EF4-FFF2-40B4-BE49-F238E27FC236}">
                <a16:creationId xmlns:a16="http://schemas.microsoft.com/office/drawing/2014/main" id="{4736C70A-7DEB-45EF-863F-DE181BBA2112}"/>
              </a:ext>
            </a:extLst>
          </p:cNvPr>
          <p:cNvSpPr>
            <a:spLocks xmlns:a="http://schemas.openxmlformats.org/drawingml/2006/main" noGrp="1"/>
          </p:cNvSpPr>
          <p:nvPr/>
        </p:nvSpPr>
        <p:spPr>
          <a:xfrm xmlns:a="http://schemas.openxmlformats.org/drawingml/2006/main">
            <a:off x="8046720" y="2103120"/>
            <a:ext cx="3291840" cy="1920240"/>
          </a:xfrm>
          <a:prstGeom xmlns:a="http://schemas.openxmlformats.org/drawingml/2006/main" prst="roundRect">
            <a:avLst>
              <a:gd name="adj" fmla="val 3968"/>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3D015CE7-B50B-45AA-8022-CF3A4776BED1}"/>
              </a:ext>
            </a:extLst>
          </p:cNvPr>
          <p:cNvSpPr>
            <a:spLocks xmlns:a="http://schemas.openxmlformats.org/drawingml/2006/main" noGrp="1"/>
          </p:cNvSpPr>
          <p:nvPr/>
        </p:nvSpPr>
        <p:spPr>
          <a:xfrm xmlns:a="http://schemas.openxmlformats.org/drawingml/2006/main">
            <a:off x="8321040" y="2286000"/>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50" b="0">
                <a:solidFill>
                  <a:srgbClr val="FFFFFF"/>
                </a:solidFill>
                <a:latin typeface="Alliance No.2"/>
                <a:ea typeface="Alliance No.2"/>
                <a:cs typeface="Alliance No.2"/>
              </a:defRPr>
            </a:pPr>
            <a:r>
              <a:rPr sz="1650" b="0">
                <a:solidFill>
                  <a:srgbClr val="FFFFFF"/>
                </a:solidFill>
                <a:latin typeface="Alliance No.2"/>
                <a:ea typeface="Alliance No.2"/>
                <a:cs typeface="Alliance No.2"/>
              </a:rPr>
              <a:t>Visible Routes</a:t>
            </a:r>
          </a:p>
        </p:txBody>
      </p:sp>
      <p:sp>
        <p:nvSpPr>
          <p:cNvPr id="14" name="TextBox 13">
            <a:extLst xmlns:a="http://schemas.openxmlformats.org/drawingml/2006/main">
              <a:ext uri="{FF2B5EF4-FFF2-40B4-BE49-F238E27FC236}">
                <a16:creationId xmlns:a16="http://schemas.microsoft.com/office/drawing/2014/main" id="{2A523E99-ECF1-4D45-B077-435518FEAC7C}"/>
              </a:ext>
            </a:extLst>
          </p:cNvPr>
          <p:cNvSpPr>
            <a:spLocks xmlns:a="http://schemas.openxmlformats.org/drawingml/2006/main" noGrp="1"/>
          </p:cNvSpPr>
          <p:nvPr/>
        </p:nvSpPr>
        <p:spPr>
          <a:xfrm xmlns:a="http://schemas.openxmlformats.org/drawingml/2006/main">
            <a:off x="8321040" y="2743200"/>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SEND, REPLY, source, target, state, and error field.</a:t>
            </a:r>
          </a:p>
        </p:txBody>
      </p:sp>
      <p:sp>
        <p:nvSpPr>
          <p:cNvPr id="15" name="TextBox 14">
            <a:extLst xmlns:a="http://schemas.openxmlformats.org/drawingml/2006/main">
              <a:ext uri="{FF2B5EF4-FFF2-40B4-BE49-F238E27FC236}">
                <a16:creationId xmlns:a16="http://schemas.microsoft.com/office/drawing/2014/main" id="{1A2141A7-60EA-4DD8-BB66-FFF3DAD2F2C7}"/>
              </a:ext>
            </a:extLst>
          </p:cNvPr>
          <p:cNvSpPr>
            <a:spLocks xmlns:a="http://schemas.openxmlformats.org/drawingml/2006/main" noGrp="1"/>
          </p:cNvSpPr>
          <p:nvPr/>
        </p:nvSpPr>
        <p:spPr>
          <a:xfrm xmlns:a="http://schemas.openxmlformats.org/drawingml/2006/main">
            <a:off x="8321040" y="3657600"/>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A6E34A"/>
                </a:solidFill>
                <a:latin typeface="Consolas"/>
                <a:ea typeface="Consolas"/>
                <a:cs typeface="Consolas"/>
              </a:defRPr>
            </a:pPr>
            <a:r>
              <a:rPr sz="1050" b="0">
                <a:solidFill>
                  <a:srgbClr val="A6E34A"/>
                </a:solidFill>
                <a:latin typeface="Consolas"/>
                <a:ea typeface="Consolas"/>
                <a:cs typeface="Consolas"/>
              </a:rPr>
              <a:t>F12</a:t>
            </a:r>
          </a:p>
        </p:txBody>
      </p:sp>
      <p:sp>
        <p:nvSpPr>
          <p:cNvPr id="16" name="Rounded Rectangle 15">
            <a:extLst xmlns:a="http://schemas.openxmlformats.org/drawingml/2006/main">
              <a:ext uri="{FF2B5EF4-FFF2-40B4-BE49-F238E27FC236}">
                <a16:creationId xmlns:a16="http://schemas.microsoft.com/office/drawing/2014/main" id="{A47329EA-C7A1-4909-B354-A74325B493B4}"/>
              </a:ext>
            </a:extLst>
          </p:cNvPr>
          <p:cNvSpPr>
            <a:spLocks xmlns:a="http://schemas.openxmlformats.org/drawingml/2006/main" noGrp="1"/>
          </p:cNvSpPr>
          <p:nvPr/>
        </p:nvSpPr>
        <p:spPr>
          <a:xfrm xmlns:a="http://schemas.openxmlformats.org/drawingml/2006/main">
            <a:off x="731520" y="4297679"/>
            <a:ext cx="3291840" cy="1920240"/>
          </a:xfrm>
          <a:prstGeom xmlns:a="http://schemas.openxmlformats.org/drawingml/2006/main" prst="roundRect">
            <a:avLst>
              <a:gd name="adj" fmla="val 3968"/>
            </a:avLst>
          </a:prstGeom>
          <a:solidFill xmlns:a="http://schemas.openxmlformats.org/drawingml/2006/main">
            <a:srgbClr val="000000"/>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C5038BEF-9501-4755-AB28-D73881A1D4FE}"/>
              </a:ext>
            </a:extLst>
          </p:cNvPr>
          <p:cNvSpPr>
            <a:spLocks xmlns:a="http://schemas.openxmlformats.org/drawingml/2006/main" noGrp="1"/>
          </p:cNvSpPr>
          <p:nvPr/>
        </p:nvSpPr>
        <p:spPr>
          <a:xfrm xmlns:a="http://schemas.openxmlformats.org/drawingml/2006/main">
            <a:off x="1005840" y="4480559"/>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50" b="0">
                <a:solidFill>
                  <a:srgbClr val="FFFFFF"/>
                </a:solidFill>
                <a:latin typeface="Alliance No.2"/>
                <a:ea typeface="Alliance No.2"/>
                <a:cs typeface="Alliance No.2"/>
              </a:defRPr>
            </a:pPr>
            <a:r>
              <a:rPr sz="1650" b="0">
                <a:solidFill>
                  <a:srgbClr val="FFFFFF"/>
                </a:solidFill>
                <a:latin typeface="Alliance No.2"/>
                <a:ea typeface="Alliance No.2"/>
                <a:cs typeface="Alliance No.2"/>
              </a:rPr>
              <a:t>Thread + Message IDs</a:t>
            </a:r>
          </a:p>
        </p:txBody>
      </p:sp>
      <p:sp>
        <p:nvSpPr>
          <p:cNvPr id="18" name="TextBox 17">
            <a:extLst xmlns:a="http://schemas.openxmlformats.org/drawingml/2006/main">
              <a:ext uri="{FF2B5EF4-FFF2-40B4-BE49-F238E27FC236}">
                <a16:creationId xmlns:a16="http://schemas.microsoft.com/office/drawing/2014/main" id="{27C3A22D-A856-4913-8B9D-64A557455625}"/>
              </a:ext>
            </a:extLst>
          </p:cNvPr>
          <p:cNvSpPr>
            <a:spLocks xmlns:a="http://schemas.openxmlformats.org/drawingml/2006/main" noGrp="1"/>
          </p:cNvSpPr>
          <p:nvPr/>
        </p:nvSpPr>
        <p:spPr>
          <a:xfrm xmlns:a="http://schemas.openxmlformats.org/drawingml/2006/main">
            <a:off x="1005840" y="4937759"/>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Trace routed handoffs and reply chains.</a:t>
            </a:r>
          </a:p>
        </p:txBody>
      </p:sp>
      <p:sp>
        <p:nvSpPr>
          <p:cNvPr id="19" name="TextBox 18">
            <a:extLst xmlns:a="http://schemas.openxmlformats.org/drawingml/2006/main">
              <a:ext uri="{FF2B5EF4-FFF2-40B4-BE49-F238E27FC236}">
                <a16:creationId xmlns:a16="http://schemas.microsoft.com/office/drawing/2014/main" id="{F46F9246-1C60-4929-930C-3FCEB5A3B66A}"/>
              </a:ext>
            </a:extLst>
          </p:cNvPr>
          <p:cNvSpPr>
            <a:spLocks xmlns:a="http://schemas.openxmlformats.org/drawingml/2006/main" noGrp="1"/>
          </p:cNvSpPr>
          <p:nvPr/>
        </p:nvSpPr>
        <p:spPr>
          <a:xfrm xmlns:a="http://schemas.openxmlformats.org/drawingml/2006/main">
            <a:off x="1005840" y="5852159"/>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A6E34A"/>
                </a:solidFill>
                <a:latin typeface="Consolas"/>
                <a:ea typeface="Consolas"/>
                <a:cs typeface="Consolas"/>
              </a:defRPr>
            </a:pPr>
            <a:r>
              <a:rPr sz="1050" b="0">
                <a:solidFill>
                  <a:srgbClr val="A6E34A"/>
                </a:solidFill>
                <a:latin typeface="Consolas"/>
                <a:ea typeface="Consolas"/>
                <a:cs typeface="Consolas"/>
              </a:rPr>
              <a:t>provenance</a:t>
            </a:r>
          </a:p>
        </p:txBody>
      </p:sp>
      <p:sp>
        <p:nvSpPr>
          <p:cNvPr id="20" name="Rounded Rectangle 19">
            <a:extLst xmlns:a="http://schemas.openxmlformats.org/drawingml/2006/main">
              <a:ext uri="{FF2B5EF4-FFF2-40B4-BE49-F238E27FC236}">
                <a16:creationId xmlns:a16="http://schemas.microsoft.com/office/drawing/2014/main" id="{ADB15498-C0FF-4505-B2B1-198BA0C411EF}"/>
              </a:ext>
            </a:extLst>
          </p:cNvPr>
          <p:cNvSpPr>
            <a:spLocks xmlns:a="http://schemas.openxmlformats.org/drawingml/2006/main" noGrp="1"/>
          </p:cNvSpPr>
          <p:nvPr/>
        </p:nvSpPr>
        <p:spPr>
          <a:xfrm xmlns:a="http://schemas.openxmlformats.org/drawingml/2006/main">
            <a:off x="4389120" y="4297679"/>
            <a:ext cx="3291840" cy="1920240"/>
          </a:xfrm>
          <a:prstGeom xmlns:a="http://schemas.openxmlformats.org/drawingml/2006/main" prst="roundRect">
            <a:avLst>
              <a:gd name="adj" fmla="val 3968"/>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F56E3FE5-D965-41FF-9730-67B2195CFEA1}"/>
              </a:ext>
            </a:extLst>
          </p:cNvPr>
          <p:cNvSpPr>
            <a:spLocks xmlns:a="http://schemas.openxmlformats.org/drawingml/2006/main" noGrp="1"/>
          </p:cNvSpPr>
          <p:nvPr/>
        </p:nvSpPr>
        <p:spPr>
          <a:xfrm xmlns:a="http://schemas.openxmlformats.org/drawingml/2006/main">
            <a:off x="4663440" y="4480559"/>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50" b="0">
                <a:solidFill>
                  <a:srgbClr val="FFFFFF"/>
                </a:solidFill>
                <a:latin typeface="Alliance No.2"/>
                <a:ea typeface="Alliance No.2"/>
                <a:cs typeface="Alliance No.2"/>
              </a:defRPr>
            </a:pPr>
            <a:r>
              <a:rPr sz="1650" b="0">
                <a:solidFill>
                  <a:srgbClr val="FFFFFF"/>
                </a:solidFill>
                <a:latin typeface="Alliance No.2"/>
                <a:ea typeface="Alliance No.2"/>
                <a:cs typeface="Alliance No.2"/>
              </a:rPr>
              <a:t>Panel Navigator</a:t>
            </a:r>
          </a:p>
        </p:txBody>
      </p:sp>
      <p:sp>
        <p:nvSpPr>
          <p:cNvPr id="22" name="TextBox 21">
            <a:extLst xmlns:a="http://schemas.openxmlformats.org/drawingml/2006/main">
              <a:ext uri="{FF2B5EF4-FFF2-40B4-BE49-F238E27FC236}">
                <a16:creationId xmlns:a16="http://schemas.microsoft.com/office/drawing/2014/main" id="{AED6DA17-20FD-42DF-B700-71B68AFD4E3A}"/>
              </a:ext>
            </a:extLst>
          </p:cNvPr>
          <p:cNvSpPr>
            <a:spLocks xmlns:a="http://schemas.openxmlformats.org/drawingml/2006/main" noGrp="1"/>
          </p:cNvSpPr>
          <p:nvPr/>
        </p:nvSpPr>
        <p:spPr>
          <a:xfrm xmlns:a="http://schemas.openxmlformats.org/drawingml/2006/main">
            <a:off x="4663440" y="4937759"/>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Find active or hidden sessions by stable metadata.</a:t>
            </a:r>
          </a:p>
        </p:txBody>
      </p:sp>
      <p:sp>
        <p:nvSpPr>
          <p:cNvPr id="23" name="TextBox 22">
            <a:extLst xmlns:a="http://schemas.openxmlformats.org/drawingml/2006/main">
              <a:ext uri="{FF2B5EF4-FFF2-40B4-BE49-F238E27FC236}">
                <a16:creationId xmlns:a16="http://schemas.microsoft.com/office/drawing/2014/main" id="{435A6318-C815-46A0-9340-9729B81D9C7E}"/>
              </a:ext>
            </a:extLst>
          </p:cNvPr>
          <p:cNvSpPr>
            <a:spLocks xmlns:a="http://schemas.openxmlformats.org/drawingml/2006/main" noGrp="1"/>
          </p:cNvSpPr>
          <p:nvPr/>
        </p:nvSpPr>
        <p:spPr>
          <a:xfrm xmlns:a="http://schemas.openxmlformats.org/drawingml/2006/main">
            <a:off x="4663440" y="5852159"/>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A6E34A"/>
                </a:solidFill>
                <a:latin typeface="Consolas"/>
                <a:ea typeface="Consolas"/>
                <a:cs typeface="Consolas"/>
              </a:defRPr>
            </a:pPr>
            <a:r>
              <a:rPr sz="1050" b="0">
                <a:solidFill>
                  <a:srgbClr val="A6E34A"/>
                </a:solidFill>
                <a:latin typeface="Consolas"/>
                <a:ea typeface="Consolas"/>
                <a:cs typeface="Consolas"/>
              </a:rPr>
              <a:t>F11</a:t>
            </a:r>
          </a:p>
        </p:txBody>
      </p:sp>
      <p:sp>
        <p:nvSpPr>
          <p:cNvPr id="24" name="Rounded Rectangle 23">
            <a:extLst xmlns:a="http://schemas.openxmlformats.org/drawingml/2006/main">
              <a:ext uri="{FF2B5EF4-FFF2-40B4-BE49-F238E27FC236}">
                <a16:creationId xmlns:a16="http://schemas.microsoft.com/office/drawing/2014/main" id="{E37C7197-29C9-4D4C-91D2-852887D42FCA}"/>
              </a:ext>
            </a:extLst>
          </p:cNvPr>
          <p:cNvSpPr>
            <a:spLocks xmlns:a="http://schemas.openxmlformats.org/drawingml/2006/main" noGrp="1"/>
          </p:cNvSpPr>
          <p:nvPr/>
        </p:nvSpPr>
        <p:spPr>
          <a:xfrm xmlns:a="http://schemas.openxmlformats.org/drawingml/2006/main">
            <a:off x="8046720" y="4297679"/>
            <a:ext cx="3291840" cy="1920240"/>
          </a:xfrm>
          <a:prstGeom xmlns:a="http://schemas.openxmlformats.org/drawingml/2006/main" prst="roundRect">
            <a:avLst>
              <a:gd name="adj" fmla="val 3968"/>
            </a:avLst>
          </a:prstGeom>
          <a:solidFill xmlns:a="http://schemas.openxmlformats.org/drawingml/2006/main">
            <a:srgbClr val="000000"/>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BD5E86F4-0729-4FB6-B82C-5E4EF7E60AC8}"/>
              </a:ext>
            </a:extLst>
          </p:cNvPr>
          <p:cNvSpPr>
            <a:spLocks xmlns:a="http://schemas.openxmlformats.org/drawingml/2006/main" noGrp="1"/>
          </p:cNvSpPr>
          <p:nvPr/>
        </p:nvSpPr>
        <p:spPr>
          <a:xfrm xmlns:a="http://schemas.openxmlformats.org/drawingml/2006/main">
            <a:off x="8321040" y="4480559"/>
            <a:ext cx="274320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650" b="0">
                <a:solidFill>
                  <a:srgbClr val="FFFFFF"/>
                </a:solidFill>
                <a:latin typeface="Alliance No.2"/>
                <a:ea typeface="Alliance No.2"/>
                <a:cs typeface="Alliance No.2"/>
              </a:defRPr>
            </a:pPr>
            <a:r>
              <a:rPr sz="1650" b="0">
                <a:solidFill>
                  <a:srgbClr val="FFFFFF"/>
                </a:solidFill>
                <a:latin typeface="Alliance No.2"/>
                <a:ea typeface="Alliance No.2"/>
                <a:cs typeface="Alliance No.2"/>
              </a:rPr>
              <a:t>Up to 100 Panels</a:t>
            </a:r>
          </a:p>
        </p:txBody>
      </p:sp>
      <p:sp>
        <p:nvSpPr>
          <p:cNvPr id="26" name="TextBox 25">
            <a:extLst xmlns:a="http://schemas.openxmlformats.org/drawingml/2006/main">
              <a:ext uri="{FF2B5EF4-FFF2-40B4-BE49-F238E27FC236}">
                <a16:creationId xmlns:a16="http://schemas.microsoft.com/office/drawing/2014/main" id="{8CCB8448-76DB-4F66-AA43-D6692775A282}"/>
              </a:ext>
            </a:extLst>
          </p:cNvPr>
          <p:cNvSpPr>
            <a:spLocks xmlns:a="http://schemas.openxmlformats.org/drawingml/2006/main" noGrp="1"/>
          </p:cNvSpPr>
          <p:nvPr/>
        </p:nvSpPr>
        <p:spPr>
          <a:xfrm xmlns:a="http://schemas.openxmlformats.org/drawingml/2006/main">
            <a:off x="8321040" y="4937759"/>
            <a:ext cx="274320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BCBBC2"/>
                </a:solidFill>
                <a:latin typeface="Switzer"/>
                <a:ea typeface="Switzer"/>
                <a:cs typeface="Switzer"/>
              </a:defRPr>
            </a:pPr>
            <a:r>
              <a:rPr sz="1350" b="0">
                <a:solidFill>
                  <a:srgbClr val="BCBBC2"/>
                </a:solidFill>
                <a:latin typeface="Switzer"/>
                <a:ea typeface="Switzer"/>
                <a:cs typeface="Switzer"/>
              </a:rPr>
              <a:t>Scale the workspace without restarting hidden sessions.</a:t>
            </a:r>
          </a:p>
        </p:txBody>
      </p:sp>
      <p:sp>
        <p:nvSpPr>
          <p:cNvPr id="27" name="TextBox 26">
            <a:extLst xmlns:a="http://schemas.openxmlformats.org/drawingml/2006/main">
              <a:ext uri="{FF2B5EF4-FFF2-40B4-BE49-F238E27FC236}">
                <a16:creationId xmlns:a16="http://schemas.microsoft.com/office/drawing/2014/main" id="{0320FC92-2D47-4F5A-BFFE-01896C9DBDFA}"/>
              </a:ext>
            </a:extLst>
          </p:cNvPr>
          <p:cNvSpPr>
            <a:spLocks xmlns:a="http://schemas.openxmlformats.org/drawingml/2006/main" noGrp="1"/>
          </p:cNvSpPr>
          <p:nvPr/>
        </p:nvSpPr>
        <p:spPr>
          <a:xfrm xmlns:a="http://schemas.openxmlformats.org/drawingml/2006/main">
            <a:off x="8321040" y="5852159"/>
            <a:ext cx="274320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A6E34A"/>
                </a:solidFill>
                <a:latin typeface="Consolas"/>
                <a:ea typeface="Consolas"/>
                <a:cs typeface="Consolas"/>
              </a:defRPr>
            </a:pPr>
            <a:r>
              <a:rPr sz="1050" b="0">
                <a:solidFill>
                  <a:srgbClr val="A6E34A"/>
                </a:solidFill>
                <a:latin typeface="Consolas"/>
                <a:ea typeface="Consolas"/>
                <a:cs typeface="Consolas"/>
              </a:rPr>
              <a:t>--panels 1–100</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050" b="0">
                <a:solidFill>
                  <a:srgbClr val="838289"/>
                </a:solidFill>
                <a:latin typeface="Consolas"/>
                <a:ea typeface="Consolas"/>
                <a:cs typeface="Consolas"/>
              </a:defRPr>
            </a:pPr>
            <a:r>
              <a:rPr sz="1050" b="0">
                <a:solidFill>
                  <a:srgbClr val="838289"/>
                </a:solidFill>
                <a:latin typeface="Consolas"/>
                <a:ea typeface="Consolas"/>
                <a:cs typeface="Consolas"/>
              </a:rPr>
              <a:t>8/13</a:t>
            </a:r>
          </a:p>
        </p:txBody>
      </p:sp>
      <p:sp>
        <p:nvSpPr>
          <p:cNvPr id="29" name="Callstack accent rule">
            <a:extLst xmlns:a="http://schemas.openxmlformats.org/drawingml/2006/main">
              <a:ext uri="{FF2B5EF4-FFF2-40B4-BE49-F238E27FC236}">
                <a16:creationId xmlns:a16="http://schemas.microsoft.com/office/drawing/2014/main" id="{57ECF28A-4432-486B-B490-F06CEE4625F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Tree>
    <p:extLst>
      <p:ext uri="{BB962C8B-B14F-4D97-AF65-F5344CB8AC3E}">
        <p14:creationId xmlns:p14="http://schemas.microsoft.com/office/powerpoint/2010/main" val="1378249199"/>
      </p:ext>
    </p:extLst>
  </p:cSld>
</p:sld>
</file>

<file path=ppt/slides/slide9.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1">
                <a:solidFill>
                  <a:srgbClr val="CBAAFF"/>
                </a:solidFill>
                <a:latin typeface="Consolas"/>
                <a:ea typeface="Consolas"/>
                <a:cs typeface="Consolas"/>
              </a:defRPr>
            </a:pPr>
            <a:r>
              <a:rPr sz="1125" b="1">
                <a:solidFill>
                  <a:srgbClr val="CBAAFF"/>
                </a:solidFill>
                <a:latin typeface="Consolas"/>
                <a:ea typeface="Consolas"/>
                <a:cs typeface="Consolas"/>
              </a:rPr>
              <a:t>HUMAN CONTROL</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450" b="0">
                <a:solidFill>
                  <a:srgbClr val="FFFFFF"/>
                </a:solidFill>
                <a:latin typeface="Alliance No.2"/>
                <a:ea typeface="Alliance No.2"/>
                <a:cs typeface="Alliance No.2"/>
              </a:defRPr>
            </a:pPr>
            <a:r>
              <a:rPr sz="3450" b="0">
                <a:solidFill>
                  <a:srgbClr val="FFFFFF"/>
                </a:solidFill>
                <a:latin typeface="Alliance No.2"/>
                <a:ea typeface="Alliance No.2"/>
                <a:cs typeface="Alliance No.2"/>
              </a:rPr>
              <a:t>The human stays inside the loop.</a:t>
            </a:r>
          </a:p>
        </p:txBody>
      </p:sp>
      <p:sp>
        <p:nvSpPr>
          <p:cNvPr id="4" name="Rounded Rectangle 3">
            <a:extLst xmlns:a="http://schemas.openxmlformats.org/drawingml/2006/main">
              <a:ext uri="{FF2B5EF4-FFF2-40B4-BE49-F238E27FC236}">
                <a16:creationId xmlns:a16="http://schemas.microsoft.com/office/drawing/2014/main" id="{182443AD-00D7-4745-8189-D9D6AC1FD896}"/>
              </a:ext>
            </a:extLst>
          </p:cNvPr>
          <p:cNvSpPr>
            <a:spLocks xmlns:a="http://schemas.openxmlformats.org/drawingml/2006/main" noGrp="1"/>
          </p:cNvSpPr>
          <p:nvPr/>
        </p:nvSpPr>
        <p:spPr>
          <a:xfrm xmlns:a="http://schemas.openxmlformats.org/drawingml/2006/main">
            <a:off x="731520" y="2103120"/>
            <a:ext cx="5303520" cy="4389120"/>
          </a:xfrm>
          <a:prstGeom xmlns:a="http://schemas.openxmlformats.org/drawingml/2006/main" prst="roundRect">
            <a:avLst>
              <a:gd name="adj" fmla="val 1736"/>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5F56051-0CC9-4F4E-8BF1-C98E09414FB9}"/>
              </a:ext>
            </a:extLst>
          </p:cNvPr>
          <p:cNvSpPr>
            <a:spLocks xmlns:a="http://schemas.openxmlformats.org/drawingml/2006/main" noGrp="1"/>
          </p:cNvSpPr>
          <p:nvPr/>
        </p:nvSpPr>
        <p:spPr>
          <a:xfrm xmlns:a="http://schemas.openxmlformats.org/drawingml/2006/main">
            <a:off x="1005840" y="2286000"/>
            <a:ext cx="4754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25" b="0">
                <a:solidFill>
                  <a:srgbClr val="A6E34A"/>
                </a:solidFill>
                <a:latin typeface="Alliance No.2"/>
                <a:ea typeface="Alliance No.2"/>
                <a:cs typeface="Alliance No.2"/>
              </a:defRPr>
            </a:pPr>
            <a:r>
              <a:rPr sz="1725" b="0">
                <a:solidFill>
                  <a:srgbClr val="A6E34A"/>
                </a:solidFill>
                <a:latin typeface="Alliance No.2"/>
                <a:ea typeface="Alliance No.2"/>
                <a:cs typeface="Alliance No.2"/>
              </a:rPr>
              <a:t>Inspect, focus, stop, redirect</a:t>
            </a:r>
          </a:p>
        </p:txBody>
      </p:sp>
      <p:sp>
        <p:nvSpPr>
          <p:cNvPr id="6" name="TextBox 5">
            <a:extLst xmlns:a="http://schemas.openxmlformats.org/drawingml/2006/main">
              <a:ext uri="{FF2B5EF4-FFF2-40B4-BE49-F238E27FC236}">
                <a16:creationId xmlns:a16="http://schemas.microsoft.com/office/drawing/2014/main" id="{C3BEC5A1-0D46-4C60-8895-7C5F8CF073EF}"/>
              </a:ext>
            </a:extLst>
          </p:cNvPr>
          <p:cNvSpPr>
            <a:spLocks xmlns:a="http://schemas.openxmlformats.org/drawingml/2006/main" noGrp="1"/>
          </p:cNvSpPr>
          <p:nvPr/>
        </p:nvSpPr>
        <p:spPr>
          <a:xfrm xmlns:a="http://schemas.openxmlformats.org/drawingml/2006/main">
            <a:off x="1005840" y="2834640"/>
            <a:ext cx="47548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F12 exposes routed activity and errors</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F11 focuses any active or hidden panel</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Ctrl+K stops one active session</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F10 exits and waits for tracked process groups</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Real agents remain visible and interruptible</a:t>
            </a:r>
          </a:p>
        </p:txBody>
      </p:sp>
      <p:sp>
        <p:nvSpPr>
          <p:cNvPr id="7" name="Rounded Rectangle 6">
            <a:extLst xmlns:a="http://schemas.openxmlformats.org/drawingml/2006/main">
              <a:ext uri="{FF2B5EF4-FFF2-40B4-BE49-F238E27FC236}">
                <a16:creationId xmlns:a16="http://schemas.microsoft.com/office/drawing/2014/main" id="{E61D8795-CDA4-4880-B712-0C2A1F24997A}"/>
              </a:ext>
            </a:extLst>
          </p:cNvPr>
          <p:cNvSpPr>
            <a:spLocks xmlns:a="http://schemas.openxmlformats.org/drawingml/2006/main" noGrp="1"/>
          </p:cNvSpPr>
          <p:nvPr/>
        </p:nvSpPr>
        <p:spPr>
          <a:xfrm xmlns:a="http://schemas.openxmlformats.org/drawingml/2006/main">
            <a:off x="6309360" y="2103120"/>
            <a:ext cx="5303520" cy="4389120"/>
          </a:xfrm>
          <a:prstGeom xmlns:a="http://schemas.openxmlformats.org/drawingml/2006/main" prst="roundRect">
            <a:avLst>
              <a:gd name="adj" fmla="val 1736"/>
            </a:avLst>
          </a:prstGeom>
          <a:solidFill xmlns:a="http://schemas.openxmlformats.org/drawingml/2006/main">
            <a:srgbClr val="000000"/>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699D0A29-D30C-4BD1-AFAB-445BD20C236F}"/>
              </a:ext>
            </a:extLst>
          </p:cNvPr>
          <p:cNvSpPr>
            <a:spLocks xmlns:a="http://schemas.openxmlformats.org/drawingml/2006/main" noGrp="1"/>
          </p:cNvSpPr>
          <p:nvPr/>
        </p:nvSpPr>
        <p:spPr>
          <a:xfrm xmlns:a="http://schemas.openxmlformats.org/drawingml/2006/main">
            <a:off x="6583680" y="2286000"/>
            <a:ext cx="47548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725" b="0">
                <a:solidFill>
                  <a:srgbClr val="CBAAFF"/>
                </a:solidFill>
                <a:latin typeface="Alliance No.2"/>
                <a:ea typeface="Alliance No.2"/>
                <a:cs typeface="Alliance No.2"/>
              </a:defRPr>
            </a:pPr>
            <a:r>
              <a:rPr sz="1725" b="0">
                <a:solidFill>
                  <a:srgbClr val="CBAAFF"/>
                </a:solidFill>
                <a:latin typeface="Alliance No.2"/>
                <a:ea typeface="Alliance No.2"/>
                <a:cs typeface="Alliance No.2"/>
              </a:rPr>
              <a:t>Optional Codex Micro surface</a:t>
            </a:r>
          </a:p>
        </p:txBody>
      </p:sp>
      <p:sp>
        <p:nvSpPr>
          <p:cNvPr id="9" name="TextBox 8">
            <a:extLst xmlns:a="http://schemas.openxmlformats.org/drawingml/2006/main">
              <a:ext uri="{FF2B5EF4-FFF2-40B4-BE49-F238E27FC236}">
                <a16:creationId xmlns:a16="http://schemas.microsoft.com/office/drawing/2014/main" id="{34835CD2-FBF9-495C-AEC4-0767C420BCEE}"/>
              </a:ext>
            </a:extLst>
          </p:cNvPr>
          <p:cNvSpPr>
            <a:spLocks xmlns:a="http://schemas.openxmlformats.org/drawingml/2006/main" noGrp="1"/>
          </p:cNvSpPr>
          <p:nvPr/>
        </p:nvSpPr>
        <p:spPr>
          <a:xfrm xmlns:a="http://schemas.openxmlformats.org/drawingml/2006/main">
            <a:off x="6583680" y="2834640"/>
            <a:ext cx="4754880" cy="34747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Native macOS input; keyboard always works</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Another reader → MICRO:BUSY; input is discarded</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Approve and Reject remain opt-in</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The same hardware key must be pressed twice</a:t>
            </a:r>
          </a:p>
          <a:p xmlns:a="http://schemas.openxmlformats.org/drawingml/2006/main">
            <a:pPr algn="l">
              <a:spcAft>
                <a:spcPts val="400"/>
              </a:spcAft>
              <a:buNone/>
              <a:defRPr sz="1425" b="0">
                <a:solidFill>
                  <a:srgbClr val="BCBBC2"/>
                </a:solidFill>
                <a:latin typeface="Switzer"/>
                <a:ea typeface="Switzer"/>
                <a:cs typeface="Switzer"/>
              </a:defRPr>
            </a:pPr>
            <a:r>
              <a:rPr sz="1425" b="0">
                <a:solidFill>
                  <a:srgbClr val="BCBBC2"/>
                </a:solidFill>
                <a:latin typeface="Switzer"/>
                <a:ea typeface="Switzer"/>
                <a:cs typeface="Switzer"/>
              </a:rPr>
              <a:t>• A stale prompt, session, or guard sends nothing</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050" b="0">
                <a:solidFill>
                  <a:srgbClr val="838289"/>
                </a:solidFill>
                <a:latin typeface="Consolas"/>
                <a:ea typeface="Consolas"/>
                <a:cs typeface="Consolas"/>
              </a:defRPr>
            </a:pPr>
            <a:r>
              <a:rPr sz="1050" b="0">
                <a:solidFill>
                  <a:srgbClr val="838289"/>
                </a:solidFill>
                <a:latin typeface="Consolas"/>
                <a:ea typeface="Consolas"/>
                <a:cs typeface="Consolas"/>
              </a:rPr>
              <a:t>9/13</a:t>
            </a:r>
          </a:p>
        </p:txBody>
      </p:sp>
      <p:sp>
        <p:nvSpPr>
          <p:cNvPr id="11" name="Callstack accent rule">
            <a:extLst xmlns:a="http://schemas.openxmlformats.org/drawingml/2006/main">
              <a:ext uri="{FF2B5EF4-FFF2-40B4-BE49-F238E27FC236}">
                <a16:creationId xmlns:a16="http://schemas.microsoft.com/office/drawing/2014/main" id="{50797087-E4EB-46CA-8609-A11116CC17D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Tree>
    <p:extLst>
      <p:ext uri="{BB962C8B-B14F-4D97-AF65-F5344CB8AC3E}">
        <p14:creationId xmlns:p14="http://schemas.microsoft.com/office/powerpoint/2010/main" val="1360156686"/>
      </p:ext>
    </p:extLst>
  </p:cSld>
</p:sld>
</file>

<file path=ppt/slides/slide10.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1">
                <a:solidFill>
                  <a:srgbClr val="CBAAFF"/>
                </a:solidFill>
                <a:latin typeface="Consolas"/>
                <a:ea typeface="Consolas"/>
                <a:cs typeface="Consolas"/>
              </a:defRPr>
            </a:pPr>
            <a:r>
              <a:rPr sz="1125" b="1">
                <a:solidFill>
                  <a:srgbClr val="CBAAFF"/>
                </a:solidFill>
                <a:latin typeface="Consolas"/>
                <a:ea typeface="Consolas"/>
                <a:cs typeface="Consolas"/>
              </a:rPr>
              <a:t>FAILURE MODES</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424160" cy="9144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600" b="0">
                <a:solidFill>
                  <a:srgbClr val="FFFFFF"/>
                </a:solidFill>
                <a:latin typeface="Alliance No.2"/>
                <a:ea typeface="Alliance No.2"/>
                <a:cs typeface="Alliance No.2"/>
              </a:defRPr>
            </a:pPr>
            <a:r>
              <a:rPr sz="3600" b="0">
                <a:solidFill>
                  <a:srgbClr val="FFFFFF"/>
                </a:solidFill>
                <a:latin typeface="Alliance No.2"/>
                <a:ea typeface="Alliance No.2"/>
                <a:cs typeface="Alliance No.2"/>
              </a:rPr>
              <a:t>Remove infrastructure—not guardrails.</a:t>
            </a:r>
          </a:p>
        </p:txBody>
      </p:sp>
      <p:sp>
        <p:nvSpPr>
          <p:cNvPr id="4" name="Rounded Rectangle 3">
            <a:extLst xmlns:a="http://schemas.openxmlformats.org/drawingml/2006/main">
              <a:ext uri="{FF2B5EF4-FFF2-40B4-BE49-F238E27FC236}">
                <a16:creationId xmlns:a16="http://schemas.microsoft.com/office/drawing/2014/main" id="{5910E374-0DA3-4C02-97B4-AB6D61603683}"/>
              </a:ext>
            </a:extLst>
          </p:cNvPr>
          <p:cNvSpPr>
            <a:spLocks xmlns:a="http://schemas.openxmlformats.org/drawingml/2006/main" noGrp="1"/>
          </p:cNvSpPr>
          <p:nvPr/>
        </p:nvSpPr>
        <p:spPr>
          <a:xfrm xmlns:a="http://schemas.openxmlformats.org/drawingml/2006/main">
            <a:off x="731520" y="2011680"/>
            <a:ext cx="10424160" cy="384048"/>
          </a:xfrm>
          <a:prstGeom xmlns:a="http://schemas.openxmlformats.org/drawingml/2006/main" prst="roundRect">
            <a:avLst>
              <a:gd name="adj" fmla="val 9921"/>
            </a:avLst>
          </a:prstGeom>
          <a:solidFill xmlns:a="http://schemas.openxmlformats.org/drawingml/2006/main">
            <a:srgbClr val="8232FF"/>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A99CD08-77EE-4109-97F0-082CED2D87D5}"/>
              </a:ext>
            </a:extLst>
          </p:cNvPr>
          <p:cNvSpPr>
            <a:spLocks xmlns:a="http://schemas.openxmlformats.org/drawingml/2006/main" noGrp="1"/>
          </p:cNvSpPr>
          <p:nvPr/>
        </p:nvSpPr>
        <p:spPr>
          <a:xfrm xmlns:a="http://schemas.openxmlformats.org/drawingml/2006/main">
            <a:off x="731520" y="2011680"/>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FFFFFF"/>
                </a:solidFill>
                <a:latin typeface="Switzer"/>
                <a:ea typeface="Switzer"/>
                <a:cs typeface="Switzer"/>
              </a:defRPr>
            </a:pPr>
            <a:r>
              <a:rPr sz="1200" b="1">
                <a:solidFill>
                  <a:srgbClr val="FFFFFF"/>
                </a:solidFill>
                <a:latin typeface="Switzer"/>
                <a:ea typeface="Switzer"/>
                <a:cs typeface="Switzer"/>
              </a:rPr>
              <a:t>FAILURE</a:t>
            </a:r>
          </a:p>
        </p:txBody>
      </p:sp>
      <p:sp>
        <p:nvSpPr>
          <p:cNvPr id="6" name="TextBox 5">
            <a:extLst xmlns:a="http://schemas.openxmlformats.org/drawingml/2006/main">
              <a:ext uri="{FF2B5EF4-FFF2-40B4-BE49-F238E27FC236}">
                <a16:creationId xmlns:a16="http://schemas.microsoft.com/office/drawing/2014/main" id="{E7C8D2FE-A36F-42CD-872A-5A52E5E6BF5C}"/>
              </a:ext>
            </a:extLst>
          </p:cNvPr>
          <p:cNvSpPr>
            <a:spLocks xmlns:a="http://schemas.openxmlformats.org/drawingml/2006/main" noGrp="1"/>
          </p:cNvSpPr>
          <p:nvPr/>
        </p:nvSpPr>
        <p:spPr>
          <a:xfrm xmlns:a="http://schemas.openxmlformats.org/drawingml/2006/main">
            <a:off x="2743200" y="2011680"/>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FFFFFF"/>
                </a:solidFill>
                <a:latin typeface="Switzer"/>
                <a:ea typeface="Switzer"/>
                <a:cs typeface="Switzer"/>
              </a:defRPr>
            </a:pPr>
            <a:r>
              <a:rPr sz="1200" b="1">
                <a:solidFill>
                  <a:srgbClr val="FFFFFF"/>
                </a:solidFill>
                <a:latin typeface="Switzer"/>
                <a:ea typeface="Switzer"/>
                <a:cs typeface="Switzer"/>
              </a:rPr>
              <a:t>SIGNAL</a:t>
            </a:r>
          </a:p>
        </p:txBody>
      </p:sp>
      <p:sp>
        <p:nvSpPr>
          <p:cNvPr id="7" name="TextBox 6">
            <a:extLst xmlns:a="http://schemas.openxmlformats.org/drawingml/2006/main">
              <a:ext uri="{FF2B5EF4-FFF2-40B4-BE49-F238E27FC236}">
                <a16:creationId xmlns:a16="http://schemas.microsoft.com/office/drawing/2014/main" id="{A6131FB9-83EA-42A8-9210-C4F1060723E3}"/>
              </a:ext>
            </a:extLst>
          </p:cNvPr>
          <p:cNvSpPr>
            <a:spLocks xmlns:a="http://schemas.openxmlformats.org/drawingml/2006/main" noGrp="1"/>
          </p:cNvSpPr>
          <p:nvPr/>
        </p:nvSpPr>
        <p:spPr>
          <a:xfrm xmlns:a="http://schemas.openxmlformats.org/drawingml/2006/main">
            <a:off x="5669280" y="2011680"/>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FFFFFF"/>
                </a:solidFill>
                <a:latin typeface="Switzer"/>
                <a:ea typeface="Switzer"/>
                <a:cs typeface="Switzer"/>
              </a:defRPr>
            </a:pPr>
            <a:r>
              <a:rPr sz="1200" b="1">
                <a:solidFill>
                  <a:srgbClr val="FFFFFF"/>
                </a:solidFill>
                <a:latin typeface="Switzer"/>
                <a:ea typeface="Switzer"/>
                <a:cs typeface="Switzer"/>
              </a:rPr>
              <a:t>LOCAL GUARD</a:t>
            </a:r>
          </a:p>
        </p:txBody>
      </p:sp>
      <p:sp>
        <p:nvSpPr>
          <p:cNvPr id="8" name="TextBox 7">
            <a:extLst xmlns:a="http://schemas.openxmlformats.org/drawingml/2006/main">
              <a:ext uri="{FF2B5EF4-FFF2-40B4-BE49-F238E27FC236}">
                <a16:creationId xmlns:a16="http://schemas.microsoft.com/office/drawing/2014/main" id="{462AFE0A-D459-48A3-93B1-95F9843B626A}"/>
              </a:ext>
            </a:extLst>
          </p:cNvPr>
          <p:cNvSpPr>
            <a:spLocks xmlns:a="http://schemas.openxmlformats.org/drawingml/2006/main" noGrp="1"/>
          </p:cNvSpPr>
          <p:nvPr/>
        </p:nvSpPr>
        <p:spPr>
          <a:xfrm xmlns:a="http://schemas.openxmlformats.org/drawingml/2006/main">
            <a:off x="8412480" y="2011680"/>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FFFFFF"/>
                </a:solidFill>
                <a:latin typeface="Switzer"/>
                <a:ea typeface="Switzer"/>
                <a:cs typeface="Switzer"/>
              </a:defRPr>
            </a:pPr>
            <a:r>
              <a:rPr sz="1200" b="1">
                <a:solidFill>
                  <a:srgbClr val="FFFFFF"/>
                </a:solidFill>
                <a:latin typeface="Switzer"/>
                <a:ea typeface="Switzer"/>
                <a:cs typeface="Switzer"/>
              </a:rPr>
              <a:t>HUMAN ACTION</a:t>
            </a:r>
          </a:p>
        </p:txBody>
      </p:sp>
      <p:sp>
        <p:nvSpPr>
          <p:cNvPr id="9" name="Rounded Rectangle 8">
            <a:extLst xmlns:a="http://schemas.openxmlformats.org/drawingml/2006/main">
              <a:ext uri="{FF2B5EF4-FFF2-40B4-BE49-F238E27FC236}">
                <a16:creationId xmlns:a16="http://schemas.microsoft.com/office/drawing/2014/main" id="{C578FDA3-B4B9-4EAD-90ED-126CC98B6030}"/>
              </a:ext>
            </a:extLst>
          </p:cNvPr>
          <p:cNvSpPr>
            <a:spLocks xmlns:a="http://schemas.openxmlformats.org/drawingml/2006/main" noGrp="1"/>
          </p:cNvSpPr>
          <p:nvPr/>
        </p:nvSpPr>
        <p:spPr>
          <a:xfrm xmlns:a="http://schemas.openxmlformats.org/drawingml/2006/main">
            <a:off x="731520" y="2395728"/>
            <a:ext cx="10424160" cy="384048"/>
          </a:xfrm>
          <a:prstGeom xmlns:a="http://schemas.openxmlformats.org/drawingml/2006/main" prst="roundRect">
            <a:avLst>
              <a:gd name="adj" fmla="val 4960"/>
            </a:avLst>
          </a:prstGeom>
          <a:solidFill xmlns:a="http://schemas.openxmlformats.org/drawingml/2006/main">
            <a:srgbClr val="000000"/>
          </a:solidFill>
          <a:ln xmlns:a="http://schemas.openxmlformats.org/drawingml/2006/main" w="4763">
            <a:solidFill>
              <a:srgbClr val="2E2D33"/>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D2ECEE2-CA0B-4EB8-A115-536F8CE9DF30}"/>
              </a:ext>
            </a:extLst>
          </p:cNvPr>
          <p:cNvSpPr>
            <a:spLocks xmlns:a="http://schemas.openxmlformats.org/drawingml/2006/main" noGrp="1"/>
          </p:cNvSpPr>
          <p:nvPr/>
        </p:nvSpPr>
        <p:spPr>
          <a:xfrm xmlns:a="http://schemas.openxmlformats.org/drawingml/2006/main">
            <a:off x="731520" y="2395728"/>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75" b="0">
                <a:solidFill>
                  <a:srgbClr val="E9E7EE"/>
                </a:solidFill>
                <a:latin typeface="Switzer"/>
                <a:ea typeface="Switzer"/>
                <a:cs typeface="Switzer"/>
              </a:defRPr>
            </a:pPr>
            <a:r>
              <a:rPr sz="1275" b="0">
                <a:solidFill>
                  <a:srgbClr val="E9E7EE"/>
                </a:solidFill>
                <a:latin typeface="Switzer"/>
                <a:ea typeface="Switzer"/>
                <a:cs typeface="Switzer"/>
              </a:rPr>
              <a:t>Partial frame</a:t>
            </a:r>
          </a:p>
        </p:txBody>
      </p:sp>
      <p:sp>
        <p:nvSpPr>
          <p:cNvPr id="11" name="TextBox 10">
            <a:extLst xmlns:a="http://schemas.openxmlformats.org/drawingml/2006/main">
              <a:ext uri="{FF2B5EF4-FFF2-40B4-BE49-F238E27FC236}">
                <a16:creationId xmlns:a16="http://schemas.microsoft.com/office/drawing/2014/main" id="{6F3DC8F6-F9D2-496B-9B0E-7546860E50A2}"/>
              </a:ext>
            </a:extLst>
          </p:cNvPr>
          <p:cNvSpPr>
            <a:spLocks xmlns:a="http://schemas.openxmlformats.org/drawingml/2006/main" noGrp="1"/>
          </p:cNvSpPr>
          <p:nvPr/>
        </p:nvSpPr>
        <p:spPr>
          <a:xfrm xmlns:a="http://schemas.openxmlformats.org/drawingml/2006/main">
            <a:off x="2743200" y="2395728"/>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A6E34A"/>
                </a:solidFill>
                <a:latin typeface="Consolas"/>
                <a:ea typeface="Consolas"/>
                <a:cs typeface="Consolas"/>
              </a:defRPr>
            </a:pPr>
            <a:r>
              <a:rPr sz="1200" b="0">
                <a:solidFill>
                  <a:srgbClr val="A6E34A"/>
                </a:solidFill>
                <a:latin typeface="Consolas"/>
                <a:ea typeface="Consolas"/>
                <a:cs typeface="Consolas"/>
              </a:rPr>
              <a:t>END missing</a:t>
            </a:r>
          </a:p>
        </p:txBody>
      </p:sp>
      <p:sp>
        <p:nvSpPr>
          <p:cNvPr id="12" name="TextBox 11">
            <a:extLst xmlns:a="http://schemas.openxmlformats.org/drawingml/2006/main">
              <a:ext uri="{FF2B5EF4-FFF2-40B4-BE49-F238E27FC236}">
                <a16:creationId xmlns:a16="http://schemas.microsoft.com/office/drawing/2014/main" id="{6A54C6BA-223E-48EE-A29E-38906C8B972A}"/>
              </a:ext>
            </a:extLst>
          </p:cNvPr>
          <p:cNvSpPr>
            <a:spLocks xmlns:a="http://schemas.openxmlformats.org/drawingml/2006/main" noGrp="1"/>
          </p:cNvSpPr>
          <p:nvPr/>
        </p:nvSpPr>
        <p:spPr>
          <a:xfrm xmlns:a="http://schemas.openxmlformats.org/drawingml/2006/main">
            <a:off x="5669280" y="2395728"/>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Buffer; do not route</a:t>
            </a:r>
          </a:p>
        </p:txBody>
      </p:sp>
      <p:sp>
        <p:nvSpPr>
          <p:cNvPr id="13" name="TextBox 12">
            <a:extLst xmlns:a="http://schemas.openxmlformats.org/drawingml/2006/main">
              <a:ext uri="{FF2B5EF4-FFF2-40B4-BE49-F238E27FC236}">
                <a16:creationId xmlns:a16="http://schemas.microsoft.com/office/drawing/2014/main" id="{F7CB1E74-AB31-4C70-8E7F-CFBFC80AF302}"/>
              </a:ext>
            </a:extLst>
          </p:cNvPr>
          <p:cNvSpPr>
            <a:spLocks xmlns:a="http://schemas.openxmlformats.org/drawingml/2006/main" noGrp="1"/>
          </p:cNvSpPr>
          <p:nvPr/>
        </p:nvSpPr>
        <p:spPr>
          <a:xfrm xmlns:a="http://schemas.openxmlformats.org/drawingml/2006/main">
            <a:off x="8412480" y="2395728"/>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Inspect output</a:t>
            </a:r>
          </a:p>
        </p:txBody>
      </p:sp>
      <p:sp>
        <p:nvSpPr>
          <p:cNvPr id="14" name="Rounded Rectangle 13">
            <a:extLst xmlns:a="http://schemas.openxmlformats.org/drawingml/2006/main">
              <a:ext uri="{FF2B5EF4-FFF2-40B4-BE49-F238E27FC236}">
                <a16:creationId xmlns:a16="http://schemas.microsoft.com/office/drawing/2014/main" id="{8038A775-BD98-45BB-9882-DEE250F48007}"/>
              </a:ext>
            </a:extLst>
          </p:cNvPr>
          <p:cNvSpPr>
            <a:spLocks xmlns:a="http://schemas.openxmlformats.org/drawingml/2006/main" noGrp="1"/>
          </p:cNvSpPr>
          <p:nvPr/>
        </p:nvSpPr>
        <p:spPr>
          <a:xfrm xmlns:a="http://schemas.openxmlformats.org/drawingml/2006/main">
            <a:off x="731520" y="2779776"/>
            <a:ext cx="10424160" cy="384048"/>
          </a:xfrm>
          <a:prstGeom xmlns:a="http://schemas.openxmlformats.org/drawingml/2006/main" prst="roundRect">
            <a:avLst>
              <a:gd name="adj" fmla="val 4960"/>
            </a:avLst>
          </a:prstGeom>
          <a:solidFill xmlns:a="http://schemas.openxmlformats.org/drawingml/2006/main">
            <a:srgbClr val="27262B"/>
          </a:solidFill>
          <a:ln xmlns:a="http://schemas.openxmlformats.org/drawingml/2006/main" w="4763">
            <a:solidFill>
              <a:srgbClr val="2E2D33"/>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2DE8015B-2172-4BA6-A0DE-F70F43CC4D20}"/>
              </a:ext>
            </a:extLst>
          </p:cNvPr>
          <p:cNvSpPr>
            <a:spLocks xmlns:a="http://schemas.openxmlformats.org/drawingml/2006/main" noGrp="1"/>
          </p:cNvSpPr>
          <p:nvPr/>
        </p:nvSpPr>
        <p:spPr>
          <a:xfrm xmlns:a="http://schemas.openxmlformats.org/drawingml/2006/main">
            <a:off x="731520" y="2779776"/>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75" b="0">
                <a:solidFill>
                  <a:srgbClr val="E9E7EE"/>
                </a:solidFill>
                <a:latin typeface="Switzer"/>
                <a:ea typeface="Switzer"/>
                <a:cs typeface="Switzer"/>
              </a:defRPr>
            </a:pPr>
            <a:r>
              <a:rPr sz="1275" b="0">
                <a:solidFill>
                  <a:srgbClr val="E9E7EE"/>
                </a:solidFill>
                <a:latin typeface="Switzer"/>
                <a:ea typeface="Switzer"/>
                <a:cs typeface="Switzer"/>
              </a:rPr>
              <a:t>Stale capability</a:t>
            </a:r>
          </a:p>
        </p:txBody>
      </p:sp>
      <p:sp>
        <p:nvSpPr>
          <p:cNvPr id="16" name="TextBox 15">
            <a:extLst xmlns:a="http://schemas.openxmlformats.org/drawingml/2006/main">
              <a:ext uri="{FF2B5EF4-FFF2-40B4-BE49-F238E27FC236}">
                <a16:creationId xmlns:a16="http://schemas.microsoft.com/office/drawing/2014/main" id="{4AFCD392-1DF5-44D8-BC4E-F39A67D5743F}"/>
              </a:ext>
            </a:extLst>
          </p:cNvPr>
          <p:cNvSpPr>
            <a:spLocks xmlns:a="http://schemas.openxmlformats.org/drawingml/2006/main" noGrp="1"/>
          </p:cNvSpPr>
          <p:nvPr/>
        </p:nvSpPr>
        <p:spPr>
          <a:xfrm xmlns:a="http://schemas.openxmlformats.org/drawingml/2006/main">
            <a:off x="2743200" y="2779776"/>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A6E34A"/>
                </a:solidFill>
                <a:latin typeface="Consolas"/>
                <a:ea typeface="Consolas"/>
                <a:cs typeface="Consolas"/>
              </a:defRPr>
            </a:pPr>
            <a:r>
              <a:rPr sz="1200" b="0">
                <a:solidFill>
                  <a:srgbClr val="A6E34A"/>
                </a:solidFill>
                <a:latin typeface="Consolas"/>
                <a:ea typeface="Consolas"/>
                <a:cs typeface="Consolas"/>
              </a:rPr>
              <a:t>Old or foreign &lt;k&gt;</a:t>
            </a:r>
          </a:p>
        </p:txBody>
      </p:sp>
      <p:sp>
        <p:nvSpPr>
          <p:cNvPr id="17" name="TextBox 16">
            <a:extLst xmlns:a="http://schemas.openxmlformats.org/drawingml/2006/main">
              <a:ext uri="{FF2B5EF4-FFF2-40B4-BE49-F238E27FC236}">
                <a16:creationId xmlns:a16="http://schemas.microsoft.com/office/drawing/2014/main" id="{A9432898-A199-43CF-A23A-8510CEEF4E81}"/>
              </a:ext>
            </a:extLst>
          </p:cNvPr>
          <p:cNvSpPr>
            <a:spLocks xmlns:a="http://schemas.openxmlformats.org/drawingml/2006/main" noGrp="1"/>
          </p:cNvSpPr>
          <p:nvPr/>
        </p:nvSpPr>
        <p:spPr>
          <a:xfrm xmlns:a="http://schemas.openxmlformats.org/drawingml/2006/main">
            <a:off x="5669280" y="2779776"/>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Ignore marker</a:t>
            </a:r>
          </a:p>
        </p:txBody>
      </p:sp>
      <p:sp>
        <p:nvSpPr>
          <p:cNvPr id="18" name="TextBox 17">
            <a:extLst xmlns:a="http://schemas.openxmlformats.org/drawingml/2006/main">
              <a:ext uri="{FF2B5EF4-FFF2-40B4-BE49-F238E27FC236}">
                <a16:creationId xmlns:a16="http://schemas.microsoft.com/office/drawing/2014/main" id="{F72D6437-35A7-4D49-A052-1A6A1DA23AA2}"/>
              </a:ext>
            </a:extLst>
          </p:cNvPr>
          <p:cNvSpPr>
            <a:spLocks xmlns:a="http://schemas.openxmlformats.org/drawingml/2006/main" noGrp="1"/>
          </p:cNvSpPr>
          <p:nvPr/>
        </p:nvSpPr>
        <p:spPr>
          <a:xfrm xmlns:a="http://schemas.openxmlformats.org/drawingml/2006/main">
            <a:off x="8412480" y="2779776"/>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Re-teach Ctrl+P</a:t>
            </a:r>
          </a:p>
        </p:txBody>
      </p:sp>
      <p:sp>
        <p:nvSpPr>
          <p:cNvPr id="19" name="Rounded Rectangle 18">
            <a:extLst xmlns:a="http://schemas.openxmlformats.org/drawingml/2006/main">
              <a:ext uri="{FF2B5EF4-FFF2-40B4-BE49-F238E27FC236}">
                <a16:creationId xmlns:a16="http://schemas.microsoft.com/office/drawing/2014/main" id="{EC4D1D44-DAAE-431F-A0C7-B5D4B96EF072}"/>
              </a:ext>
            </a:extLst>
          </p:cNvPr>
          <p:cNvSpPr>
            <a:spLocks xmlns:a="http://schemas.openxmlformats.org/drawingml/2006/main" noGrp="1"/>
          </p:cNvSpPr>
          <p:nvPr/>
        </p:nvSpPr>
        <p:spPr>
          <a:xfrm xmlns:a="http://schemas.openxmlformats.org/drawingml/2006/main">
            <a:off x="731520" y="3163824"/>
            <a:ext cx="10424160" cy="384048"/>
          </a:xfrm>
          <a:prstGeom xmlns:a="http://schemas.openxmlformats.org/drawingml/2006/main" prst="roundRect">
            <a:avLst>
              <a:gd name="adj" fmla="val 4960"/>
            </a:avLst>
          </a:prstGeom>
          <a:solidFill xmlns:a="http://schemas.openxmlformats.org/drawingml/2006/main">
            <a:srgbClr val="000000"/>
          </a:solidFill>
          <a:ln xmlns:a="http://schemas.openxmlformats.org/drawingml/2006/main" w="4763">
            <a:solidFill>
              <a:srgbClr val="2E2D33"/>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A6F37A4F-4ED2-429A-A850-A1C3F9FC7437}"/>
              </a:ext>
            </a:extLst>
          </p:cNvPr>
          <p:cNvSpPr>
            <a:spLocks xmlns:a="http://schemas.openxmlformats.org/drawingml/2006/main" noGrp="1"/>
          </p:cNvSpPr>
          <p:nvPr/>
        </p:nvSpPr>
        <p:spPr>
          <a:xfrm xmlns:a="http://schemas.openxmlformats.org/drawingml/2006/main">
            <a:off x="731520" y="3163824"/>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75" b="0">
                <a:solidFill>
                  <a:srgbClr val="E9E7EE"/>
                </a:solidFill>
                <a:latin typeface="Switzer"/>
                <a:ea typeface="Switzer"/>
                <a:cs typeface="Switzer"/>
              </a:defRPr>
            </a:pPr>
            <a:r>
              <a:rPr sz="1275" b="0">
                <a:solidFill>
                  <a:srgbClr val="E9E7EE"/>
                </a:solidFill>
                <a:latin typeface="Switzer"/>
                <a:ea typeface="Switzer"/>
                <a:cs typeface="Switzer"/>
              </a:rPr>
              <a:t>Wrong target</a:t>
            </a:r>
          </a:p>
        </p:txBody>
      </p:sp>
      <p:sp>
        <p:nvSpPr>
          <p:cNvPr id="21" name="TextBox 20">
            <a:extLst xmlns:a="http://schemas.openxmlformats.org/drawingml/2006/main">
              <a:ext uri="{FF2B5EF4-FFF2-40B4-BE49-F238E27FC236}">
                <a16:creationId xmlns:a16="http://schemas.microsoft.com/office/drawing/2014/main" id="{7C084E5A-C183-458B-A07B-9234502B754F}"/>
              </a:ext>
            </a:extLst>
          </p:cNvPr>
          <p:cNvSpPr>
            <a:spLocks xmlns:a="http://schemas.openxmlformats.org/drawingml/2006/main" noGrp="1"/>
          </p:cNvSpPr>
          <p:nvPr/>
        </p:nvSpPr>
        <p:spPr>
          <a:xfrm xmlns:a="http://schemas.openxmlformats.org/drawingml/2006/main">
            <a:off x="2743200" y="3163824"/>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A6E34A"/>
                </a:solidFill>
                <a:latin typeface="Consolas"/>
                <a:ea typeface="Consolas"/>
                <a:cs typeface="Consolas"/>
              </a:defRPr>
            </a:pPr>
            <a:r>
              <a:rPr sz="1200" b="0">
                <a:solidFill>
                  <a:srgbClr val="A6E34A"/>
                </a:solidFill>
                <a:latin typeface="Consolas"/>
                <a:ea typeface="Consolas"/>
                <a:cs typeface="Consolas"/>
              </a:rPr>
              <a:t>Agent/panel absent</a:t>
            </a:r>
          </a:p>
        </p:txBody>
      </p:sp>
      <p:sp>
        <p:nvSpPr>
          <p:cNvPr id="22" name="TextBox 21">
            <a:extLst xmlns:a="http://schemas.openxmlformats.org/drawingml/2006/main">
              <a:ext uri="{FF2B5EF4-FFF2-40B4-BE49-F238E27FC236}">
                <a16:creationId xmlns:a16="http://schemas.microsoft.com/office/drawing/2014/main" id="{B2AD06AE-5186-4219-8E31-0426E1592001}"/>
              </a:ext>
            </a:extLst>
          </p:cNvPr>
          <p:cNvSpPr>
            <a:spLocks xmlns:a="http://schemas.openxmlformats.org/drawingml/2006/main" noGrp="1"/>
          </p:cNvSpPr>
          <p:nvPr/>
        </p:nvSpPr>
        <p:spPr>
          <a:xfrm xmlns:a="http://schemas.openxmlformats.org/drawingml/2006/main">
            <a:off x="5669280" y="3163824"/>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Reject before PTY input</a:t>
            </a:r>
          </a:p>
        </p:txBody>
      </p:sp>
      <p:sp>
        <p:nvSpPr>
          <p:cNvPr id="23" name="TextBox 22">
            <a:extLst xmlns:a="http://schemas.openxmlformats.org/drawingml/2006/main">
              <a:ext uri="{FF2B5EF4-FFF2-40B4-BE49-F238E27FC236}">
                <a16:creationId xmlns:a16="http://schemas.microsoft.com/office/drawing/2014/main" id="{702C4D11-2623-4E2B-805E-9EC52DEC0E75}"/>
              </a:ext>
            </a:extLst>
          </p:cNvPr>
          <p:cNvSpPr>
            <a:spLocks xmlns:a="http://schemas.openxmlformats.org/drawingml/2006/main" noGrp="1"/>
          </p:cNvSpPr>
          <p:nvPr/>
        </p:nvSpPr>
        <p:spPr>
          <a:xfrm xmlns:a="http://schemas.openxmlformats.org/drawingml/2006/main">
            <a:off x="8412480" y="3163824"/>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Inspect failed record</a:t>
            </a:r>
          </a:p>
        </p:txBody>
      </p:sp>
      <p:sp>
        <p:nvSpPr>
          <p:cNvPr id="24" name="Rounded Rectangle 23">
            <a:extLst xmlns:a="http://schemas.openxmlformats.org/drawingml/2006/main">
              <a:ext uri="{FF2B5EF4-FFF2-40B4-BE49-F238E27FC236}">
                <a16:creationId xmlns:a16="http://schemas.microsoft.com/office/drawing/2014/main" id="{90937E5B-4010-4951-B4BA-8E758D5533DB}"/>
              </a:ext>
            </a:extLst>
          </p:cNvPr>
          <p:cNvSpPr>
            <a:spLocks xmlns:a="http://schemas.openxmlformats.org/drawingml/2006/main" noGrp="1"/>
          </p:cNvSpPr>
          <p:nvPr/>
        </p:nvSpPr>
        <p:spPr>
          <a:xfrm xmlns:a="http://schemas.openxmlformats.org/drawingml/2006/main">
            <a:off x="731520" y="3547872"/>
            <a:ext cx="10424160" cy="384048"/>
          </a:xfrm>
          <a:prstGeom xmlns:a="http://schemas.openxmlformats.org/drawingml/2006/main" prst="roundRect">
            <a:avLst>
              <a:gd name="adj" fmla="val 4960"/>
            </a:avLst>
          </a:prstGeom>
          <a:solidFill xmlns:a="http://schemas.openxmlformats.org/drawingml/2006/main">
            <a:srgbClr val="27262B"/>
          </a:solidFill>
          <a:ln xmlns:a="http://schemas.openxmlformats.org/drawingml/2006/main" w="4763">
            <a:solidFill>
              <a:srgbClr val="2E2D33"/>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F0166FB2-B8BC-4721-8562-3FD2ED957689}"/>
              </a:ext>
            </a:extLst>
          </p:cNvPr>
          <p:cNvSpPr>
            <a:spLocks xmlns:a="http://schemas.openxmlformats.org/drawingml/2006/main" noGrp="1"/>
          </p:cNvSpPr>
          <p:nvPr/>
        </p:nvSpPr>
        <p:spPr>
          <a:xfrm xmlns:a="http://schemas.openxmlformats.org/drawingml/2006/main">
            <a:off x="731520" y="3547872"/>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75" b="0">
                <a:solidFill>
                  <a:srgbClr val="E9E7EE"/>
                </a:solidFill>
                <a:latin typeface="Switzer"/>
                <a:ea typeface="Switzer"/>
                <a:cs typeface="Switzer"/>
              </a:defRPr>
            </a:pPr>
            <a:r>
              <a:rPr sz="1275" b="0">
                <a:solidFill>
                  <a:srgbClr val="E9E7EE"/>
                </a:solidFill>
                <a:latin typeface="Switzer"/>
                <a:ea typeface="Switzer"/>
                <a:cs typeface="Switzer"/>
              </a:rPr>
              <a:t>Duplicate echo</a:t>
            </a:r>
          </a:p>
        </p:txBody>
      </p:sp>
      <p:sp>
        <p:nvSpPr>
          <p:cNvPr id="26" name="TextBox 25">
            <a:extLst xmlns:a="http://schemas.openxmlformats.org/drawingml/2006/main">
              <a:ext uri="{FF2B5EF4-FFF2-40B4-BE49-F238E27FC236}">
                <a16:creationId xmlns:a16="http://schemas.microsoft.com/office/drawing/2014/main" id="{1D832A6E-B503-4925-B5A9-0ED4F4835FB9}"/>
              </a:ext>
            </a:extLst>
          </p:cNvPr>
          <p:cNvSpPr>
            <a:spLocks xmlns:a="http://schemas.openxmlformats.org/drawingml/2006/main" noGrp="1"/>
          </p:cNvSpPr>
          <p:nvPr/>
        </p:nvSpPr>
        <p:spPr>
          <a:xfrm xmlns:a="http://schemas.openxmlformats.org/drawingml/2006/main">
            <a:off x="2743200" y="3547872"/>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A6E34A"/>
                </a:solidFill>
                <a:latin typeface="Consolas"/>
                <a:ea typeface="Consolas"/>
                <a:cs typeface="Consolas"/>
              </a:defRPr>
            </a:pPr>
            <a:r>
              <a:rPr sz="1200" b="0">
                <a:solidFill>
                  <a:srgbClr val="A6E34A"/>
                </a:solidFill>
                <a:latin typeface="Consolas"/>
                <a:ea typeface="Consolas"/>
                <a:cs typeface="Consolas"/>
              </a:rPr>
              <a:t>Same frame repeats</a:t>
            </a:r>
          </a:p>
        </p:txBody>
      </p:sp>
      <p:sp>
        <p:nvSpPr>
          <p:cNvPr id="27" name="TextBox 26">
            <a:extLst xmlns:a="http://schemas.openxmlformats.org/drawingml/2006/main">
              <a:ext uri="{FF2B5EF4-FFF2-40B4-BE49-F238E27FC236}">
                <a16:creationId xmlns:a16="http://schemas.microsoft.com/office/drawing/2014/main" id="{5B8D2F25-573D-4567-86EA-5AB07DB470A8}"/>
              </a:ext>
            </a:extLst>
          </p:cNvPr>
          <p:cNvSpPr>
            <a:spLocks xmlns:a="http://schemas.openxmlformats.org/drawingml/2006/main" noGrp="1"/>
          </p:cNvSpPr>
          <p:nvPr/>
        </p:nvSpPr>
        <p:spPr>
          <a:xfrm xmlns:a="http://schemas.openxmlformats.org/drawingml/2006/main">
            <a:off x="5669280" y="3547872"/>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Dedupe exact frame</a:t>
            </a:r>
          </a:p>
        </p:txBody>
      </p:sp>
      <p:sp>
        <p:nvSpPr>
          <p:cNvPr id="28" name="TextBox 27">
            <a:extLst xmlns:a="http://schemas.openxmlformats.org/drawingml/2006/main">
              <a:ext uri="{FF2B5EF4-FFF2-40B4-BE49-F238E27FC236}">
                <a16:creationId xmlns:a16="http://schemas.microsoft.com/office/drawing/2014/main" id="{CB6507C6-8B13-42E9-8509-6A63FE58F05D}"/>
              </a:ext>
            </a:extLst>
          </p:cNvPr>
          <p:cNvSpPr>
            <a:spLocks xmlns:a="http://schemas.openxmlformats.org/drawingml/2006/main" noGrp="1"/>
          </p:cNvSpPr>
          <p:nvPr/>
        </p:nvSpPr>
        <p:spPr>
          <a:xfrm xmlns:a="http://schemas.openxmlformats.org/drawingml/2006/main">
            <a:off x="8412480" y="3547872"/>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Inspect F12</a:t>
            </a:r>
          </a:p>
        </p:txBody>
      </p:sp>
      <p:sp>
        <p:nvSpPr>
          <p:cNvPr id="29" name="Rounded Rectangle 28">
            <a:extLst xmlns:a="http://schemas.openxmlformats.org/drawingml/2006/main">
              <a:ext uri="{FF2B5EF4-FFF2-40B4-BE49-F238E27FC236}">
                <a16:creationId xmlns:a16="http://schemas.microsoft.com/office/drawing/2014/main" id="{60CAC2B9-60D7-401C-BBC7-A9CF33FA48A2}"/>
              </a:ext>
            </a:extLst>
          </p:cNvPr>
          <p:cNvSpPr>
            <a:spLocks xmlns:a="http://schemas.openxmlformats.org/drawingml/2006/main" noGrp="1"/>
          </p:cNvSpPr>
          <p:nvPr/>
        </p:nvSpPr>
        <p:spPr>
          <a:xfrm xmlns:a="http://schemas.openxmlformats.org/drawingml/2006/main">
            <a:off x="731520" y="3931920"/>
            <a:ext cx="10424160" cy="384048"/>
          </a:xfrm>
          <a:prstGeom xmlns:a="http://schemas.openxmlformats.org/drawingml/2006/main" prst="roundRect">
            <a:avLst>
              <a:gd name="adj" fmla="val 4960"/>
            </a:avLst>
          </a:prstGeom>
          <a:solidFill xmlns:a="http://schemas.openxmlformats.org/drawingml/2006/main">
            <a:srgbClr val="000000"/>
          </a:solidFill>
          <a:ln xmlns:a="http://schemas.openxmlformats.org/drawingml/2006/main" w="4763">
            <a:solidFill>
              <a:srgbClr val="2E2D33"/>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TextBox 29">
            <a:extLst xmlns:a="http://schemas.openxmlformats.org/drawingml/2006/main">
              <a:ext uri="{FF2B5EF4-FFF2-40B4-BE49-F238E27FC236}">
                <a16:creationId xmlns:a16="http://schemas.microsoft.com/office/drawing/2014/main" id="{4089C66D-FC0C-4A1D-8CA6-0C849261342D}"/>
              </a:ext>
            </a:extLst>
          </p:cNvPr>
          <p:cNvSpPr>
            <a:spLocks xmlns:a="http://schemas.openxmlformats.org/drawingml/2006/main" noGrp="1"/>
          </p:cNvSpPr>
          <p:nvPr/>
        </p:nvSpPr>
        <p:spPr>
          <a:xfrm xmlns:a="http://schemas.openxmlformats.org/drawingml/2006/main">
            <a:off x="731520" y="3931920"/>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75" b="0">
                <a:solidFill>
                  <a:srgbClr val="E9E7EE"/>
                </a:solidFill>
                <a:latin typeface="Switzer"/>
                <a:ea typeface="Switzer"/>
                <a:cs typeface="Switzer"/>
              </a:defRPr>
            </a:pPr>
            <a:r>
              <a:rPr sz="1275" b="0">
                <a:solidFill>
                  <a:srgbClr val="E9E7EE"/>
                </a:solidFill>
                <a:latin typeface="Switzer"/>
                <a:ea typeface="Switzer"/>
                <a:cs typeface="Switzer"/>
              </a:rPr>
              <a:t>Destination exits</a:t>
            </a:r>
          </a:p>
        </p:txBody>
      </p:sp>
      <p:sp>
        <p:nvSpPr>
          <p:cNvPr id="31" name="TextBox 30">
            <a:extLst xmlns:a="http://schemas.openxmlformats.org/drawingml/2006/main">
              <a:ext uri="{FF2B5EF4-FFF2-40B4-BE49-F238E27FC236}">
                <a16:creationId xmlns:a16="http://schemas.microsoft.com/office/drawing/2014/main" id="{C67F707F-B878-451D-80CD-76DAB2FB346F}"/>
              </a:ext>
            </a:extLst>
          </p:cNvPr>
          <p:cNvSpPr>
            <a:spLocks xmlns:a="http://schemas.openxmlformats.org/drawingml/2006/main" noGrp="1"/>
          </p:cNvSpPr>
          <p:nvPr/>
        </p:nvSpPr>
        <p:spPr>
          <a:xfrm xmlns:a="http://schemas.openxmlformats.org/drawingml/2006/main">
            <a:off x="2743200" y="3931920"/>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A6E34A"/>
                </a:solidFill>
                <a:latin typeface="Consolas"/>
                <a:ea typeface="Consolas"/>
                <a:cs typeface="Consolas"/>
              </a:defRPr>
            </a:pPr>
            <a:r>
              <a:rPr sz="1200" b="0">
                <a:solidFill>
                  <a:srgbClr val="A6E34A"/>
                </a:solidFill>
                <a:latin typeface="Consolas"/>
                <a:ea typeface="Consolas"/>
                <a:cs typeface="Consolas"/>
              </a:rPr>
              <a:t>PTY unavailable</a:t>
            </a:r>
          </a:p>
        </p:txBody>
      </p:sp>
      <p:sp>
        <p:nvSpPr>
          <p:cNvPr id="32" name="TextBox 31">
            <a:extLst xmlns:a="http://schemas.openxmlformats.org/drawingml/2006/main">
              <a:ext uri="{FF2B5EF4-FFF2-40B4-BE49-F238E27FC236}">
                <a16:creationId xmlns:a16="http://schemas.microsoft.com/office/drawing/2014/main" id="{B0AA75AF-76E2-417F-A46C-0973DD7D953A}"/>
              </a:ext>
            </a:extLst>
          </p:cNvPr>
          <p:cNvSpPr>
            <a:spLocks xmlns:a="http://schemas.openxmlformats.org/drawingml/2006/main" noGrp="1"/>
          </p:cNvSpPr>
          <p:nvPr/>
        </p:nvSpPr>
        <p:spPr>
          <a:xfrm xmlns:a="http://schemas.openxmlformats.org/drawingml/2006/main">
            <a:off x="5669280" y="3931920"/>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Record delivery error</a:t>
            </a:r>
          </a:p>
        </p:txBody>
      </p:sp>
      <p:sp>
        <p:nvSpPr>
          <p:cNvPr id="33" name="TextBox 32">
            <a:extLst xmlns:a="http://schemas.openxmlformats.org/drawingml/2006/main">
              <a:ext uri="{FF2B5EF4-FFF2-40B4-BE49-F238E27FC236}">
                <a16:creationId xmlns:a16="http://schemas.microsoft.com/office/drawing/2014/main" id="{CFF01733-A645-4573-B2F3-65544CA50E51}"/>
              </a:ext>
            </a:extLst>
          </p:cNvPr>
          <p:cNvSpPr>
            <a:spLocks xmlns:a="http://schemas.openxmlformats.org/drawingml/2006/main" noGrp="1"/>
          </p:cNvSpPr>
          <p:nvPr/>
        </p:nvSpPr>
        <p:spPr>
          <a:xfrm xmlns:a="http://schemas.openxmlformats.org/drawingml/2006/main">
            <a:off x="8412480" y="3931920"/>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Restart or reroute</a:t>
            </a:r>
          </a:p>
        </p:txBody>
      </p:sp>
      <p:sp>
        <p:nvSpPr>
          <p:cNvPr id="34" name="Rounded Rectangle 33">
            <a:extLst xmlns:a="http://schemas.openxmlformats.org/drawingml/2006/main">
              <a:ext uri="{FF2B5EF4-FFF2-40B4-BE49-F238E27FC236}">
                <a16:creationId xmlns:a16="http://schemas.microsoft.com/office/drawing/2014/main" id="{7C0755C1-A419-4AC4-83DE-8BAAFD6C7D85}"/>
              </a:ext>
            </a:extLst>
          </p:cNvPr>
          <p:cNvSpPr>
            <a:spLocks xmlns:a="http://schemas.openxmlformats.org/drawingml/2006/main" noGrp="1"/>
          </p:cNvSpPr>
          <p:nvPr/>
        </p:nvSpPr>
        <p:spPr>
          <a:xfrm xmlns:a="http://schemas.openxmlformats.org/drawingml/2006/main">
            <a:off x="731520" y="4315968"/>
            <a:ext cx="10424160" cy="384048"/>
          </a:xfrm>
          <a:prstGeom xmlns:a="http://schemas.openxmlformats.org/drawingml/2006/main" prst="roundRect">
            <a:avLst>
              <a:gd name="adj" fmla="val 4960"/>
            </a:avLst>
          </a:prstGeom>
          <a:solidFill xmlns:a="http://schemas.openxmlformats.org/drawingml/2006/main">
            <a:srgbClr val="27262B"/>
          </a:solidFill>
          <a:ln xmlns:a="http://schemas.openxmlformats.org/drawingml/2006/main" w="11906">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5" name="TextBox 34">
            <a:extLst xmlns:a="http://schemas.openxmlformats.org/drawingml/2006/main">
              <a:ext uri="{FF2B5EF4-FFF2-40B4-BE49-F238E27FC236}">
                <a16:creationId xmlns:a16="http://schemas.microsoft.com/office/drawing/2014/main" id="{9575695E-FF32-4CB4-A3A3-C308CA7ABE0B}"/>
              </a:ext>
            </a:extLst>
          </p:cNvPr>
          <p:cNvSpPr>
            <a:spLocks xmlns:a="http://schemas.openxmlformats.org/drawingml/2006/main" noGrp="1"/>
          </p:cNvSpPr>
          <p:nvPr/>
        </p:nvSpPr>
        <p:spPr>
          <a:xfrm xmlns:a="http://schemas.openxmlformats.org/drawingml/2006/main">
            <a:off x="731520" y="4315968"/>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75" b="0">
                <a:solidFill>
                  <a:srgbClr val="E9E7EE"/>
                </a:solidFill>
                <a:latin typeface="Switzer"/>
                <a:ea typeface="Switzer"/>
                <a:cs typeface="Switzer"/>
              </a:defRPr>
            </a:pPr>
            <a:r>
              <a:rPr sz="1275" b="0">
                <a:solidFill>
                  <a:srgbClr val="E9E7EE"/>
                </a:solidFill>
                <a:latin typeface="Switzer"/>
                <a:ea typeface="Switzer"/>
                <a:cs typeface="Switzer"/>
              </a:rPr>
              <a:t>Semantic conflict</a:t>
            </a:r>
          </a:p>
        </p:txBody>
      </p:sp>
      <p:sp>
        <p:nvSpPr>
          <p:cNvPr id="36" name="TextBox 35">
            <a:extLst xmlns:a="http://schemas.openxmlformats.org/drawingml/2006/main">
              <a:ext uri="{FF2B5EF4-FFF2-40B4-BE49-F238E27FC236}">
                <a16:creationId xmlns:a16="http://schemas.microsoft.com/office/drawing/2014/main" id="{5B30DE0C-1758-4BF0-96C5-7C10C637A6E9}"/>
              </a:ext>
            </a:extLst>
          </p:cNvPr>
          <p:cNvSpPr>
            <a:spLocks xmlns:a="http://schemas.openxmlformats.org/drawingml/2006/main" noGrp="1"/>
          </p:cNvSpPr>
          <p:nvPr/>
        </p:nvSpPr>
        <p:spPr>
          <a:xfrm xmlns:a="http://schemas.openxmlformats.org/drawingml/2006/main">
            <a:off x="2743200" y="4315968"/>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Human sees conflict</a:t>
            </a:r>
          </a:p>
        </p:txBody>
      </p:sp>
      <p:sp>
        <p:nvSpPr>
          <p:cNvPr id="37" name="TextBox 36">
            <a:extLst xmlns:a="http://schemas.openxmlformats.org/drawingml/2006/main">
              <a:ext uri="{FF2B5EF4-FFF2-40B4-BE49-F238E27FC236}">
                <a16:creationId xmlns:a16="http://schemas.microsoft.com/office/drawing/2014/main" id="{A6227FCE-41B9-4200-AD15-036AC00F6615}"/>
              </a:ext>
            </a:extLst>
          </p:cNvPr>
          <p:cNvSpPr>
            <a:spLocks xmlns:a="http://schemas.openxmlformats.org/drawingml/2006/main" noGrp="1"/>
          </p:cNvSpPr>
          <p:nvPr/>
        </p:nvSpPr>
        <p:spPr>
          <a:xfrm xmlns:a="http://schemas.openxmlformats.org/drawingml/2006/main">
            <a:off x="5669280" y="4315968"/>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Show bounded payload + IDs</a:t>
            </a:r>
          </a:p>
        </p:txBody>
      </p:sp>
      <p:sp>
        <p:nvSpPr>
          <p:cNvPr id="38" name="TextBox 37">
            <a:extLst xmlns:a="http://schemas.openxmlformats.org/drawingml/2006/main">
              <a:ext uri="{FF2B5EF4-FFF2-40B4-BE49-F238E27FC236}">
                <a16:creationId xmlns:a16="http://schemas.microsoft.com/office/drawing/2014/main" id="{2940CE06-1383-490E-B4B1-4F699A88D7E8}"/>
              </a:ext>
            </a:extLst>
          </p:cNvPr>
          <p:cNvSpPr>
            <a:spLocks xmlns:a="http://schemas.openxmlformats.org/drawingml/2006/main" noGrp="1"/>
          </p:cNvSpPr>
          <p:nvPr/>
        </p:nvSpPr>
        <p:spPr>
          <a:xfrm xmlns:a="http://schemas.openxmlformats.org/drawingml/2006/main">
            <a:off x="8412480" y="4315968"/>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Challenge or refine</a:t>
            </a:r>
          </a:p>
        </p:txBody>
      </p:sp>
      <p:sp>
        <p:nvSpPr>
          <p:cNvPr id="39" name="Rounded Rectangle 38">
            <a:extLst xmlns:a="http://schemas.openxmlformats.org/drawingml/2006/main">
              <a:ext uri="{FF2B5EF4-FFF2-40B4-BE49-F238E27FC236}">
                <a16:creationId xmlns:a16="http://schemas.microsoft.com/office/drawing/2014/main" id="{C666A444-700D-4B34-88D0-A8A17A5D7475}"/>
              </a:ext>
            </a:extLst>
          </p:cNvPr>
          <p:cNvSpPr>
            <a:spLocks xmlns:a="http://schemas.openxmlformats.org/drawingml/2006/main" noGrp="1"/>
          </p:cNvSpPr>
          <p:nvPr/>
        </p:nvSpPr>
        <p:spPr>
          <a:xfrm xmlns:a="http://schemas.openxmlformats.org/drawingml/2006/main">
            <a:off x="731520" y="4700016"/>
            <a:ext cx="10424160" cy="384048"/>
          </a:xfrm>
          <a:prstGeom xmlns:a="http://schemas.openxmlformats.org/drawingml/2006/main" prst="roundRect">
            <a:avLst>
              <a:gd name="adj" fmla="val 4960"/>
            </a:avLst>
          </a:prstGeom>
          <a:solidFill xmlns:a="http://schemas.openxmlformats.org/drawingml/2006/main">
            <a:srgbClr val="000000"/>
          </a:solidFill>
          <a:ln xmlns:a="http://schemas.openxmlformats.org/drawingml/2006/main" w="4763">
            <a:solidFill>
              <a:srgbClr val="2E2D33"/>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0" name="TextBox 39">
            <a:extLst xmlns:a="http://schemas.openxmlformats.org/drawingml/2006/main">
              <a:ext uri="{FF2B5EF4-FFF2-40B4-BE49-F238E27FC236}">
                <a16:creationId xmlns:a16="http://schemas.microsoft.com/office/drawing/2014/main" id="{3B2E197F-69D8-4AFD-A43A-D846104DF4E6}"/>
              </a:ext>
            </a:extLst>
          </p:cNvPr>
          <p:cNvSpPr>
            <a:spLocks xmlns:a="http://schemas.openxmlformats.org/drawingml/2006/main" noGrp="1"/>
          </p:cNvSpPr>
          <p:nvPr/>
        </p:nvSpPr>
        <p:spPr>
          <a:xfrm xmlns:a="http://schemas.openxmlformats.org/drawingml/2006/main">
            <a:off x="731520" y="4700016"/>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75" b="0">
                <a:solidFill>
                  <a:srgbClr val="E9E7EE"/>
                </a:solidFill>
                <a:latin typeface="Switzer"/>
                <a:ea typeface="Switzer"/>
                <a:cs typeface="Switzer"/>
              </a:defRPr>
            </a:pPr>
            <a:r>
              <a:rPr sz="1275" b="0">
                <a:solidFill>
                  <a:srgbClr val="E9E7EE"/>
                </a:solidFill>
                <a:latin typeface="Switzer"/>
                <a:ea typeface="Switzer"/>
                <a:cs typeface="Switzer"/>
              </a:rPr>
              <a:t>Provider failure</a:t>
            </a:r>
          </a:p>
        </p:txBody>
      </p:sp>
      <p:sp>
        <p:nvSpPr>
          <p:cNvPr id="41" name="TextBox 40">
            <a:extLst xmlns:a="http://schemas.openxmlformats.org/drawingml/2006/main">
              <a:ext uri="{FF2B5EF4-FFF2-40B4-BE49-F238E27FC236}">
                <a16:creationId xmlns:a16="http://schemas.microsoft.com/office/drawing/2014/main" id="{9F60D09D-A1D5-4280-8B58-1731F9276CCD}"/>
              </a:ext>
            </a:extLst>
          </p:cNvPr>
          <p:cNvSpPr>
            <a:spLocks xmlns:a="http://schemas.openxmlformats.org/drawingml/2006/main" noGrp="1"/>
          </p:cNvSpPr>
          <p:nvPr/>
        </p:nvSpPr>
        <p:spPr>
          <a:xfrm xmlns:a="http://schemas.openxmlformats.org/drawingml/2006/main">
            <a:off x="2743200" y="4700016"/>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FFB14C"/>
                </a:solidFill>
                <a:latin typeface="Consolas"/>
                <a:ea typeface="Consolas"/>
                <a:cs typeface="Consolas"/>
              </a:defRPr>
            </a:pPr>
            <a:r>
              <a:rPr sz="1200" b="0">
                <a:solidFill>
                  <a:srgbClr val="FFB14C"/>
                </a:solidFill>
                <a:latin typeface="Consolas"/>
                <a:ea typeface="Consolas"/>
                <a:cs typeface="Consolas"/>
              </a:rPr>
              <a:t>No agent response</a:t>
            </a:r>
          </a:p>
        </p:txBody>
      </p:sp>
      <p:sp>
        <p:nvSpPr>
          <p:cNvPr id="42" name="TextBox 41">
            <a:extLst xmlns:a="http://schemas.openxmlformats.org/drawingml/2006/main">
              <a:ext uri="{FF2B5EF4-FFF2-40B4-BE49-F238E27FC236}">
                <a16:creationId xmlns:a16="http://schemas.microsoft.com/office/drawing/2014/main" id="{B4091791-E783-49AA-AFD7-D8FAE9B2837D}"/>
              </a:ext>
            </a:extLst>
          </p:cNvPr>
          <p:cNvSpPr>
            <a:spLocks xmlns:a="http://schemas.openxmlformats.org/drawingml/2006/main" noGrp="1"/>
          </p:cNvSpPr>
          <p:nvPr/>
        </p:nvSpPr>
        <p:spPr>
          <a:xfrm xmlns:a="http://schemas.openxmlformats.org/drawingml/2006/main">
            <a:off x="5669280" y="4700016"/>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Never fabricate success</a:t>
            </a:r>
          </a:p>
        </p:txBody>
      </p:sp>
      <p:sp>
        <p:nvSpPr>
          <p:cNvPr id="43" name="TextBox 42">
            <a:extLst xmlns:a="http://schemas.openxmlformats.org/drawingml/2006/main">
              <a:ext uri="{FF2B5EF4-FFF2-40B4-BE49-F238E27FC236}">
                <a16:creationId xmlns:a16="http://schemas.microsoft.com/office/drawing/2014/main" id="{738EF25A-1876-4F2A-9142-44E7290A5234}"/>
              </a:ext>
            </a:extLst>
          </p:cNvPr>
          <p:cNvSpPr>
            <a:spLocks xmlns:a="http://schemas.openxmlformats.org/drawingml/2006/main" noGrp="1"/>
          </p:cNvSpPr>
          <p:nvPr/>
        </p:nvSpPr>
        <p:spPr>
          <a:xfrm xmlns:a="http://schemas.openxmlformats.org/drawingml/2006/main">
            <a:off x="8412480" y="4700016"/>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Switch agent</a:t>
            </a:r>
          </a:p>
        </p:txBody>
      </p:sp>
      <p:sp>
        <p:nvSpPr>
          <p:cNvPr id="44" name="Rounded Rectangle 43">
            <a:extLst xmlns:a="http://schemas.openxmlformats.org/drawingml/2006/main">
              <a:ext uri="{FF2B5EF4-FFF2-40B4-BE49-F238E27FC236}">
                <a16:creationId xmlns:a16="http://schemas.microsoft.com/office/drawing/2014/main" id="{66A1251D-9BA8-4729-A675-152B81697784}"/>
              </a:ext>
            </a:extLst>
          </p:cNvPr>
          <p:cNvSpPr>
            <a:spLocks xmlns:a="http://schemas.openxmlformats.org/drawingml/2006/main" noGrp="1"/>
          </p:cNvSpPr>
          <p:nvPr/>
        </p:nvSpPr>
        <p:spPr>
          <a:xfrm xmlns:a="http://schemas.openxmlformats.org/drawingml/2006/main">
            <a:off x="731520" y="5084064"/>
            <a:ext cx="10424160" cy="384048"/>
          </a:xfrm>
          <a:prstGeom xmlns:a="http://schemas.openxmlformats.org/drawingml/2006/main" prst="roundRect">
            <a:avLst>
              <a:gd name="adj" fmla="val 4960"/>
            </a:avLst>
          </a:prstGeom>
          <a:solidFill xmlns:a="http://schemas.openxmlformats.org/drawingml/2006/main">
            <a:srgbClr val="312728"/>
          </a:solidFill>
          <a:ln xmlns:a="http://schemas.openxmlformats.org/drawingml/2006/main" w="9525">
            <a:solidFill>
              <a:srgbClr val="FA7171"/>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TextBox 44">
            <a:extLst xmlns:a="http://schemas.openxmlformats.org/drawingml/2006/main">
              <a:ext uri="{FF2B5EF4-FFF2-40B4-BE49-F238E27FC236}">
                <a16:creationId xmlns:a16="http://schemas.microsoft.com/office/drawing/2014/main" id="{A1C53D5F-0116-476D-BB8A-D26E4A421DA8}"/>
              </a:ext>
            </a:extLst>
          </p:cNvPr>
          <p:cNvSpPr>
            <a:spLocks xmlns:a="http://schemas.openxmlformats.org/drawingml/2006/main" noGrp="1"/>
          </p:cNvSpPr>
          <p:nvPr/>
        </p:nvSpPr>
        <p:spPr>
          <a:xfrm xmlns:a="http://schemas.openxmlformats.org/drawingml/2006/main">
            <a:off x="731520" y="5084064"/>
            <a:ext cx="20116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75" b="0">
                <a:solidFill>
                  <a:srgbClr val="E9E7EE"/>
                </a:solidFill>
                <a:latin typeface="Switzer"/>
                <a:ea typeface="Switzer"/>
                <a:cs typeface="Switzer"/>
              </a:defRPr>
            </a:pPr>
            <a:r>
              <a:rPr sz="1275" b="0">
                <a:solidFill>
                  <a:srgbClr val="E9E7EE"/>
                </a:solidFill>
                <a:latin typeface="Switzer"/>
                <a:ea typeface="Switzer"/>
                <a:cs typeface="Switzer"/>
              </a:rPr>
              <a:t>Live-demo risk</a:t>
            </a:r>
          </a:p>
        </p:txBody>
      </p:sp>
      <p:sp>
        <p:nvSpPr>
          <p:cNvPr id="46" name="TextBox 45">
            <a:extLst xmlns:a="http://schemas.openxmlformats.org/drawingml/2006/main">
              <a:ext uri="{FF2B5EF4-FFF2-40B4-BE49-F238E27FC236}">
                <a16:creationId xmlns:a16="http://schemas.microsoft.com/office/drawing/2014/main" id="{B23E7AD3-9B25-44D3-AA78-59DFD2D7E298}"/>
              </a:ext>
            </a:extLst>
          </p:cNvPr>
          <p:cNvSpPr>
            <a:spLocks xmlns:a="http://schemas.openxmlformats.org/drawingml/2006/main" noGrp="1"/>
          </p:cNvSpPr>
          <p:nvPr/>
        </p:nvSpPr>
        <p:spPr>
          <a:xfrm xmlns:a="http://schemas.openxmlformats.org/drawingml/2006/main">
            <a:off x="2743200" y="5084064"/>
            <a:ext cx="292608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FA7171"/>
                </a:solidFill>
                <a:latin typeface="Consolas"/>
                <a:ea typeface="Consolas"/>
                <a:cs typeface="Consolas"/>
              </a:defRPr>
            </a:pPr>
            <a:r>
              <a:rPr sz="1200" b="1">
                <a:solidFill>
                  <a:srgbClr val="FA7171"/>
                </a:solidFill>
                <a:latin typeface="Consolas"/>
                <a:ea typeface="Consolas"/>
                <a:cs typeface="Consolas"/>
              </a:rPr>
              <a:t>External path stalls</a:t>
            </a:r>
          </a:p>
        </p:txBody>
      </p:sp>
      <p:sp>
        <p:nvSpPr>
          <p:cNvPr id="47" name="TextBox 46">
            <a:extLst xmlns:a="http://schemas.openxmlformats.org/drawingml/2006/main">
              <a:ext uri="{FF2B5EF4-FFF2-40B4-BE49-F238E27FC236}">
                <a16:creationId xmlns:a16="http://schemas.microsoft.com/office/drawing/2014/main" id="{B1A01FAE-B8F5-463E-8B38-4B1D751781DC}"/>
              </a:ext>
            </a:extLst>
          </p:cNvPr>
          <p:cNvSpPr>
            <a:spLocks xmlns:a="http://schemas.openxmlformats.org/drawingml/2006/main" noGrp="1"/>
          </p:cNvSpPr>
          <p:nvPr/>
        </p:nvSpPr>
        <p:spPr>
          <a:xfrm xmlns:a="http://schemas.openxmlformats.org/drawingml/2006/main">
            <a:off x="5669280" y="5084064"/>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Scripted local proof</a:t>
            </a:r>
          </a:p>
        </p:txBody>
      </p:sp>
      <p:sp>
        <p:nvSpPr>
          <p:cNvPr id="48" name="TextBox 47">
            <a:extLst xmlns:a="http://schemas.openxmlformats.org/drawingml/2006/main">
              <a:ext uri="{FF2B5EF4-FFF2-40B4-BE49-F238E27FC236}">
                <a16:creationId xmlns:a16="http://schemas.microsoft.com/office/drawing/2014/main" id="{8BD27AF2-35E6-4DDE-AFCD-AC211BEEDDF1}"/>
              </a:ext>
            </a:extLst>
          </p:cNvPr>
          <p:cNvSpPr>
            <a:spLocks xmlns:a="http://schemas.openxmlformats.org/drawingml/2006/main" noGrp="1"/>
          </p:cNvSpPr>
          <p:nvPr/>
        </p:nvSpPr>
        <p:spPr>
          <a:xfrm xmlns:a="http://schemas.openxmlformats.org/drawingml/2006/main">
            <a:off x="8412480" y="5084064"/>
            <a:ext cx="2743200" cy="38404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0">
                <a:solidFill>
                  <a:srgbClr val="BCBBC2"/>
                </a:solidFill>
                <a:latin typeface="Switzer"/>
                <a:ea typeface="Switzer"/>
                <a:cs typeface="Switzer"/>
              </a:defRPr>
            </a:pPr>
            <a:r>
              <a:rPr sz="1200" b="0">
                <a:solidFill>
                  <a:srgbClr val="BCBBC2"/>
                </a:solidFill>
                <a:latin typeface="Switzer"/>
                <a:ea typeface="Switzer"/>
                <a:cs typeface="Switzer"/>
              </a:rPr>
              <a:t>Continue offline</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050" b="0">
                <a:solidFill>
                  <a:srgbClr val="838289"/>
                </a:solidFill>
                <a:latin typeface="Consolas"/>
                <a:ea typeface="Consolas"/>
                <a:cs typeface="Consolas"/>
              </a:defRPr>
            </a:pPr>
            <a:r>
              <a:rPr sz="1050" b="0">
                <a:solidFill>
                  <a:srgbClr val="838289"/>
                </a:solidFill>
                <a:latin typeface="Consolas"/>
                <a:ea typeface="Consolas"/>
                <a:cs typeface="Consolas"/>
              </a:rPr>
              <a:t>10/13</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Tree>
    <p:extLst>
      <p:ext uri="{BB962C8B-B14F-4D97-AF65-F5344CB8AC3E}">
        <p14:creationId xmlns:p14="http://schemas.microsoft.com/office/powerpoint/2010/main" val="107637514"/>
      </p:ext>
    </p:extLst>
  </p:cSld>
</p:sld>
</file>

<file path=ppt/slides/slide11.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723B8CD9-5FF8-4412-8E51-DC48AD3190C1}"/>
              </a:ext>
            </a:extLst>
          </p:cNvPr>
          <p:cNvSpPr>
            <a:spLocks xmlns:a="http://schemas.openxmlformats.org/drawingml/2006/main" noGrp="1"/>
          </p:cNvSpPr>
          <p:nvPr/>
        </p:nvSpPr>
        <p:spPr>
          <a:xfrm xmlns:a="http://schemas.openxmlformats.org/drawingml/2006/main">
            <a:off x="731520" y="457200"/>
            <a:ext cx="9144000" cy="6400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1">
                <a:solidFill>
                  <a:srgbClr val="CBAAFF"/>
                </a:solidFill>
                <a:latin typeface="Consolas"/>
                <a:ea typeface="Consolas"/>
                <a:cs typeface="Consolas"/>
              </a:defRPr>
            </a:pPr>
            <a:r>
              <a:rPr sz="1125" b="1">
                <a:solidFill>
                  <a:srgbClr val="CBAAFF"/>
                </a:solidFill>
                <a:latin typeface="Consolas"/>
                <a:ea typeface="Consolas"/>
                <a:cs typeface="Consolas"/>
              </a:rPr>
              <a:t>TERMINAL EDGES</a:t>
            </a:r>
          </a:p>
        </p:txBody>
      </p:sp>
      <p:sp>
        <p:nvSpPr>
          <p:cNvPr id="3" name="TextBox 2">
            <a:extLst xmlns:a="http://schemas.openxmlformats.org/drawingml/2006/main">
              <a:ext uri="{FF2B5EF4-FFF2-40B4-BE49-F238E27FC236}">
                <a16:creationId xmlns:a16="http://schemas.microsoft.com/office/drawing/2014/main" id="{D262FD8B-23D0-4E68-A81F-0F8257D285E1}"/>
              </a:ext>
            </a:extLst>
          </p:cNvPr>
          <p:cNvSpPr>
            <a:spLocks xmlns:a="http://schemas.openxmlformats.org/drawingml/2006/main" noGrp="1"/>
          </p:cNvSpPr>
          <p:nvPr/>
        </p:nvSpPr>
        <p:spPr>
          <a:xfrm xmlns:a="http://schemas.openxmlformats.org/drawingml/2006/main">
            <a:off x="731520" y="914400"/>
            <a:ext cx="9144000" cy="12496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450" b="0">
                <a:solidFill>
                  <a:srgbClr val="FFFFFF"/>
                </a:solidFill>
                <a:latin typeface="Alliance No.2"/>
                <a:ea typeface="Alliance No.2"/>
                <a:cs typeface="Alliance No.2"/>
              </a:defRPr>
            </a:pPr>
            <a:r>
              <a:rPr sz="3450" b="0">
                <a:solidFill>
                  <a:srgbClr val="FFFFFF"/>
                </a:solidFill>
                <a:latin typeface="Alliance No.2"/>
                <a:ea typeface="Alliance No.2"/>
                <a:cs typeface="Alliance No.2"/>
              </a:rPr>
              <a:t>Bring the CLI agents you already use.</a:t>
            </a:r>
          </a:p>
        </p:txBody>
      </p:sp>
      <p:sp>
        <p:nvSpPr>
          <p:cNvPr id="4" name="Rounded Rectangle 3">
            <a:extLst xmlns:a="http://schemas.openxmlformats.org/drawingml/2006/main">
              <a:ext uri="{FF2B5EF4-FFF2-40B4-BE49-F238E27FC236}">
                <a16:creationId xmlns:a16="http://schemas.microsoft.com/office/drawing/2014/main" id="{E59B4396-A61F-4163-BF6A-ACFD2F7C13CC}"/>
              </a:ext>
            </a:extLst>
          </p:cNvPr>
          <p:cNvSpPr>
            <a:spLocks xmlns:a="http://schemas.openxmlformats.org/drawingml/2006/main" noGrp="1"/>
          </p:cNvSpPr>
          <p:nvPr/>
        </p:nvSpPr>
        <p:spPr>
          <a:xfrm xmlns:a="http://schemas.openxmlformats.org/drawingml/2006/main">
            <a:off x="731520" y="2286000"/>
            <a:ext cx="1920240" cy="1828800"/>
          </a:xfrm>
          <a:prstGeom xmlns:a="http://schemas.openxmlformats.org/drawingml/2006/main" prst="roundRect">
            <a:avLst>
              <a:gd name="adj" fmla="val 4167"/>
            </a:avLst>
          </a:prstGeom>
          <a:solidFill xmlns:a="http://schemas.openxmlformats.org/drawingml/2006/main">
            <a:srgbClr val="000000"/>
          </a:solidFill>
          <a:ln xmlns:a="http://schemas.openxmlformats.org/drawingml/2006/main" w="9525">
            <a:solidFill>
              <a:srgbClr val="A6E34A"/>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BE269C9-2BB1-493E-BB4E-46AA67E8D419}"/>
              </a:ext>
            </a:extLst>
          </p:cNvPr>
          <p:cNvSpPr>
            <a:spLocks xmlns:a="http://schemas.openxmlformats.org/drawingml/2006/main" noGrp="1"/>
          </p:cNvSpPr>
          <p:nvPr/>
        </p:nvSpPr>
        <p:spPr>
          <a:xfrm xmlns:a="http://schemas.openxmlformats.org/drawingml/2006/main">
            <a:off x="914400"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FFFFFF"/>
                </a:solidFill>
                <a:latin typeface="Alliance No.2"/>
                <a:ea typeface="Alliance No.2"/>
                <a:cs typeface="Alliance No.2"/>
              </a:defRPr>
            </a:pPr>
            <a:r>
              <a:rPr sz="1575" b="0">
                <a:solidFill>
                  <a:srgbClr val="FFFFFF"/>
                </a:solidFill>
                <a:latin typeface="Alliance No.2"/>
                <a:ea typeface="Alliance No.2"/>
                <a:cs typeface="Alliance No.2"/>
              </a:rPr>
              <a:t>Claude Code</a:t>
            </a:r>
          </a:p>
        </p:txBody>
      </p:sp>
      <p:sp>
        <p:nvSpPr>
          <p:cNvPr id="6" name="TextBox 5">
            <a:extLst xmlns:a="http://schemas.openxmlformats.org/drawingml/2006/main">
              <a:ext uri="{FF2B5EF4-FFF2-40B4-BE49-F238E27FC236}">
                <a16:creationId xmlns:a16="http://schemas.microsoft.com/office/drawing/2014/main" id="{9A231E6A-7638-4162-83EF-908D5171E5F3}"/>
              </a:ext>
            </a:extLst>
          </p:cNvPr>
          <p:cNvSpPr>
            <a:spLocks xmlns:a="http://schemas.openxmlformats.org/drawingml/2006/main" noGrp="1"/>
          </p:cNvSpPr>
          <p:nvPr/>
        </p:nvSpPr>
        <p:spPr>
          <a:xfrm xmlns:a="http://schemas.openxmlformats.org/drawingml/2006/main">
            <a:off x="914400"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A6E34A"/>
                </a:solidFill>
                <a:latin typeface="Consolas"/>
                <a:ea typeface="Consolas"/>
                <a:cs typeface="Consolas"/>
              </a:defRPr>
            </a:pPr>
            <a:r>
              <a:rPr sz="1200" b="1">
                <a:solidFill>
                  <a:srgbClr val="A6E34A"/>
                </a:solidFill>
                <a:latin typeface="Consolas"/>
                <a:ea typeface="Consolas"/>
                <a:cs typeface="Consolas"/>
              </a:rPr>
              <a:t>SUPPORTED</a:t>
            </a:r>
          </a:p>
        </p:txBody>
      </p:sp>
      <p:sp>
        <p:nvSpPr>
          <p:cNvPr id="7" name="TextBox 6">
            <a:extLst xmlns:a="http://schemas.openxmlformats.org/drawingml/2006/main">
              <a:ext uri="{FF2B5EF4-FFF2-40B4-BE49-F238E27FC236}">
                <a16:creationId xmlns:a16="http://schemas.microsoft.com/office/drawing/2014/main" id="{0C16BF9A-5419-4DBE-9A57-8A48AFD6F21B}"/>
              </a:ext>
            </a:extLst>
          </p:cNvPr>
          <p:cNvSpPr>
            <a:spLocks xmlns:a="http://schemas.openxmlformats.org/drawingml/2006/main" noGrp="1"/>
          </p:cNvSpPr>
          <p:nvPr/>
        </p:nvSpPr>
        <p:spPr>
          <a:xfrm xmlns:a="http://schemas.openxmlformats.org/drawingml/2006/main">
            <a:off x="914400"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838289"/>
                </a:solidFill>
                <a:latin typeface="Consolas"/>
                <a:ea typeface="Consolas"/>
                <a:cs typeface="Consolas"/>
              </a:defRPr>
            </a:pPr>
            <a:r>
              <a:rPr sz="1050" b="0">
                <a:solidFill>
                  <a:srgbClr val="838289"/>
                </a:solidFill>
                <a:latin typeface="Consolas"/>
                <a:ea typeface="Consolas"/>
                <a:cs typeface="Consolas"/>
              </a:rPr>
              <a:t>$ claude</a:t>
            </a:r>
          </a:p>
        </p:txBody>
      </p:sp>
      <p:sp>
        <p:nvSpPr>
          <p:cNvPr id="8" name="Rounded Rectangle 7">
            <a:extLst xmlns:a="http://schemas.openxmlformats.org/drawingml/2006/main">
              <a:ext uri="{FF2B5EF4-FFF2-40B4-BE49-F238E27FC236}">
                <a16:creationId xmlns:a16="http://schemas.microsoft.com/office/drawing/2014/main" id="{BF4FF13C-D1AD-466A-B78B-46FD16BC9DF1}"/>
              </a:ext>
            </a:extLst>
          </p:cNvPr>
          <p:cNvSpPr>
            <a:spLocks xmlns:a="http://schemas.openxmlformats.org/drawingml/2006/main" noGrp="1"/>
          </p:cNvSpPr>
          <p:nvPr/>
        </p:nvSpPr>
        <p:spPr>
          <a:xfrm xmlns:a="http://schemas.openxmlformats.org/drawingml/2006/main">
            <a:off x="2926080" y="2286000"/>
            <a:ext cx="1920240" cy="1828800"/>
          </a:xfrm>
          <a:prstGeom xmlns:a="http://schemas.openxmlformats.org/drawingml/2006/main" prst="roundRect">
            <a:avLst>
              <a:gd name="adj" fmla="val 4167"/>
            </a:avLst>
          </a:prstGeom>
          <a:solidFill xmlns:a="http://schemas.openxmlformats.org/drawingml/2006/main">
            <a:srgbClr val="000000"/>
          </a:solidFill>
          <a:ln xmlns:a="http://schemas.openxmlformats.org/drawingml/2006/main" w="9525">
            <a:solidFill>
              <a:srgbClr val="A6E34A"/>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77769777-F2FD-4357-A802-A42DB10C0C5D}"/>
              </a:ext>
            </a:extLst>
          </p:cNvPr>
          <p:cNvSpPr>
            <a:spLocks xmlns:a="http://schemas.openxmlformats.org/drawingml/2006/main" noGrp="1"/>
          </p:cNvSpPr>
          <p:nvPr/>
        </p:nvSpPr>
        <p:spPr>
          <a:xfrm xmlns:a="http://schemas.openxmlformats.org/drawingml/2006/main">
            <a:off x="3108960"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FFFFFF"/>
                </a:solidFill>
                <a:latin typeface="Alliance No.2"/>
                <a:ea typeface="Alliance No.2"/>
                <a:cs typeface="Alliance No.2"/>
              </a:defRPr>
            </a:pPr>
            <a:r>
              <a:rPr sz="1575" b="0">
                <a:solidFill>
                  <a:srgbClr val="FFFFFF"/>
                </a:solidFill>
                <a:latin typeface="Alliance No.2"/>
                <a:ea typeface="Alliance No.2"/>
                <a:cs typeface="Alliance No.2"/>
              </a:rPr>
              <a:t>Codex CLI</a:t>
            </a:r>
          </a:p>
        </p:txBody>
      </p:sp>
      <p:sp>
        <p:nvSpPr>
          <p:cNvPr id="10" name="TextBox 9">
            <a:extLst xmlns:a="http://schemas.openxmlformats.org/drawingml/2006/main">
              <a:ext uri="{FF2B5EF4-FFF2-40B4-BE49-F238E27FC236}">
                <a16:creationId xmlns:a16="http://schemas.microsoft.com/office/drawing/2014/main" id="{C46387CC-8633-482C-BCFD-9158E59C8B3E}"/>
              </a:ext>
            </a:extLst>
          </p:cNvPr>
          <p:cNvSpPr>
            <a:spLocks xmlns:a="http://schemas.openxmlformats.org/drawingml/2006/main" noGrp="1"/>
          </p:cNvSpPr>
          <p:nvPr/>
        </p:nvSpPr>
        <p:spPr>
          <a:xfrm xmlns:a="http://schemas.openxmlformats.org/drawingml/2006/main">
            <a:off x="3108960"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A6E34A"/>
                </a:solidFill>
                <a:latin typeface="Consolas"/>
                <a:ea typeface="Consolas"/>
                <a:cs typeface="Consolas"/>
              </a:defRPr>
            </a:pPr>
            <a:r>
              <a:rPr sz="1200" b="1">
                <a:solidFill>
                  <a:srgbClr val="A6E34A"/>
                </a:solidFill>
                <a:latin typeface="Consolas"/>
                <a:ea typeface="Consolas"/>
                <a:cs typeface="Consolas"/>
              </a:rPr>
              <a:t>SUPPORTED</a:t>
            </a:r>
          </a:p>
        </p:txBody>
      </p:sp>
      <p:sp>
        <p:nvSpPr>
          <p:cNvPr id="11" name="TextBox 10">
            <a:extLst xmlns:a="http://schemas.openxmlformats.org/drawingml/2006/main">
              <a:ext uri="{FF2B5EF4-FFF2-40B4-BE49-F238E27FC236}">
                <a16:creationId xmlns:a16="http://schemas.microsoft.com/office/drawing/2014/main" id="{D2EC5DB1-1A67-4221-9901-9E5D896B8217}"/>
              </a:ext>
            </a:extLst>
          </p:cNvPr>
          <p:cNvSpPr>
            <a:spLocks xmlns:a="http://schemas.openxmlformats.org/drawingml/2006/main" noGrp="1"/>
          </p:cNvSpPr>
          <p:nvPr/>
        </p:nvSpPr>
        <p:spPr>
          <a:xfrm xmlns:a="http://schemas.openxmlformats.org/drawingml/2006/main">
            <a:off x="3108960"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838289"/>
                </a:solidFill>
                <a:latin typeface="Consolas"/>
                <a:ea typeface="Consolas"/>
                <a:cs typeface="Consolas"/>
              </a:defRPr>
            </a:pPr>
            <a:r>
              <a:rPr sz="1050" b="0">
                <a:solidFill>
                  <a:srgbClr val="838289"/>
                </a:solidFill>
                <a:latin typeface="Consolas"/>
                <a:ea typeface="Consolas"/>
                <a:cs typeface="Consolas"/>
              </a:rPr>
              <a:t>$ codex</a:t>
            </a:r>
          </a:p>
        </p:txBody>
      </p:sp>
      <p:sp>
        <p:nvSpPr>
          <p:cNvPr id="12" name="Rounded Rectangle 11">
            <a:extLst xmlns:a="http://schemas.openxmlformats.org/drawingml/2006/main">
              <a:ext uri="{FF2B5EF4-FFF2-40B4-BE49-F238E27FC236}">
                <a16:creationId xmlns:a16="http://schemas.microsoft.com/office/drawing/2014/main" id="{7528FC48-C6E4-4E78-9A4D-2E909A6E5BE8}"/>
              </a:ext>
            </a:extLst>
          </p:cNvPr>
          <p:cNvSpPr>
            <a:spLocks xmlns:a="http://schemas.openxmlformats.org/drawingml/2006/main" noGrp="1"/>
          </p:cNvSpPr>
          <p:nvPr/>
        </p:nvSpPr>
        <p:spPr>
          <a:xfrm xmlns:a="http://schemas.openxmlformats.org/drawingml/2006/main">
            <a:off x="5120640" y="2286000"/>
            <a:ext cx="1920240" cy="1828800"/>
          </a:xfrm>
          <a:prstGeom xmlns:a="http://schemas.openxmlformats.org/drawingml/2006/main" prst="roundRect">
            <a:avLst>
              <a:gd name="adj" fmla="val 4167"/>
            </a:avLst>
          </a:prstGeom>
          <a:solidFill xmlns:a="http://schemas.openxmlformats.org/drawingml/2006/main">
            <a:srgbClr val="000000"/>
          </a:solidFill>
          <a:ln xmlns:a="http://schemas.openxmlformats.org/drawingml/2006/main" w="9525">
            <a:solidFill>
              <a:srgbClr val="A6E34A"/>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CA878364-857D-4204-A6A4-E6F7576A8C53}"/>
              </a:ext>
            </a:extLst>
          </p:cNvPr>
          <p:cNvSpPr>
            <a:spLocks xmlns:a="http://schemas.openxmlformats.org/drawingml/2006/main" noGrp="1"/>
          </p:cNvSpPr>
          <p:nvPr/>
        </p:nvSpPr>
        <p:spPr>
          <a:xfrm xmlns:a="http://schemas.openxmlformats.org/drawingml/2006/main">
            <a:off x="5303520"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FFFFFF"/>
                </a:solidFill>
                <a:latin typeface="Alliance No.2"/>
                <a:ea typeface="Alliance No.2"/>
                <a:cs typeface="Alliance No.2"/>
              </a:defRPr>
            </a:pPr>
            <a:r>
              <a:rPr sz="1575" b="0">
                <a:solidFill>
                  <a:srgbClr val="FFFFFF"/>
                </a:solidFill>
                <a:latin typeface="Alliance No.2"/>
                <a:ea typeface="Alliance No.2"/>
                <a:cs typeface="Alliance No.2"/>
              </a:rPr>
              <a:t>Gemini CLI</a:t>
            </a:r>
          </a:p>
        </p:txBody>
      </p:sp>
      <p:sp>
        <p:nvSpPr>
          <p:cNvPr id="14" name="TextBox 13">
            <a:extLst xmlns:a="http://schemas.openxmlformats.org/drawingml/2006/main">
              <a:ext uri="{FF2B5EF4-FFF2-40B4-BE49-F238E27FC236}">
                <a16:creationId xmlns:a16="http://schemas.microsoft.com/office/drawing/2014/main" id="{E874DF4A-3047-4AC6-B7AB-9CF8248CD26B}"/>
              </a:ext>
            </a:extLst>
          </p:cNvPr>
          <p:cNvSpPr>
            <a:spLocks xmlns:a="http://schemas.openxmlformats.org/drawingml/2006/main" noGrp="1"/>
          </p:cNvSpPr>
          <p:nvPr/>
        </p:nvSpPr>
        <p:spPr>
          <a:xfrm xmlns:a="http://schemas.openxmlformats.org/drawingml/2006/main">
            <a:off x="5303520"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A6E34A"/>
                </a:solidFill>
                <a:latin typeface="Consolas"/>
                <a:ea typeface="Consolas"/>
                <a:cs typeface="Consolas"/>
              </a:defRPr>
            </a:pPr>
            <a:r>
              <a:rPr sz="1200" b="1">
                <a:solidFill>
                  <a:srgbClr val="A6E34A"/>
                </a:solidFill>
                <a:latin typeface="Consolas"/>
                <a:ea typeface="Consolas"/>
                <a:cs typeface="Consolas"/>
              </a:rPr>
              <a:t>SUPPORTED</a:t>
            </a:r>
          </a:p>
        </p:txBody>
      </p:sp>
      <p:sp>
        <p:nvSpPr>
          <p:cNvPr id="15" name="TextBox 14">
            <a:extLst xmlns:a="http://schemas.openxmlformats.org/drawingml/2006/main">
              <a:ext uri="{FF2B5EF4-FFF2-40B4-BE49-F238E27FC236}">
                <a16:creationId xmlns:a16="http://schemas.microsoft.com/office/drawing/2014/main" id="{DC39C3FB-2615-4E17-B672-87A094E030E1}"/>
              </a:ext>
            </a:extLst>
          </p:cNvPr>
          <p:cNvSpPr>
            <a:spLocks xmlns:a="http://schemas.openxmlformats.org/drawingml/2006/main" noGrp="1"/>
          </p:cNvSpPr>
          <p:nvPr/>
        </p:nvSpPr>
        <p:spPr>
          <a:xfrm xmlns:a="http://schemas.openxmlformats.org/drawingml/2006/main">
            <a:off x="5303520"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838289"/>
                </a:solidFill>
                <a:latin typeface="Consolas"/>
                <a:ea typeface="Consolas"/>
                <a:cs typeface="Consolas"/>
              </a:defRPr>
            </a:pPr>
            <a:r>
              <a:rPr sz="1050" b="0">
                <a:solidFill>
                  <a:srgbClr val="838289"/>
                </a:solidFill>
                <a:latin typeface="Consolas"/>
                <a:ea typeface="Consolas"/>
                <a:cs typeface="Consolas"/>
              </a:rPr>
              <a:t>$ gemini</a:t>
            </a:r>
          </a:p>
        </p:txBody>
      </p:sp>
      <p:sp>
        <p:nvSpPr>
          <p:cNvPr id="16" name="Rounded Rectangle 15">
            <a:extLst xmlns:a="http://schemas.openxmlformats.org/drawingml/2006/main">
              <a:ext uri="{FF2B5EF4-FFF2-40B4-BE49-F238E27FC236}">
                <a16:creationId xmlns:a16="http://schemas.microsoft.com/office/drawing/2014/main" id="{41973689-739A-45E8-B32C-5F89AB26310E}"/>
              </a:ext>
            </a:extLst>
          </p:cNvPr>
          <p:cNvSpPr>
            <a:spLocks xmlns:a="http://schemas.openxmlformats.org/drawingml/2006/main" noGrp="1"/>
          </p:cNvSpPr>
          <p:nvPr/>
        </p:nvSpPr>
        <p:spPr>
          <a:xfrm xmlns:a="http://schemas.openxmlformats.org/drawingml/2006/main">
            <a:off x="7315199" y="2286000"/>
            <a:ext cx="1920240" cy="1828800"/>
          </a:xfrm>
          <a:prstGeom xmlns:a="http://schemas.openxmlformats.org/drawingml/2006/main" prst="roundRect">
            <a:avLst>
              <a:gd name="adj" fmla="val 4167"/>
            </a:avLst>
          </a:prstGeom>
          <a:solidFill xmlns:a="http://schemas.openxmlformats.org/drawingml/2006/main">
            <a:srgbClr val="000000"/>
          </a:solidFill>
          <a:ln xmlns:a="http://schemas.openxmlformats.org/drawingml/2006/main" w="9525">
            <a:solidFill>
              <a:srgbClr val="A6E34A"/>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BCD860AB-AE06-4204-855C-945911998B3B}"/>
              </a:ext>
            </a:extLst>
          </p:cNvPr>
          <p:cNvSpPr>
            <a:spLocks xmlns:a="http://schemas.openxmlformats.org/drawingml/2006/main" noGrp="1"/>
          </p:cNvSpPr>
          <p:nvPr/>
        </p:nvSpPr>
        <p:spPr>
          <a:xfrm xmlns:a="http://schemas.openxmlformats.org/drawingml/2006/main">
            <a:off x="7498079"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FFFFFF"/>
                </a:solidFill>
                <a:latin typeface="Alliance No.2"/>
                <a:ea typeface="Alliance No.2"/>
                <a:cs typeface="Alliance No.2"/>
              </a:defRPr>
            </a:pPr>
            <a:r>
              <a:rPr sz="1575" b="0">
                <a:solidFill>
                  <a:srgbClr val="FFFFFF"/>
                </a:solidFill>
                <a:latin typeface="Alliance No.2"/>
                <a:ea typeface="Alliance No.2"/>
                <a:cs typeface="Alliance No.2"/>
              </a:rPr>
              <a:t>OpenCode</a:t>
            </a:r>
          </a:p>
        </p:txBody>
      </p:sp>
      <p:sp>
        <p:nvSpPr>
          <p:cNvPr id="18" name="TextBox 17">
            <a:extLst xmlns:a="http://schemas.openxmlformats.org/drawingml/2006/main">
              <a:ext uri="{FF2B5EF4-FFF2-40B4-BE49-F238E27FC236}">
                <a16:creationId xmlns:a16="http://schemas.microsoft.com/office/drawing/2014/main" id="{74BF5100-2304-40E6-B9BF-A672DF9AB91A}"/>
              </a:ext>
            </a:extLst>
          </p:cNvPr>
          <p:cNvSpPr>
            <a:spLocks xmlns:a="http://schemas.openxmlformats.org/drawingml/2006/main" noGrp="1"/>
          </p:cNvSpPr>
          <p:nvPr/>
        </p:nvSpPr>
        <p:spPr>
          <a:xfrm xmlns:a="http://schemas.openxmlformats.org/drawingml/2006/main">
            <a:off x="7498079"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A6E34A"/>
                </a:solidFill>
                <a:latin typeface="Consolas"/>
                <a:ea typeface="Consolas"/>
                <a:cs typeface="Consolas"/>
              </a:defRPr>
            </a:pPr>
            <a:r>
              <a:rPr sz="1200" b="1">
                <a:solidFill>
                  <a:srgbClr val="A6E34A"/>
                </a:solidFill>
                <a:latin typeface="Consolas"/>
                <a:ea typeface="Consolas"/>
                <a:cs typeface="Consolas"/>
              </a:rPr>
              <a:t>SUPPORTED</a:t>
            </a:r>
          </a:p>
        </p:txBody>
      </p:sp>
      <p:sp>
        <p:nvSpPr>
          <p:cNvPr id="19" name="TextBox 18">
            <a:extLst xmlns:a="http://schemas.openxmlformats.org/drawingml/2006/main">
              <a:ext uri="{FF2B5EF4-FFF2-40B4-BE49-F238E27FC236}">
                <a16:creationId xmlns:a16="http://schemas.microsoft.com/office/drawing/2014/main" id="{1066D6F3-CE25-427F-9ECB-94E7A4C2C218}"/>
              </a:ext>
            </a:extLst>
          </p:cNvPr>
          <p:cNvSpPr>
            <a:spLocks xmlns:a="http://schemas.openxmlformats.org/drawingml/2006/main" noGrp="1"/>
          </p:cNvSpPr>
          <p:nvPr/>
        </p:nvSpPr>
        <p:spPr>
          <a:xfrm xmlns:a="http://schemas.openxmlformats.org/drawingml/2006/main">
            <a:off x="7498079"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838289"/>
                </a:solidFill>
                <a:latin typeface="Consolas"/>
                <a:ea typeface="Consolas"/>
                <a:cs typeface="Consolas"/>
              </a:defRPr>
            </a:pPr>
            <a:r>
              <a:rPr sz="1050" b="0">
                <a:solidFill>
                  <a:srgbClr val="838289"/>
                </a:solidFill>
                <a:latin typeface="Consolas"/>
                <a:ea typeface="Consolas"/>
                <a:cs typeface="Consolas"/>
              </a:rPr>
              <a:t>provider/model</a:t>
            </a:r>
          </a:p>
        </p:txBody>
      </p:sp>
      <p:sp>
        <p:nvSpPr>
          <p:cNvPr id="20" name="Rounded Rectangle 19">
            <a:extLst xmlns:a="http://schemas.openxmlformats.org/drawingml/2006/main">
              <a:ext uri="{FF2B5EF4-FFF2-40B4-BE49-F238E27FC236}">
                <a16:creationId xmlns:a16="http://schemas.microsoft.com/office/drawing/2014/main" id="{5088EC6C-45E3-431E-BD82-4FCAC263AF57}"/>
              </a:ext>
            </a:extLst>
          </p:cNvPr>
          <p:cNvSpPr>
            <a:spLocks xmlns:a="http://schemas.openxmlformats.org/drawingml/2006/main" noGrp="1"/>
          </p:cNvSpPr>
          <p:nvPr/>
        </p:nvSpPr>
        <p:spPr>
          <a:xfrm xmlns:a="http://schemas.openxmlformats.org/drawingml/2006/main">
            <a:off x="9509760" y="2286000"/>
            <a:ext cx="1920240" cy="1828800"/>
          </a:xfrm>
          <a:prstGeom xmlns:a="http://schemas.openxmlformats.org/drawingml/2006/main" prst="roundRect">
            <a:avLst>
              <a:gd name="adj" fmla="val 4167"/>
            </a:avLst>
          </a:prstGeom>
          <a:solidFill xmlns:a="http://schemas.openxmlformats.org/drawingml/2006/main">
            <a:srgbClr val="000000"/>
          </a:solidFill>
          <a:ln xmlns:a="http://schemas.openxmlformats.org/drawingml/2006/main" w="9525">
            <a:solidFill>
              <a:srgbClr val="A6E34A"/>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5782908E-85BD-4785-9AB7-2C5F10E8855C}"/>
              </a:ext>
            </a:extLst>
          </p:cNvPr>
          <p:cNvSpPr>
            <a:spLocks xmlns:a="http://schemas.openxmlformats.org/drawingml/2006/main" noGrp="1"/>
          </p:cNvSpPr>
          <p:nvPr/>
        </p:nvSpPr>
        <p:spPr>
          <a:xfrm xmlns:a="http://schemas.openxmlformats.org/drawingml/2006/main">
            <a:off x="9692640" y="256032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FFFFFF"/>
                </a:solidFill>
                <a:latin typeface="Alliance No.2"/>
                <a:ea typeface="Alliance No.2"/>
                <a:cs typeface="Alliance No.2"/>
              </a:defRPr>
            </a:pPr>
            <a:r>
              <a:rPr sz="1575" b="0">
                <a:solidFill>
                  <a:srgbClr val="FFFFFF"/>
                </a:solidFill>
                <a:latin typeface="Alliance No.2"/>
                <a:ea typeface="Alliance No.2"/>
                <a:cs typeface="Alliance No.2"/>
              </a:rPr>
              <a:t>Shell</a:t>
            </a:r>
          </a:p>
        </p:txBody>
      </p:sp>
      <p:sp>
        <p:nvSpPr>
          <p:cNvPr id="22" name="TextBox 21">
            <a:extLst xmlns:a="http://schemas.openxmlformats.org/drawingml/2006/main">
              <a:ext uri="{FF2B5EF4-FFF2-40B4-BE49-F238E27FC236}">
                <a16:creationId xmlns:a16="http://schemas.microsoft.com/office/drawing/2014/main" id="{026D9A8B-788D-438A-8D79-5494E55B9F67}"/>
              </a:ext>
            </a:extLst>
          </p:cNvPr>
          <p:cNvSpPr>
            <a:spLocks xmlns:a="http://schemas.openxmlformats.org/drawingml/2006/main" noGrp="1"/>
          </p:cNvSpPr>
          <p:nvPr/>
        </p:nvSpPr>
        <p:spPr>
          <a:xfrm xmlns:a="http://schemas.openxmlformats.org/drawingml/2006/main">
            <a:off x="9692640" y="30175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A6E34A"/>
                </a:solidFill>
                <a:latin typeface="Consolas"/>
                <a:ea typeface="Consolas"/>
                <a:cs typeface="Consolas"/>
              </a:defRPr>
            </a:pPr>
            <a:r>
              <a:rPr sz="1200" b="1">
                <a:solidFill>
                  <a:srgbClr val="A6E34A"/>
                </a:solidFill>
                <a:latin typeface="Consolas"/>
                <a:ea typeface="Consolas"/>
                <a:cs typeface="Consolas"/>
              </a:rPr>
              <a:t>SUPPORTED</a:t>
            </a:r>
          </a:p>
        </p:txBody>
      </p:sp>
      <p:sp>
        <p:nvSpPr>
          <p:cNvPr id="23" name="TextBox 22">
            <a:extLst xmlns:a="http://schemas.openxmlformats.org/drawingml/2006/main">
              <a:ext uri="{FF2B5EF4-FFF2-40B4-BE49-F238E27FC236}">
                <a16:creationId xmlns:a16="http://schemas.microsoft.com/office/drawing/2014/main" id="{43585801-AC8B-4156-B8C9-10A6CAF2659E}"/>
              </a:ext>
            </a:extLst>
          </p:cNvPr>
          <p:cNvSpPr>
            <a:spLocks xmlns:a="http://schemas.openxmlformats.org/drawingml/2006/main" noGrp="1"/>
          </p:cNvSpPr>
          <p:nvPr/>
        </p:nvSpPr>
        <p:spPr>
          <a:xfrm xmlns:a="http://schemas.openxmlformats.org/drawingml/2006/main">
            <a:off x="9692640" y="347472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838289"/>
                </a:solidFill>
                <a:latin typeface="Consolas"/>
                <a:ea typeface="Consolas"/>
                <a:cs typeface="Consolas"/>
              </a:defRPr>
            </a:pPr>
            <a:r>
              <a:rPr sz="1050" b="0">
                <a:solidFill>
                  <a:srgbClr val="838289"/>
                </a:solidFill>
                <a:latin typeface="Consolas"/>
                <a:ea typeface="Consolas"/>
                <a:cs typeface="Consolas"/>
              </a:rPr>
              <a:t>$ bash</a:t>
            </a:r>
          </a:p>
        </p:txBody>
      </p:sp>
      <p:sp>
        <p:nvSpPr>
          <p:cNvPr id="24" name="Rounded Rectangle 23">
            <a:extLst xmlns:a="http://schemas.openxmlformats.org/drawingml/2006/main">
              <a:ext uri="{FF2B5EF4-FFF2-40B4-BE49-F238E27FC236}">
                <a16:creationId xmlns:a16="http://schemas.microsoft.com/office/drawing/2014/main" id="{BE63F1A7-EF4F-45F7-8257-A4E3A51706BD}"/>
              </a:ext>
            </a:extLst>
          </p:cNvPr>
          <p:cNvSpPr>
            <a:spLocks xmlns:a="http://schemas.openxmlformats.org/drawingml/2006/main" noGrp="1"/>
          </p:cNvSpPr>
          <p:nvPr/>
        </p:nvSpPr>
        <p:spPr>
          <a:xfrm xmlns:a="http://schemas.openxmlformats.org/drawingml/2006/main">
            <a:off x="731520" y="4480560"/>
            <a:ext cx="1920240" cy="1828800"/>
          </a:xfrm>
          <a:prstGeom xmlns:a="http://schemas.openxmlformats.org/drawingml/2006/main" prst="roundRect">
            <a:avLst>
              <a:gd name="adj" fmla="val 4167"/>
            </a:avLst>
          </a:prstGeom>
          <a:solidFill xmlns:a="http://schemas.openxmlformats.org/drawingml/2006/main">
            <a:srgbClr val="27262B"/>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F77B6A7B-578B-43BD-A481-C6B16B29D2F8}"/>
              </a:ext>
            </a:extLst>
          </p:cNvPr>
          <p:cNvSpPr>
            <a:spLocks xmlns:a="http://schemas.openxmlformats.org/drawingml/2006/main" noGrp="1"/>
          </p:cNvSpPr>
          <p:nvPr/>
        </p:nvSpPr>
        <p:spPr>
          <a:xfrm xmlns:a="http://schemas.openxmlformats.org/drawingml/2006/main">
            <a:off x="914400"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BCBBC2"/>
                </a:solidFill>
                <a:latin typeface="Alliance No.2"/>
                <a:ea typeface="Alliance No.2"/>
                <a:cs typeface="Alliance No.2"/>
              </a:defRPr>
            </a:pPr>
            <a:r>
              <a:rPr sz="1575" b="0">
                <a:solidFill>
                  <a:srgbClr val="BCBBC2"/>
                </a:solidFill>
                <a:latin typeface="Alliance No.2"/>
                <a:ea typeface="Alliance No.2"/>
                <a:cs typeface="Alliance No.2"/>
              </a:rPr>
              <a:t>Aider</a:t>
            </a:r>
          </a:p>
        </p:txBody>
      </p:sp>
      <p:sp>
        <p:nvSpPr>
          <p:cNvPr id="26" name="TextBox 25">
            <a:extLst xmlns:a="http://schemas.openxmlformats.org/drawingml/2006/main">
              <a:ext uri="{FF2B5EF4-FFF2-40B4-BE49-F238E27FC236}">
                <a16:creationId xmlns:a16="http://schemas.microsoft.com/office/drawing/2014/main" id="{7C603D27-3FA4-49F8-B4E0-8B30A99B4D91}"/>
              </a:ext>
            </a:extLst>
          </p:cNvPr>
          <p:cNvSpPr>
            <a:spLocks xmlns:a="http://schemas.openxmlformats.org/drawingml/2006/main" noGrp="1"/>
          </p:cNvSpPr>
          <p:nvPr/>
        </p:nvSpPr>
        <p:spPr>
          <a:xfrm xmlns:a="http://schemas.openxmlformats.org/drawingml/2006/main">
            <a:off x="914400"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838289"/>
                </a:solidFill>
                <a:latin typeface="Consolas"/>
                <a:ea typeface="Consolas"/>
                <a:cs typeface="Consolas"/>
              </a:defRPr>
            </a:pPr>
            <a:r>
              <a:rPr sz="1200" b="1">
                <a:solidFill>
                  <a:srgbClr val="838289"/>
                </a:solidFill>
                <a:latin typeface="Consolas"/>
                <a:ea typeface="Consolas"/>
                <a:cs typeface="Consolas"/>
              </a:rPr>
              <a:t>CATALOGUED</a:t>
            </a:r>
          </a:p>
        </p:txBody>
      </p:sp>
      <p:sp>
        <p:nvSpPr>
          <p:cNvPr id="27" name="TextBox 26">
            <a:extLst xmlns:a="http://schemas.openxmlformats.org/drawingml/2006/main">
              <a:ext uri="{FF2B5EF4-FFF2-40B4-BE49-F238E27FC236}">
                <a16:creationId xmlns:a16="http://schemas.microsoft.com/office/drawing/2014/main" id="{66B59384-B6ED-4A36-ADA9-D8544110DAEE}"/>
              </a:ext>
            </a:extLst>
          </p:cNvPr>
          <p:cNvSpPr>
            <a:spLocks xmlns:a="http://schemas.openxmlformats.org/drawingml/2006/main" noGrp="1"/>
          </p:cNvSpPr>
          <p:nvPr/>
        </p:nvSpPr>
        <p:spPr>
          <a:xfrm xmlns:a="http://schemas.openxmlformats.org/drawingml/2006/main">
            <a:off x="914400"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838289"/>
                </a:solidFill>
                <a:latin typeface="Consolas"/>
                <a:ea typeface="Consolas"/>
                <a:cs typeface="Consolas"/>
              </a:defRPr>
            </a:pPr>
            <a:r>
              <a:rPr sz="1050" b="0">
                <a:solidFill>
                  <a:srgbClr val="838289"/>
                </a:solidFill>
                <a:latin typeface="Consolas"/>
                <a:ea typeface="Consolas"/>
                <a:cs typeface="Consolas"/>
              </a:rPr>
              <a:t>$ aider</a:t>
            </a:r>
          </a:p>
        </p:txBody>
      </p:sp>
      <p:sp>
        <p:nvSpPr>
          <p:cNvPr id="28" name="Rounded Rectangle 27">
            <a:extLst xmlns:a="http://schemas.openxmlformats.org/drawingml/2006/main">
              <a:ext uri="{FF2B5EF4-FFF2-40B4-BE49-F238E27FC236}">
                <a16:creationId xmlns:a16="http://schemas.microsoft.com/office/drawing/2014/main" id="{824FDED1-2C3A-46E8-BBBB-FACE58F1D567}"/>
              </a:ext>
            </a:extLst>
          </p:cNvPr>
          <p:cNvSpPr>
            <a:spLocks xmlns:a="http://schemas.openxmlformats.org/drawingml/2006/main" noGrp="1"/>
          </p:cNvSpPr>
          <p:nvPr/>
        </p:nvSpPr>
        <p:spPr>
          <a:xfrm xmlns:a="http://schemas.openxmlformats.org/drawingml/2006/main">
            <a:off x="2926080" y="4480560"/>
            <a:ext cx="1920240" cy="1828800"/>
          </a:xfrm>
          <a:prstGeom xmlns:a="http://schemas.openxmlformats.org/drawingml/2006/main" prst="roundRect">
            <a:avLst>
              <a:gd name="adj" fmla="val 4167"/>
            </a:avLst>
          </a:prstGeom>
          <a:solidFill xmlns:a="http://schemas.openxmlformats.org/drawingml/2006/main">
            <a:srgbClr val="27262B"/>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TextBox 28">
            <a:extLst xmlns:a="http://schemas.openxmlformats.org/drawingml/2006/main">
              <a:ext uri="{FF2B5EF4-FFF2-40B4-BE49-F238E27FC236}">
                <a16:creationId xmlns:a16="http://schemas.microsoft.com/office/drawing/2014/main" id="{BE99C4CD-AA0C-494E-859F-91FBE00DADF8}"/>
              </a:ext>
            </a:extLst>
          </p:cNvPr>
          <p:cNvSpPr>
            <a:spLocks xmlns:a="http://schemas.openxmlformats.org/drawingml/2006/main" noGrp="1"/>
          </p:cNvSpPr>
          <p:nvPr/>
        </p:nvSpPr>
        <p:spPr>
          <a:xfrm xmlns:a="http://schemas.openxmlformats.org/drawingml/2006/main">
            <a:off x="3108960"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BCBBC2"/>
                </a:solidFill>
                <a:latin typeface="Alliance No.2"/>
                <a:ea typeface="Alliance No.2"/>
                <a:cs typeface="Alliance No.2"/>
              </a:defRPr>
            </a:pPr>
            <a:r>
              <a:rPr sz="1575" b="0">
                <a:solidFill>
                  <a:srgbClr val="BCBBC2"/>
                </a:solidFill>
                <a:latin typeface="Alliance No.2"/>
                <a:ea typeface="Alliance No.2"/>
                <a:cs typeface="Alliance No.2"/>
              </a:rPr>
              <a:t>Cline</a:t>
            </a:r>
          </a:p>
        </p:txBody>
      </p:sp>
      <p:sp>
        <p:nvSpPr>
          <p:cNvPr id="30" name="TextBox 29">
            <a:extLst xmlns:a="http://schemas.openxmlformats.org/drawingml/2006/main">
              <a:ext uri="{FF2B5EF4-FFF2-40B4-BE49-F238E27FC236}">
                <a16:creationId xmlns:a16="http://schemas.microsoft.com/office/drawing/2014/main" id="{1D76D07E-0794-439E-8627-867C3A55EB44}"/>
              </a:ext>
            </a:extLst>
          </p:cNvPr>
          <p:cNvSpPr>
            <a:spLocks xmlns:a="http://schemas.openxmlformats.org/drawingml/2006/main" noGrp="1"/>
          </p:cNvSpPr>
          <p:nvPr/>
        </p:nvSpPr>
        <p:spPr>
          <a:xfrm xmlns:a="http://schemas.openxmlformats.org/drawingml/2006/main">
            <a:off x="3108960"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838289"/>
                </a:solidFill>
                <a:latin typeface="Consolas"/>
                <a:ea typeface="Consolas"/>
                <a:cs typeface="Consolas"/>
              </a:defRPr>
            </a:pPr>
            <a:r>
              <a:rPr sz="1200" b="1">
                <a:solidFill>
                  <a:srgbClr val="838289"/>
                </a:solidFill>
                <a:latin typeface="Consolas"/>
                <a:ea typeface="Consolas"/>
                <a:cs typeface="Consolas"/>
              </a:rPr>
              <a:t>CATALOGUED</a:t>
            </a:r>
          </a:p>
        </p:txBody>
      </p:sp>
      <p:sp>
        <p:nvSpPr>
          <p:cNvPr id="31" name="TextBox 30">
            <a:extLst xmlns:a="http://schemas.openxmlformats.org/drawingml/2006/main">
              <a:ext uri="{FF2B5EF4-FFF2-40B4-BE49-F238E27FC236}">
                <a16:creationId xmlns:a16="http://schemas.microsoft.com/office/drawing/2014/main" id="{826F0BBD-A41A-4986-A112-7840190C4C60}"/>
              </a:ext>
            </a:extLst>
          </p:cNvPr>
          <p:cNvSpPr>
            <a:spLocks xmlns:a="http://schemas.openxmlformats.org/drawingml/2006/main" noGrp="1"/>
          </p:cNvSpPr>
          <p:nvPr/>
        </p:nvSpPr>
        <p:spPr>
          <a:xfrm xmlns:a="http://schemas.openxmlformats.org/drawingml/2006/main">
            <a:off x="3108960"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838289"/>
                </a:solidFill>
                <a:latin typeface="Consolas"/>
                <a:ea typeface="Consolas"/>
                <a:cs typeface="Consolas"/>
              </a:defRPr>
            </a:pPr>
            <a:r>
              <a:rPr sz="1050" b="0">
                <a:solidFill>
                  <a:srgbClr val="838289"/>
                </a:solidFill>
                <a:latin typeface="Consolas"/>
                <a:ea typeface="Consolas"/>
                <a:cs typeface="Consolas"/>
              </a:rPr>
              <a:t>$ cline</a:t>
            </a:r>
          </a:p>
        </p:txBody>
      </p:sp>
      <p:sp>
        <p:nvSpPr>
          <p:cNvPr id="32" name="Rounded Rectangle 31">
            <a:extLst xmlns:a="http://schemas.openxmlformats.org/drawingml/2006/main">
              <a:ext uri="{FF2B5EF4-FFF2-40B4-BE49-F238E27FC236}">
                <a16:creationId xmlns:a16="http://schemas.microsoft.com/office/drawing/2014/main" id="{605A99EC-A371-41B5-A5A7-F1F480797C8F}"/>
              </a:ext>
            </a:extLst>
          </p:cNvPr>
          <p:cNvSpPr>
            <a:spLocks xmlns:a="http://schemas.openxmlformats.org/drawingml/2006/main" noGrp="1"/>
          </p:cNvSpPr>
          <p:nvPr/>
        </p:nvSpPr>
        <p:spPr>
          <a:xfrm xmlns:a="http://schemas.openxmlformats.org/drawingml/2006/main">
            <a:off x="5120640" y="4480560"/>
            <a:ext cx="1920240" cy="1828800"/>
          </a:xfrm>
          <a:prstGeom xmlns:a="http://schemas.openxmlformats.org/drawingml/2006/main" prst="roundRect">
            <a:avLst>
              <a:gd name="adj" fmla="val 4167"/>
            </a:avLst>
          </a:prstGeom>
          <a:solidFill xmlns:a="http://schemas.openxmlformats.org/drawingml/2006/main">
            <a:srgbClr val="27262B"/>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TextBox 32">
            <a:extLst xmlns:a="http://schemas.openxmlformats.org/drawingml/2006/main">
              <a:ext uri="{FF2B5EF4-FFF2-40B4-BE49-F238E27FC236}">
                <a16:creationId xmlns:a16="http://schemas.microsoft.com/office/drawing/2014/main" id="{1BAEA588-EB3E-4231-A9A7-327A2AFF7076}"/>
              </a:ext>
            </a:extLst>
          </p:cNvPr>
          <p:cNvSpPr>
            <a:spLocks xmlns:a="http://schemas.openxmlformats.org/drawingml/2006/main" noGrp="1"/>
          </p:cNvSpPr>
          <p:nvPr/>
        </p:nvSpPr>
        <p:spPr>
          <a:xfrm xmlns:a="http://schemas.openxmlformats.org/drawingml/2006/main">
            <a:off x="5303520"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BCBBC2"/>
                </a:solidFill>
                <a:latin typeface="Alliance No.2"/>
                <a:ea typeface="Alliance No.2"/>
                <a:cs typeface="Alliance No.2"/>
              </a:defRPr>
            </a:pPr>
            <a:r>
              <a:rPr sz="1575" b="0">
                <a:solidFill>
                  <a:srgbClr val="BCBBC2"/>
                </a:solidFill>
                <a:latin typeface="Alliance No.2"/>
                <a:ea typeface="Alliance No.2"/>
                <a:cs typeface="Alliance No.2"/>
              </a:rPr>
              <a:t>Goose</a:t>
            </a:r>
          </a:p>
        </p:txBody>
      </p:sp>
      <p:sp>
        <p:nvSpPr>
          <p:cNvPr id="34" name="TextBox 33">
            <a:extLst xmlns:a="http://schemas.openxmlformats.org/drawingml/2006/main">
              <a:ext uri="{FF2B5EF4-FFF2-40B4-BE49-F238E27FC236}">
                <a16:creationId xmlns:a16="http://schemas.microsoft.com/office/drawing/2014/main" id="{52807145-3B13-4F3F-B832-694FB2B23851}"/>
              </a:ext>
            </a:extLst>
          </p:cNvPr>
          <p:cNvSpPr>
            <a:spLocks xmlns:a="http://schemas.openxmlformats.org/drawingml/2006/main" noGrp="1"/>
          </p:cNvSpPr>
          <p:nvPr/>
        </p:nvSpPr>
        <p:spPr>
          <a:xfrm xmlns:a="http://schemas.openxmlformats.org/drawingml/2006/main">
            <a:off x="5303520"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838289"/>
                </a:solidFill>
                <a:latin typeface="Consolas"/>
                <a:ea typeface="Consolas"/>
                <a:cs typeface="Consolas"/>
              </a:defRPr>
            </a:pPr>
            <a:r>
              <a:rPr sz="1200" b="1">
                <a:solidFill>
                  <a:srgbClr val="838289"/>
                </a:solidFill>
                <a:latin typeface="Consolas"/>
                <a:ea typeface="Consolas"/>
                <a:cs typeface="Consolas"/>
              </a:rPr>
              <a:t>CATALOGUED</a:t>
            </a:r>
          </a:p>
        </p:txBody>
      </p:sp>
      <p:sp>
        <p:nvSpPr>
          <p:cNvPr id="35" name="TextBox 34">
            <a:extLst xmlns:a="http://schemas.openxmlformats.org/drawingml/2006/main">
              <a:ext uri="{FF2B5EF4-FFF2-40B4-BE49-F238E27FC236}">
                <a16:creationId xmlns:a16="http://schemas.microsoft.com/office/drawing/2014/main" id="{7D8291BA-E35E-4EE3-BA7A-24D4240419CE}"/>
              </a:ext>
            </a:extLst>
          </p:cNvPr>
          <p:cNvSpPr>
            <a:spLocks xmlns:a="http://schemas.openxmlformats.org/drawingml/2006/main" noGrp="1"/>
          </p:cNvSpPr>
          <p:nvPr/>
        </p:nvSpPr>
        <p:spPr>
          <a:xfrm xmlns:a="http://schemas.openxmlformats.org/drawingml/2006/main">
            <a:off x="5303520"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838289"/>
                </a:solidFill>
                <a:latin typeface="Consolas"/>
                <a:ea typeface="Consolas"/>
                <a:cs typeface="Consolas"/>
              </a:defRPr>
            </a:pPr>
            <a:r>
              <a:rPr sz="1050" b="0">
                <a:solidFill>
                  <a:srgbClr val="838289"/>
                </a:solidFill>
                <a:latin typeface="Consolas"/>
                <a:ea typeface="Consolas"/>
                <a:cs typeface="Consolas"/>
              </a:rPr>
              <a:t>$ goose</a:t>
            </a:r>
          </a:p>
        </p:txBody>
      </p:sp>
      <p:sp>
        <p:nvSpPr>
          <p:cNvPr id="36" name="Rounded Rectangle 35">
            <a:extLst xmlns:a="http://schemas.openxmlformats.org/drawingml/2006/main">
              <a:ext uri="{FF2B5EF4-FFF2-40B4-BE49-F238E27FC236}">
                <a16:creationId xmlns:a16="http://schemas.microsoft.com/office/drawing/2014/main" id="{C8CC849F-951C-4708-8B6D-B5A416E1ED52}"/>
              </a:ext>
            </a:extLst>
          </p:cNvPr>
          <p:cNvSpPr>
            <a:spLocks xmlns:a="http://schemas.openxmlformats.org/drawingml/2006/main" noGrp="1"/>
          </p:cNvSpPr>
          <p:nvPr/>
        </p:nvSpPr>
        <p:spPr>
          <a:xfrm xmlns:a="http://schemas.openxmlformats.org/drawingml/2006/main">
            <a:off x="7315199" y="4480560"/>
            <a:ext cx="1920240" cy="1828800"/>
          </a:xfrm>
          <a:prstGeom xmlns:a="http://schemas.openxmlformats.org/drawingml/2006/main" prst="roundRect">
            <a:avLst>
              <a:gd name="adj" fmla="val 4167"/>
            </a:avLst>
          </a:prstGeom>
          <a:solidFill xmlns:a="http://schemas.openxmlformats.org/drawingml/2006/main">
            <a:srgbClr val="27262B"/>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7" name="TextBox 36">
            <a:extLst xmlns:a="http://schemas.openxmlformats.org/drawingml/2006/main">
              <a:ext uri="{FF2B5EF4-FFF2-40B4-BE49-F238E27FC236}">
                <a16:creationId xmlns:a16="http://schemas.microsoft.com/office/drawing/2014/main" id="{808A5338-23E3-4401-BFD0-BDE37EB233A5}"/>
              </a:ext>
            </a:extLst>
          </p:cNvPr>
          <p:cNvSpPr>
            <a:spLocks xmlns:a="http://schemas.openxmlformats.org/drawingml/2006/main" noGrp="1"/>
          </p:cNvSpPr>
          <p:nvPr/>
        </p:nvSpPr>
        <p:spPr>
          <a:xfrm xmlns:a="http://schemas.openxmlformats.org/drawingml/2006/main">
            <a:off x="7498079"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BCBBC2"/>
                </a:solidFill>
                <a:latin typeface="Alliance No.2"/>
                <a:ea typeface="Alliance No.2"/>
                <a:cs typeface="Alliance No.2"/>
              </a:defRPr>
            </a:pPr>
            <a:r>
              <a:rPr sz="1575" b="0">
                <a:solidFill>
                  <a:srgbClr val="BCBBC2"/>
                </a:solidFill>
                <a:latin typeface="Alliance No.2"/>
                <a:ea typeface="Alliance No.2"/>
                <a:cs typeface="Alliance No.2"/>
              </a:rPr>
              <a:t>Kiro</a:t>
            </a:r>
          </a:p>
        </p:txBody>
      </p:sp>
      <p:sp>
        <p:nvSpPr>
          <p:cNvPr id="38" name="TextBox 37">
            <a:extLst xmlns:a="http://schemas.openxmlformats.org/drawingml/2006/main">
              <a:ext uri="{FF2B5EF4-FFF2-40B4-BE49-F238E27FC236}">
                <a16:creationId xmlns:a16="http://schemas.microsoft.com/office/drawing/2014/main" id="{23223178-48C1-4EE1-AD09-CCA9123274F7}"/>
              </a:ext>
            </a:extLst>
          </p:cNvPr>
          <p:cNvSpPr>
            <a:spLocks xmlns:a="http://schemas.openxmlformats.org/drawingml/2006/main" noGrp="1"/>
          </p:cNvSpPr>
          <p:nvPr/>
        </p:nvSpPr>
        <p:spPr>
          <a:xfrm xmlns:a="http://schemas.openxmlformats.org/drawingml/2006/main">
            <a:off x="7498079"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838289"/>
                </a:solidFill>
                <a:latin typeface="Consolas"/>
                <a:ea typeface="Consolas"/>
                <a:cs typeface="Consolas"/>
              </a:defRPr>
            </a:pPr>
            <a:r>
              <a:rPr sz="1200" b="1">
                <a:solidFill>
                  <a:srgbClr val="838289"/>
                </a:solidFill>
                <a:latin typeface="Consolas"/>
                <a:ea typeface="Consolas"/>
                <a:cs typeface="Consolas"/>
              </a:rPr>
              <a:t>CATALOGUED</a:t>
            </a:r>
          </a:p>
        </p:txBody>
      </p:sp>
      <p:sp>
        <p:nvSpPr>
          <p:cNvPr id="39" name="TextBox 38">
            <a:extLst xmlns:a="http://schemas.openxmlformats.org/drawingml/2006/main">
              <a:ext uri="{FF2B5EF4-FFF2-40B4-BE49-F238E27FC236}">
                <a16:creationId xmlns:a16="http://schemas.microsoft.com/office/drawing/2014/main" id="{6701B7AB-C654-437F-8C2F-47FE7344F62E}"/>
              </a:ext>
            </a:extLst>
          </p:cNvPr>
          <p:cNvSpPr>
            <a:spLocks xmlns:a="http://schemas.openxmlformats.org/drawingml/2006/main" noGrp="1"/>
          </p:cNvSpPr>
          <p:nvPr/>
        </p:nvSpPr>
        <p:spPr>
          <a:xfrm xmlns:a="http://schemas.openxmlformats.org/drawingml/2006/main">
            <a:off x="7498079"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838289"/>
                </a:solidFill>
                <a:latin typeface="Consolas"/>
                <a:ea typeface="Consolas"/>
                <a:cs typeface="Consolas"/>
              </a:defRPr>
            </a:pPr>
            <a:r>
              <a:rPr sz="1050" b="0">
                <a:solidFill>
                  <a:srgbClr val="838289"/>
                </a:solidFill>
                <a:latin typeface="Consolas"/>
                <a:ea typeface="Consolas"/>
                <a:cs typeface="Consolas"/>
              </a:rPr>
              <a:t>$ kiro</a:t>
            </a:r>
          </a:p>
        </p:txBody>
      </p:sp>
      <p:sp>
        <p:nvSpPr>
          <p:cNvPr id="40" name="Rounded Rectangle 39">
            <a:extLst xmlns:a="http://schemas.openxmlformats.org/drawingml/2006/main">
              <a:ext uri="{FF2B5EF4-FFF2-40B4-BE49-F238E27FC236}">
                <a16:creationId xmlns:a16="http://schemas.microsoft.com/office/drawing/2014/main" id="{E09A6F40-81F8-43A5-ACE4-4C8BE6159CD3}"/>
              </a:ext>
            </a:extLst>
          </p:cNvPr>
          <p:cNvSpPr>
            <a:spLocks xmlns:a="http://schemas.openxmlformats.org/drawingml/2006/main" noGrp="1"/>
          </p:cNvSpPr>
          <p:nvPr/>
        </p:nvSpPr>
        <p:spPr>
          <a:xfrm xmlns:a="http://schemas.openxmlformats.org/drawingml/2006/main">
            <a:off x="9509760" y="4480560"/>
            <a:ext cx="1920240" cy="1828800"/>
          </a:xfrm>
          <a:prstGeom xmlns:a="http://schemas.openxmlformats.org/drawingml/2006/main" prst="roundRect">
            <a:avLst>
              <a:gd name="adj" fmla="val 4167"/>
            </a:avLst>
          </a:prstGeom>
          <a:solidFill xmlns:a="http://schemas.openxmlformats.org/drawingml/2006/main">
            <a:srgbClr val="27262B"/>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1" name="TextBox 40">
            <a:extLst xmlns:a="http://schemas.openxmlformats.org/drawingml/2006/main">
              <a:ext uri="{FF2B5EF4-FFF2-40B4-BE49-F238E27FC236}">
                <a16:creationId xmlns:a16="http://schemas.microsoft.com/office/drawing/2014/main" id="{033AB722-4EF4-4E26-8934-3F084DB4265E}"/>
              </a:ext>
            </a:extLst>
          </p:cNvPr>
          <p:cNvSpPr>
            <a:spLocks xmlns:a="http://schemas.openxmlformats.org/drawingml/2006/main" noGrp="1"/>
          </p:cNvSpPr>
          <p:nvPr/>
        </p:nvSpPr>
        <p:spPr>
          <a:xfrm xmlns:a="http://schemas.openxmlformats.org/drawingml/2006/main">
            <a:off x="9692640" y="4754880"/>
            <a:ext cx="155448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575" b="0">
                <a:solidFill>
                  <a:srgbClr val="BCBBC2"/>
                </a:solidFill>
                <a:latin typeface="Alliance No.2"/>
                <a:ea typeface="Alliance No.2"/>
                <a:cs typeface="Alliance No.2"/>
              </a:defRPr>
            </a:pPr>
            <a:r>
              <a:rPr sz="1575" b="0">
                <a:solidFill>
                  <a:srgbClr val="BCBBC2"/>
                </a:solidFill>
                <a:latin typeface="Alliance No.2"/>
                <a:ea typeface="Alliance No.2"/>
                <a:cs typeface="Alliance No.2"/>
              </a:rPr>
              <a:t>Amp</a:t>
            </a:r>
          </a:p>
        </p:txBody>
      </p:sp>
      <p:sp>
        <p:nvSpPr>
          <p:cNvPr id="42" name="TextBox 41">
            <a:extLst xmlns:a="http://schemas.openxmlformats.org/drawingml/2006/main">
              <a:ext uri="{FF2B5EF4-FFF2-40B4-BE49-F238E27FC236}">
                <a16:creationId xmlns:a16="http://schemas.microsoft.com/office/drawing/2014/main" id="{3BF6E05A-841B-41D9-A541-A4470C3006D9}"/>
              </a:ext>
            </a:extLst>
          </p:cNvPr>
          <p:cNvSpPr>
            <a:spLocks xmlns:a="http://schemas.openxmlformats.org/drawingml/2006/main" noGrp="1"/>
          </p:cNvSpPr>
          <p:nvPr/>
        </p:nvSpPr>
        <p:spPr>
          <a:xfrm xmlns:a="http://schemas.openxmlformats.org/drawingml/2006/main">
            <a:off x="9692640" y="52120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200" b="1">
                <a:solidFill>
                  <a:srgbClr val="838289"/>
                </a:solidFill>
                <a:latin typeface="Consolas"/>
                <a:ea typeface="Consolas"/>
                <a:cs typeface="Consolas"/>
              </a:defRPr>
            </a:pPr>
            <a:r>
              <a:rPr sz="1200" b="1">
                <a:solidFill>
                  <a:srgbClr val="838289"/>
                </a:solidFill>
                <a:latin typeface="Consolas"/>
                <a:ea typeface="Consolas"/>
                <a:cs typeface="Consolas"/>
              </a:rPr>
              <a:t>CATALOGUED</a:t>
            </a:r>
          </a:p>
        </p:txBody>
      </p:sp>
      <p:sp>
        <p:nvSpPr>
          <p:cNvPr id="43" name="TextBox 42">
            <a:extLst xmlns:a="http://schemas.openxmlformats.org/drawingml/2006/main">
              <a:ext uri="{FF2B5EF4-FFF2-40B4-BE49-F238E27FC236}">
                <a16:creationId xmlns:a16="http://schemas.microsoft.com/office/drawing/2014/main" id="{A525B665-8826-47E1-992E-3F8C4DD75B2F}"/>
              </a:ext>
            </a:extLst>
          </p:cNvPr>
          <p:cNvSpPr>
            <a:spLocks xmlns:a="http://schemas.openxmlformats.org/drawingml/2006/main" noGrp="1"/>
          </p:cNvSpPr>
          <p:nvPr/>
        </p:nvSpPr>
        <p:spPr>
          <a:xfrm xmlns:a="http://schemas.openxmlformats.org/drawingml/2006/main">
            <a:off x="9692640" y="5669280"/>
            <a:ext cx="1554480" cy="2743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050" b="0">
                <a:solidFill>
                  <a:srgbClr val="838289"/>
                </a:solidFill>
                <a:latin typeface="Consolas"/>
                <a:ea typeface="Consolas"/>
                <a:cs typeface="Consolas"/>
              </a:defRPr>
            </a:pPr>
            <a:r>
              <a:rPr sz="1050" b="0">
                <a:solidFill>
                  <a:srgbClr val="838289"/>
                </a:solidFill>
                <a:latin typeface="Consolas"/>
                <a:ea typeface="Consolas"/>
                <a:cs typeface="Consolas"/>
              </a:rPr>
              <a:t>$ amp</a:t>
            </a:r>
          </a:p>
        </p:txBody>
      </p:sp>
      <p:sp>
        <p:nvSpPr>
          <p:cNvPr id="44" name="TextBox 43">
            <a:extLst xmlns:a="http://schemas.openxmlformats.org/drawingml/2006/main">
              <a:ext uri="{FF2B5EF4-FFF2-40B4-BE49-F238E27FC236}">
                <a16:creationId xmlns:a16="http://schemas.microsoft.com/office/drawing/2014/main" id="{0BD00CA7-9C3D-4D03-9CF4-73C064C405E4}"/>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050" b="0">
                <a:solidFill>
                  <a:srgbClr val="838289"/>
                </a:solidFill>
                <a:latin typeface="Consolas"/>
                <a:ea typeface="Consolas"/>
                <a:cs typeface="Consolas"/>
              </a:defRPr>
            </a:pPr>
            <a:r>
              <a:rPr sz="1050" b="0">
                <a:solidFill>
                  <a:srgbClr val="838289"/>
                </a:solidFill>
                <a:latin typeface="Consolas"/>
                <a:ea typeface="Consolas"/>
                <a:cs typeface="Consolas"/>
              </a:rPr>
              <a:t>11/13</a:t>
            </a:r>
          </a:p>
        </p:txBody>
      </p:sp>
      <p:sp>
        <p:nvSpPr>
          <p:cNvPr id="45" name="Callstack accent rule">
            <a:extLst xmlns:a="http://schemas.openxmlformats.org/drawingml/2006/main">
              <a:ext uri="{FF2B5EF4-FFF2-40B4-BE49-F238E27FC236}">
                <a16:creationId xmlns:a16="http://schemas.microsoft.com/office/drawing/2014/main" id="{A6A10885-CB00-4FF3-B2F9-D75478DFB7E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Tree>
    <p:extLst>
      <p:ext uri="{BB962C8B-B14F-4D97-AF65-F5344CB8AC3E}">
        <p14:creationId xmlns:p14="http://schemas.microsoft.com/office/powerpoint/2010/main" val="719880188"/>
      </p:ext>
    </p:extLst>
  </p:cSld>
</p:sld>
</file>

<file path=ppt/slides/slide12.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2" name="Picture 1"/>
          <p:cNvPicPr>
            <a:picLocks xmlns:a="http://schemas.openxmlformats.org/drawingml/2006/main" noChangeAspect="1"/>
          </p:cNvPicPr>
          <p:nvPr/>
        </p:nvPicPr>
        <p:blipFill>
          <a:blip xmlns:r="http://schemas.openxmlformats.org/officeDocument/2006/relationships" xmlns:a="http://schemas.openxmlformats.org/drawingml/2006/main" r:embed="R81dbe901752544ed"/>
          <a:stretch xmlns:a="http://schemas.openxmlformats.org/drawingml/2006/main">
            <a:fillRect l="0" t="0" r="0" b="0"/>
          </a:stretch>
        </p:blipFill>
        <p:spPr>
          <a:xfrm xmlns:a="http://schemas.openxmlformats.org/drawingml/2006/main">
            <a:off x="9810750" y="800100"/>
            <a:ext cx="1428750" cy="1143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609600" y="1952625"/>
            <a:ext cx="8572500" cy="8572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4050" b="0">
                <a:solidFill>
                  <a:srgbClr val="FFFFFF"/>
                </a:solidFill>
                <a:latin typeface="Alliance No.2"/>
                <a:ea typeface="Alliance No.2"/>
                <a:cs typeface="Alliance No.2"/>
              </a:defRPr>
            </a:pPr>
            <a:r>
              <a:rPr sz="4050" b="0">
                <a:solidFill>
                  <a:srgbClr val="FFFFFF"/>
                </a:solidFill>
                <a:latin typeface="Alliance No.2"/>
                <a:ea typeface="Alliance No.2"/>
                <a:cs typeface="Alliance No.2"/>
              </a:rPr>
              <a:t>Make every handoff visible.</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609600" y="2914650"/>
            <a:ext cx="8096250" cy="5143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75" b="0">
                <a:solidFill>
                  <a:srgbClr val="E9E7EE"/>
                </a:solidFill>
                <a:latin typeface="Switzer"/>
                <a:ea typeface="Switzer"/>
                <a:cs typeface="Switzer"/>
              </a:defRPr>
            </a:pPr>
            <a:r>
              <a:rPr sz="1875" b="0">
                <a:solidFill>
                  <a:srgbClr val="E9E7EE"/>
                </a:solidFill>
                <a:latin typeface="Switzer"/>
                <a:ea typeface="Switzer"/>
                <a:cs typeface="Switzer"/>
              </a:rPr>
              <a:t>Without a heavyweight framework or orchestration server.</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609600" y="3886200"/>
            <a:ext cx="7239000" cy="1645920"/>
          </a:xfrm>
          <a:prstGeom xmlns:a="http://schemas.openxmlformats.org/drawingml/2006/main" prst="roundRect">
            <a:avLst>
              <a:gd name="adj" fmla="val 4630"/>
            </a:avLst>
          </a:prstGeom>
          <a:solidFill xmlns:a="http://schemas.openxmlformats.org/drawingml/2006/main">
            <a:srgbClr val="000000"/>
          </a:solidFill>
          <a:ln xmlns:a="http://schemas.openxmlformats.org/drawingml/2006/main" w="9525">
            <a:solidFill>
              <a:srgbClr val="646369"/>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876300" y="4105275"/>
            <a:ext cx="6667500" cy="1314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500" b="0">
                <a:solidFill>
                  <a:srgbClr val="A6E34A"/>
                </a:solidFill>
                <a:latin typeface="Consolas"/>
                <a:ea typeface="Consolas"/>
                <a:cs typeface="Consolas"/>
              </a:defRPr>
            </a:pPr>
            <a:r>
              <a:rPr sz="1500" b="0">
                <a:solidFill>
                  <a:srgbClr val="A6E34A"/>
                </a:solidFill>
                <a:latin typeface="Consolas"/>
                <a:ea typeface="Consolas"/>
                <a:cs typeface="Consolas"/>
              </a:rPr>
              <a:t>$ agents-commander --doctor .</a:t>
            </a:r>
          </a:p>
          <a:p xmlns:a="http://schemas.openxmlformats.org/drawingml/2006/main">
            <a:pPr algn="l">
              <a:spcAft>
                <a:spcPts val="400"/>
              </a:spcAft>
              <a:buNone/>
              <a:defRPr sz="1500" b="0">
                <a:solidFill>
                  <a:srgbClr val="A6E34A"/>
                </a:solidFill>
                <a:latin typeface="Consolas"/>
                <a:ea typeface="Consolas"/>
                <a:cs typeface="Consolas"/>
              </a:defRPr>
            </a:pPr>
            <a:r>
              <a:rPr sz="1500" b="0">
                <a:solidFill>
                  <a:srgbClr val="A6E34A"/>
                </a:solidFill>
                <a:latin typeface="Consolas"/>
                <a:ea typeface="Consolas"/>
                <a:cs typeface="Consolas"/>
              </a:rPr>
              <a:t>$ agents-commander --demo</a:t>
            </a:r>
          </a:p>
          <a:p xmlns:a="http://schemas.openxmlformats.org/drawingml/2006/main">
            <a:pPr algn="l">
              <a:spcAft>
                <a:spcPts val="400"/>
              </a:spcAft>
              <a:buNone/>
              <a:defRPr sz="1500" b="0">
                <a:solidFill>
                  <a:srgbClr val="A6E34A"/>
                </a:solidFill>
                <a:latin typeface="Consolas"/>
                <a:ea typeface="Consolas"/>
                <a:cs typeface="Consolas"/>
              </a:defRPr>
            </a:pPr>
            <a:r>
              <a:rPr sz="1500" b="0">
                <a:solidFill>
                  <a:srgbClr val="A6E34A"/>
                </a:solidFill>
                <a:latin typeface="Consolas"/>
                <a:ea typeface="Consolas"/>
                <a:cs typeface="Consolas"/>
              </a:rPr>
              <a:t>$ agents-commander --conference --panels 2 .</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609600" y="5848350"/>
            <a:ext cx="809625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25" b="0">
                <a:solidFill>
                  <a:srgbClr val="A6E34A"/>
                </a:solidFill>
                <a:latin typeface="Consolas"/>
                <a:ea typeface="Consolas"/>
                <a:cs typeface="Consolas"/>
              </a:defRPr>
            </a:pPr>
            <a:r>
              <a:rPr sz="1425" b="0">
                <a:solidFill>
                  <a:srgbClr val="A6E34A"/>
                </a:solidFill>
                <a:latin typeface="Consolas"/>
                <a:ea typeface="Consolas"/>
                <a:cs typeface="Consolas"/>
              </a:rPr>
              <a:t>github.com/lech-kalinowski/agents-commander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0" y="64008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0">
                <a:solidFill>
                  <a:srgbClr val="BCBBC2"/>
                </a:solidFill>
                <a:latin typeface="Switzer"/>
                <a:ea typeface="Switzer"/>
                <a:cs typeface="Switzer"/>
              </a:defRPr>
            </a:pPr>
            <a:r>
              <a:rPr sz="1125" b="0">
                <a:solidFill>
                  <a:srgbClr val="BCBBC2"/>
                </a:solidFill>
                <a:latin typeface="Switzer"/>
                <a:ea typeface="Switzer"/>
                <a:cs typeface="Switzer"/>
              </a:rPr>
              <a:t>Node.js 22+  •  Python 3  •  macOS / Linux / WSL2  •  v0.1.5</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050" b="0">
                <a:solidFill>
                  <a:srgbClr val="BCBBC2"/>
                </a:solidFill>
                <a:latin typeface="Consolas"/>
                <a:ea typeface="Consolas"/>
                <a:cs typeface="Consolas"/>
              </a:defRPr>
            </a:pPr>
            <a:r>
              <a:rPr sz="1050" b="0">
                <a:solidFill>
                  <a:srgbClr val="BCBBC2"/>
                </a:solidFill>
                <a:latin typeface="Consolas"/>
                <a:ea typeface="Consolas"/>
                <a:cs typeface="Consolas"/>
              </a:rPr>
              <a:t>12/13</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e8a93e39ff840cc"/>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1080936326"/>
      </p:ext>
    </p:extLst>
  </p:cSld>
</p:sld>
</file>

<file path=ppt/slides/slide13.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2" name="Picture 1"/>
          <p:cNvPicPr>
            <a:picLocks xmlns:a="http://schemas.openxmlformats.org/drawingml/2006/main" noChangeAspect="1"/>
          </p:cNvPicPr>
          <p:nvPr/>
        </p:nvPicPr>
        <p:blipFill>
          <a:blip xmlns:r="http://schemas.openxmlformats.org/officeDocument/2006/relationships" xmlns:a="http://schemas.openxmlformats.org/drawingml/2006/main" r:embed="Recd10a2f3c9e4994"/>
          <a:stretch xmlns:a="http://schemas.openxmlformats.org/drawingml/2006/main">
            <a:fillRect l="0" t="0" r="0" b="0"/>
          </a:stretch>
        </p:blipFill>
        <p:spPr>
          <a:xfrm xmlns:a="http://schemas.openxmlformats.org/drawingml/2006/main">
            <a:off x="9906000" y="723900"/>
            <a:ext cx="1333500" cy="10668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609600" y="1952625"/>
            <a:ext cx="9810750" cy="12344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750" b="0">
                <a:solidFill>
                  <a:srgbClr val="FFFFFF"/>
                </a:solidFill>
                <a:latin typeface="Alliance No.2"/>
                <a:ea typeface="Alliance No.2"/>
                <a:cs typeface="Alliance No.2"/>
              </a:defRPr>
            </a:pPr>
            <a:r>
              <a:rPr sz="3750" b="0">
                <a:solidFill>
                  <a:srgbClr val="FFFFFF"/>
                </a:solidFill>
                <a:latin typeface="Alliance No.2"/>
                <a:ea typeface="Alliance No.2"/>
                <a:cs typeface="Alliance No.2"/>
              </a:rPr>
              <a:t>Where should agent collaboration fail closed?</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609600" y="3067050"/>
            <a:ext cx="885825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0">
                <a:solidFill>
                  <a:srgbClr val="E9E7EE"/>
                </a:solidFill>
                <a:latin typeface="Switzer"/>
                <a:ea typeface="Switzer"/>
                <a:cs typeface="Switzer"/>
              </a:defRPr>
            </a:pPr>
            <a:r>
              <a:rPr sz="1800" b="0">
                <a:solidFill>
                  <a:srgbClr val="E9E7EE"/>
                </a:solidFill>
                <a:latin typeface="Switzer"/>
                <a:ea typeface="Switzer"/>
                <a:cs typeface="Switzer"/>
              </a:rPr>
              <a:t>Context • disagreement • auditability • human control</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609600" y="3905250"/>
            <a:ext cx="7524750" cy="1645920"/>
          </a:xfrm>
          <a:prstGeom xmlns:a="http://schemas.openxmlformats.org/drawingml/2006/main" prst="roundRect">
            <a:avLst>
              <a:gd name="adj" fmla="val 4630"/>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876300" y="4133850"/>
            <a:ext cx="6953250" cy="1314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What evidence must survive every handoff?</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When should one agent challenge another?</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Where must the human interrupt?</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609600" y="5848350"/>
            <a:ext cx="809625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25" b="0">
                <a:solidFill>
                  <a:srgbClr val="A6E34A"/>
                </a:solidFill>
                <a:latin typeface="Consolas"/>
                <a:ea typeface="Consolas"/>
                <a:cs typeface="Consolas"/>
              </a:defRPr>
            </a:pPr>
            <a:r>
              <a:rPr sz="1425" b="0">
                <a:solidFill>
                  <a:srgbClr val="A6E34A"/>
                </a:solidFill>
                <a:latin typeface="Consolas"/>
                <a:ea typeface="Consolas"/>
                <a:cs typeface="Consolas"/>
              </a:rPr>
              <a:t>github.com/lech-kalinowski/agents-commander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0" y="64008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0">
                <a:solidFill>
                  <a:srgbClr val="BCBBC2"/>
                </a:solidFill>
                <a:latin typeface="Switzer"/>
                <a:ea typeface="Switzer"/>
                <a:cs typeface="Switzer"/>
              </a:defRPr>
            </a:pPr>
            <a:r>
              <a:rPr sz="1125" b="0">
                <a:solidFill>
                  <a:srgbClr val="BCBBC2"/>
                </a:solidFill>
                <a:latin typeface="Switzer"/>
                <a:ea typeface="Switzer"/>
                <a:cs typeface="Switzer"/>
              </a:rPr>
              <a:t>Authorization  •  provenance  •  disagreement  •  human control</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789920" y="6400800"/>
            <a:ext cx="128016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defRPr sz="1050" b="0">
                <a:solidFill>
                  <a:srgbClr val="BCBBC2"/>
                </a:solidFill>
                <a:latin typeface="Consolas"/>
                <a:ea typeface="Consolas"/>
                <a:cs typeface="Consolas"/>
              </a:defRPr>
            </a:pPr>
            <a:r>
              <a:rPr sz="1050" b="0">
                <a:solidFill>
                  <a:srgbClr val="BCBBC2"/>
                </a:solidFill>
                <a:latin typeface="Consolas"/>
                <a:ea typeface="Consolas"/>
                <a:cs typeface="Consolas"/>
              </a:rPr>
              <a:t>13/13</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efd022f91f7842f0"/>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108093632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2026-09-01T09:20:22.2910000Z</dcterms:created>
  <dcterms:modified xsi:type="dcterms:W3CDTF">2026-09-01T09:20:22.2910000Z</dcterms:modified>
</coreProperties>
</file>