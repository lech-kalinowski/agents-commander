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40905f7f854ae9" /><Relationship Type="http://schemas.openxmlformats.org/officeDocument/2006/relationships/extended-properties" Target="/docProps/app.xml" Id="R8372c9288b544bac" /><Relationship Type="http://schemas.openxmlformats.org/officeDocument/2006/relationships/officeDocument" Target="/ppt/presentation.xml" Id="Rdaa6564342ef418c" /></Relationships>
</file>

<file path=ppt/presentation.xml><?xml version="1.0" encoding="utf-8"?>
<p:presentation xmlns:p="http://schemas.openxmlformats.org/presentationml/2006/main">
  <p:sldMasterIdLst>
    <p:sldMasterId xmlns:r="http://schemas.openxmlformats.org/officeDocument/2006/relationships" id="2147483648" r:id="R885442dd8bac4299"/>
  </p:sldMasterIdLst>
  <p:notesMasterIdLst>
    <p:notesMasterId xmlns:r="http://schemas.openxmlformats.org/officeDocument/2006/relationships" r:id="R86df1ab7f8df411a"/>
  </p:notesMasterIdLst>
  <p:sldIdLst>
    <p:sldId xmlns:r="http://schemas.openxmlformats.org/officeDocument/2006/relationships" id="256" r:id="R06d534edb7114b23"/>
    <p:sldId xmlns:r="http://schemas.openxmlformats.org/officeDocument/2006/relationships" id="257" r:id="R585723233e8248c7"/>
    <p:sldId xmlns:r="http://schemas.openxmlformats.org/officeDocument/2006/relationships" id="258" r:id="R93cb2ec052534383"/>
    <p:sldId xmlns:r="http://schemas.openxmlformats.org/officeDocument/2006/relationships" id="259" r:id="R01e0b94df76a4dc5"/>
    <p:sldId xmlns:r="http://schemas.openxmlformats.org/officeDocument/2006/relationships" id="260" r:id="R091d5df6c2b4494c"/>
    <p:sldId xmlns:r="http://schemas.openxmlformats.org/officeDocument/2006/relationships" id="261" r:id="R9a5720b5e89746e0"/>
    <p:sldId xmlns:r="http://schemas.openxmlformats.org/officeDocument/2006/relationships" id="262" r:id="R13b960d3218a47d2"/>
    <p:sldId xmlns:r="http://schemas.openxmlformats.org/officeDocument/2006/relationships" id="263" r:id="Rafbb96f68b8247ee"/>
    <p:sldId xmlns:r="http://schemas.openxmlformats.org/officeDocument/2006/relationships" id="264" r:id="R79d4ba08b0f0474a"/>
    <p:sldId xmlns:r="http://schemas.openxmlformats.org/officeDocument/2006/relationships" id="265" r:id="R0fb61c1a686f48a1"/>
    <p:sldId xmlns:r="http://schemas.openxmlformats.org/officeDocument/2006/relationships" id="266" r:id="R164300d88f034997"/>
    <p:sldId xmlns:r="http://schemas.openxmlformats.org/officeDocument/2006/relationships" id="267" r:id="Raf07a07bcb3d48af"/>
    <p:sldId xmlns:r="http://schemas.openxmlformats.org/officeDocument/2006/relationships" id="268" r:id="R871d26ff71604fe0"/>
    <p:sldId xmlns:r="http://schemas.openxmlformats.org/officeDocument/2006/relationships" id="269" r:id="Raca458c938234810"/>
    <p:sldId xmlns:r="http://schemas.openxmlformats.org/officeDocument/2006/relationships" id="270" r:id="R7dbf715fc22e4f48"/>
    <p:sldId xmlns:r="http://schemas.openxmlformats.org/officeDocument/2006/relationships" id="271" r:id="Rfc502441ba5b46a2"/>
    <p:sldId xmlns:r="http://schemas.openxmlformats.org/officeDocument/2006/relationships" id="272" r:id="Rc6996c52b2fd42e9"/>
    <p:sldId xmlns:r="http://schemas.openxmlformats.org/officeDocument/2006/relationships" id="273" r:id="Rd556883fb55d4663"/>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88a045b755e4302" /><Relationship Type="http://schemas.openxmlformats.org/officeDocument/2006/relationships/slideMaster" Target="/ppt/slideMasters/slideMaster1.xml" Id="R885442dd8bac4299" /><Relationship Type="http://schemas.openxmlformats.org/officeDocument/2006/relationships/notesMaster" Target="/ppt/notesMasters/notesMaster1.xml" Id="R86df1ab7f8df411a" /><Relationship Type="http://schemas.openxmlformats.org/officeDocument/2006/relationships/presProps" Target="/ppt/presProps.xml" Id="R5ed2fe13a371432d" /><Relationship Type="http://schemas.openxmlformats.org/officeDocument/2006/relationships/viewProps" Target="/ppt/viewProps.xml" Id="R14f7574e316446a1" /><Relationship Type="http://schemas.openxmlformats.org/officeDocument/2006/relationships/tableStyles" Target="/ppt/tableStyles.xml" Id="Ra39edb93109f4196" /><Relationship Type="http://schemas.openxmlformats.org/officeDocument/2006/relationships/slide" Target="/ppt/slides/slide1.xml" Id="R06d534edb7114b23" /><Relationship Type="http://schemas.openxmlformats.org/officeDocument/2006/relationships/slide" Target="/ppt/slides/slide2.xml" Id="R585723233e8248c7" /><Relationship Type="http://schemas.openxmlformats.org/officeDocument/2006/relationships/slide" Target="/ppt/slides/slide3.xml" Id="R93cb2ec052534383" /><Relationship Type="http://schemas.openxmlformats.org/officeDocument/2006/relationships/slide" Target="/ppt/slides/slide4.xml" Id="R01e0b94df76a4dc5" /><Relationship Type="http://schemas.openxmlformats.org/officeDocument/2006/relationships/slide" Target="/ppt/slides/slide5.xml" Id="R091d5df6c2b4494c" /><Relationship Type="http://schemas.openxmlformats.org/officeDocument/2006/relationships/slide" Target="/ppt/slides/slide6.xml" Id="R9a5720b5e89746e0" /><Relationship Type="http://schemas.openxmlformats.org/officeDocument/2006/relationships/slide" Target="/ppt/slides/slide7.xml" Id="R13b960d3218a47d2" /><Relationship Type="http://schemas.openxmlformats.org/officeDocument/2006/relationships/slide" Target="/ppt/slides/slide8.xml" Id="Rafbb96f68b8247ee" /><Relationship Type="http://schemas.openxmlformats.org/officeDocument/2006/relationships/slide" Target="/ppt/slides/slide9.xml" Id="R79d4ba08b0f0474a" /><Relationship Type="http://schemas.openxmlformats.org/officeDocument/2006/relationships/slide" Target="/ppt/slides/slide10.xml" Id="R0fb61c1a686f48a1" /><Relationship Type="http://schemas.openxmlformats.org/officeDocument/2006/relationships/slide" Target="/ppt/slides/slide11.xml" Id="R164300d88f034997" /><Relationship Type="http://schemas.openxmlformats.org/officeDocument/2006/relationships/slide" Target="/ppt/slides/slide12.xml" Id="Raf07a07bcb3d48af" /><Relationship Type="http://schemas.openxmlformats.org/officeDocument/2006/relationships/slide" Target="/ppt/slides/slide13.xml" Id="R871d26ff71604fe0" /><Relationship Type="http://schemas.openxmlformats.org/officeDocument/2006/relationships/slide" Target="/ppt/slides/slide14.xml" Id="Raca458c938234810" /><Relationship Type="http://schemas.openxmlformats.org/officeDocument/2006/relationships/slide" Target="/ppt/slides/slide15.xml" Id="R7dbf715fc22e4f48" /><Relationship Type="http://schemas.openxmlformats.org/officeDocument/2006/relationships/slide" Target="/ppt/slides/slide16.xml" Id="Rfc502441ba5b46a2" /><Relationship Type="http://schemas.openxmlformats.org/officeDocument/2006/relationships/slide" Target="/ppt/slides/slide17.xml" Id="Rc6996c52b2fd42e9" /><Relationship Type="http://schemas.openxmlformats.org/officeDocument/2006/relationships/slide" Target="/ppt/slides/slide18.xml" Id="Rd556883fb55d46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a0536dcb2540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dbbc8cfb404860" /><Relationship Type="http://schemas.openxmlformats.org/officeDocument/2006/relationships/notesMaster" Target="/ppt/notesMasters/notesMaster1.xml" Id="Rcb9a57f1ab2b4c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59f64253554100" /><Relationship Type="http://schemas.openxmlformats.org/officeDocument/2006/relationships/notesMaster" Target="/ppt/notesMasters/notesMaster1.xml" Id="R484b48b4e3924b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0d9c555e5e4aaf" /><Relationship Type="http://schemas.openxmlformats.org/officeDocument/2006/relationships/notesMaster" Target="/ppt/notesMasters/notesMaster1.xml" Id="R298110c644ce4e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b3526c15314bc2" /><Relationship Type="http://schemas.openxmlformats.org/officeDocument/2006/relationships/notesMaster" Target="/ppt/notesMasters/notesMaster1.xml" Id="Rcd79a22698fc47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9635737dd9447e" /><Relationship Type="http://schemas.openxmlformats.org/officeDocument/2006/relationships/notesMaster" Target="/ppt/notesMasters/notesMaster1.xml" Id="R81ce8e3c0a3040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105a1cf3d348ef" /><Relationship Type="http://schemas.openxmlformats.org/officeDocument/2006/relationships/notesMaster" Target="/ppt/notesMasters/notesMaster1.xml" Id="Rf3c2365b4afd4d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36e23ca2c54be1" /><Relationship Type="http://schemas.openxmlformats.org/officeDocument/2006/relationships/notesMaster" Target="/ppt/notesMasters/notesMaster1.xml" Id="R3ec3cf4a998b4a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33fe6e2bdd4a26" /><Relationship Type="http://schemas.openxmlformats.org/officeDocument/2006/relationships/notesMaster" Target="/ppt/notesMasters/notesMaster1.xml" Id="R41dc8301209946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5574a3cb78491a" /><Relationship Type="http://schemas.openxmlformats.org/officeDocument/2006/relationships/notesMaster" Target="/ppt/notesMasters/notesMaster1.xml" Id="R9580aa3bf4b045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76599b2cf34b42" /><Relationship Type="http://schemas.openxmlformats.org/officeDocument/2006/relationships/notesMaster" Target="/ppt/notesMasters/notesMaster1.xml" Id="R9d02e1053a124d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c821c14fe34ffa" /><Relationship Type="http://schemas.openxmlformats.org/officeDocument/2006/relationships/notesMaster" Target="/ppt/notesMasters/notesMaster1.xml" Id="R649c8e1976b94d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38d88ed6924da5" /><Relationship Type="http://schemas.openxmlformats.org/officeDocument/2006/relationships/notesMaster" Target="/ppt/notesMasters/notesMaster1.xml" Id="Rb1ed25c8b60347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f42cc8da6b4332" /><Relationship Type="http://schemas.openxmlformats.org/officeDocument/2006/relationships/notesMaster" Target="/ppt/notesMasters/notesMaster1.xml" Id="R0ae7bf48bc5645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90fe1b10c84d30" /><Relationship Type="http://schemas.openxmlformats.org/officeDocument/2006/relationships/notesMaster" Target="/ppt/notesMasters/notesMaster1.xml" Id="Rc5b7148bbd1f40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2b3206b0404c80" /><Relationship Type="http://schemas.openxmlformats.org/officeDocument/2006/relationships/notesMaster" Target="/ppt/notesMasters/notesMaster1.xml" Id="R58a9c631e35b4d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5149be6c3f4d1f" /><Relationship Type="http://schemas.openxmlformats.org/officeDocument/2006/relationships/notesMaster" Target="/ppt/notesMasters/notesMaster1.xml" Id="R9d50f35fd1d84a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320b8046db4c67" /><Relationship Type="http://schemas.openxmlformats.org/officeDocument/2006/relationships/notesMaster" Target="/ppt/notesMasters/notesMaster1.xml" Id="Rc7182f46b912404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a90dc7ce714804" /><Relationship Type="http://schemas.openxmlformats.org/officeDocument/2006/relationships/notesMaster" Target="/ppt/notesMasters/notesMaster1.xml" Id="R7fcbe37ff4cd40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 minutes</a:t>
            </a:r>
          </a:p>
          <a:p xmlns:a="http://schemas.openxmlformats.org/drawingml/2006/main">
            <a:r>
              <a:t/>
            </a:r>
          </a:p>
          <a:p xmlns:a="http://schemas.openxmlformats.org/drawingml/2006/main">
            <a:r>
              <a:t>Open with the accepted public title: No Framework, No Server: Making AI Agents Collaborate in One Terminal. Introduce Lech Kalinowski, Senior AI Systems Engineer at Callstack. The 45-minute session examines terminal-native collaboration without a central orchestration server or heavyweight agent framework: architecture and protocol, deterministic transport proof, real-agent challenge/refinement, human control, and five minutes of questions. First, look at a real handoff in the terminal.</a:t>
            </a:r>
          </a:p>
          <a:p xmlns:a="http://schemas.openxmlformats.org/drawingml/2006/main">
            <a:r>
              <a:t/>
            </a:r>
          </a:p>
          <a:p xmlns:a="http://schemas.openxmlformats.org/drawingml/2006/main">
            <a:r>
              <a:t>[Sources]</a:t>
            </a:r>
          </a:p>
          <a:p xmlns:a="http://schemas.openxmlformats.org/drawingml/2006/main">
            <a:r>
              <a:t>https://codeeurope.pl/speakers — published session and speaker identity.</a:t>
            </a:r>
          </a:p>
          <a:p xmlns:a="http://schemas.openxmlformats.org/drawingml/2006/main">
            <a:r>
              <a:t>/Users/lech.kalinowski/products/agents commander/assets/logo.png — Agents Commander project logo.</a:t>
            </a:r>
          </a:p>
          <a:p xmlns:a="http://schemas.openxmlformats.org/drawingml/2006/main">
            <a:r>
              <a:t>https://www.callstack.com/media-kit — inherited visual identity; Callstack mark is speaker affiliation.</a:t>
            </a:r>
          </a:p>
          <a:p xmlns:a="http://schemas.openxmlformats.org/drawingml/2006/main">
            <a:r>
              <a:t/>
            </a:r>
          </a:p>
          <a:p xmlns:a="http://schemas.openxmlformats.org/drawingml/2006/main">
            <a:r>
              <a:t>[Sources — logo refresh]</a:t>
            </a:r>
          </a:p>
          <a:p xmlns:a="http://schemas.openxmlformats.org/drawingml/2006/main">
            <a:r>
              <a:t>/Users/lech.kalinowski/products/agents commander/assets/logo.png — original user-requested retro mark, generated with built-in image generation, 2026-09-02.</a:t>
            </a:r>
          </a:p>
          <a:p xmlns:a="http://schemas.openxmlformats.org/drawingml/2006/main">
            <a:r>
              <a:t>/Users/lech.kalinowski/products/agents commander/assets/BRAND.md — asset usage and prompt provenance.</a:t>
            </a:r>
          </a:p>
          <a:p xmlns:a="http://schemas.openxmlformats.org/drawingml/2006/main">
            <a:r>
              <a:t>Existing Callstack logo and template identity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 minutes</a:t>
            </a:r>
          </a:p>
          <a:p xmlns:a="http://schemas.openxmlformats.org/drawingml/2006/main">
            <a:r>
              <a:t/>
            </a:r>
          </a:p>
          <a:p xmlns:a="http://schemas.openxmlformats.org/drawingml/2006/main">
            <a:r>
              <a:t>Start with the real product. This is a completed deterministic handoff in two local demo roles, not an LLM reasoning result. Both exited cleanly after SEND, STATUS and REPLY. Each terminal session owns its PTY and remains alive when hidden by pagination. Supported launch surfaces include Claude, Codex, Gemini, OpenCode and shell. Explain panels before the protocol; point to the visible source and target.</a:t>
            </a:r>
          </a:p>
          <a:p xmlns:a="http://schemas.openxmlformats.org/drawingml/2006/main">
            <a:r>
              <a:t/>
            </a:r>
          </a:p>
          <a:p xmlns:a="http://schemas.openxmlformats.org/drawingml/2006/main">
            <a:r>
              <a:t>[Sources]</a:t>
            </a:r>
          </a:p>
          <a:p xmlns:a="http://schemas.openxmlformats.org/drawingml/2006/main">
            <a:r>
              <a:t>Local capture: unmodified dist/bin/agents-commander.js --demo --panels 2 --density 2 --no-codex-micro; 160×40 PTY, rendered through exported VTerm. Capture metadata: capture-manifest.json. Two expired session capabilities redacted; no UI/output fabricated.</a:t>
            </a:r>
          </a:p>
          <a:p xmlns:a="http://schemas.openxmlformats.org/drawingml/2006/main">
            <a:r>
              <a:t>/Users/lech.kalinowski/products/agents commander/src/screen/layout-manager.ts</a:t>
            </a:r>
          </a:p>
          <a:p xmlns:a="http://schemas.openxmlformats.org/drawingml/2006/main">
            <a:r>
              <a:t>/Users/lech.kalinowski/products/agents commander/src/panels/terminal-panel.ts</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Architecture: a local terminal control plane</a:t>
            </a:r>
          </a:p>
          <a:p xmlns:a="http://schemas.openxmlformats.org/drawingml/2006/main">
            <a:r>
              <a:t/>
            </a:r>
          </a:p>
          <a:p xmlns:a="http://schemas.openxmlformats.org/drawingml/2006/main">
            <a:r>
              <a:t>[Timing]</a:t>
            </a:r>
          </a:p>
          <a:p xmlns:a="http://schemas.openxmlformats.org/drawingml/2006/main">
            <a:r>
              <a:t>3 minutes (03:00)</a:t>
            </a:r>
          </a:p>
          <a:p xmlns:a="http://schemas.openxmlformats.org/drawingml/2006/main">
            <a:r>
              <a:t/>
            </a:r>
          </a:p>
          <a:p xmlns:a="http://schemas.openxmlformats.org/drawingml/2006/main">
            <a:r>
              <a:t>[Talk track]</a:t>
            </a:r>
          </a:p>
          <a:p xmlns:a="http://schemas.openxmlformats.org/drawingml/2006/main">
            <a:r>
              <a:t>Start at the process boundary, not the model. Agents Commander is a Node.js application with a blessed terminal UI. The App composes a LayoutManager, an AgentManager, and the Orchestrator. Each managed agent has a TerminalPanel; that panel starts the Python PTY helper, which allocates a real pseudo-terminal and executes the agent CLI. The CLI sees a TTY, while Commander exchanges bytes through pipes. A separate control pipe carries terminal resize and process signals.</a:t>
            </a:r>
          </a:p>
          <a:p xmlns:a="http://schemas.openxmlformats.org/drawingml/2006/main">
            <a:r>
              <a:t/>
            </a:r>
          </a:p>
          <a:p xmlns:a="http://schemas.openxmlformats.org/drawingml/2006/main">
            <a:r>
              <a:t>Trace one message across the diagram: Agent A prints a frame; TerminalPanel reconstructs terminal output and detects it; Orchestrator validates the source session and routes text; the target input lane submits that text into Agent B's PTY. The agents keep their own CLI behavior, credentials, model calls, tools, and permission prompts. Commander coordinates their terminals; it is not another model runtime.</a:t>
            </a:r>
          </a:p>
          <a:p xmlns:a="http://schemas.openxmlformats.org/drawingml/2006/main">
            <a:r>
              <a:t/>
            </a:r>
          </a:p>
          <a:p xmlns:a="http://schemas.openxmlformats.org/drawingml/2006/main">
            <a:r>
              <a:t>The AgentManager supplies current session identity and lifecycle events. The MessageLedger records routed delivery states and reply routes. F12 exposes that routed activity. Operator-driven launch and controls are a separate path from automatic message routing.</a:t>
            </a:r>
          </a:p>
          <a:p xmlns:a="http://schemas.openxmlformats.org/drawingml/2006/main">
            <a:r>
              <a:t/>
            </a:r>
          </a:p>
          <a:p xmlns:a="http://schemas.openxmlformats.org/drawingml/2006/main">
            <a:r>
              <a:t>[Caveats]</a:t>
            </a:r>
          </a:p>
          <a:p xmlns:a="http://schemas.openxmlformats.org/drawingml/2006/main">
            <a:r>
              <a:t>This is local terminal-output-to-terminal-input routing, not direct agent-to-agent sockets, a cloud message broker, or MCP. Automatic protocol traffic never creates, converts, launches, or replaces a target agent. A queued delivery is tied to the resolved target session, not merely a panel label.</a:t>
            </a:r>
          </a:p>
          <a:p xmlns:a="http://schemas.openxmlformats.org/drawingml/2006/main">
            <a:r>
              <a:t/>
            </a:r>
          </a:p>
          <a:p xmlns:a="http://schemas.openxmlformats.org/drawingml/2006/main">
            <a:r>
              <a:t>[Sources]</a:t>
            </a:r>
          </a:p>
          <a:p xmlns:a="http://schemas.openxmlformats.org/drawingml/2006/main">
            <a:r>
              <a:t>/Users/lech.kalinowski/products/agents commander/src/app.ts:170,230,242 — App composition.</a:t>
            </a:r>
          </a:p>
          <a:p xmlns:a="http://schemas.openxmlformats.org/drawingml/2006/main">
            <a:r>
              <a:t>/Users/lech.kalinowski/products/agents commander/src/panels/terminal-panel.ts:621-636 — PTY-helper process, four pipes, UTF-8 decoders.</a:t>
            </a:r>
          </a:p>
          <a:p xmlns:a="http://schemas.openxmlformats.org/drawingml/2006/main">
            <a:r>
              <a:t>/Users/lech.kalinowski/products/agents commander/src/agents/pty-helper.py:156-174,204-208 — control pipe and real PTY allocation.</a:t>
            </a:r>
          </a:p>
          <a:p xmlns:a="http://schemas.openxmlformats.org/drawingml/2006/main">
            <a:r>
              <a:t>/Users/lech.kalinowski/products/agents commander/src/agents/agent-manager.ts:535-560 — managed session registration and lifecycle event.</a:t>
            </a:r>
          </a:p>
          <a:p xmlns:a="http://schemas.openxmlformats.org/drawingml/2006/main">
            <a:r>
              <a:t>/Users/lech.kalinowski/products/agents commander/src/orchestration/orchestrator.ts:219-235,1381-1396,1552-1572 — callback wiring, activity, automatic target-mutation refusal.</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Observe the terminal state, not escape-filled output</a:t>
            </a:r>
          </a:p>
          <a:p xmlns:a="http://schemas.openxmlformats.org/drawingml/2006/main">
            <a:r>
              <a:t/>
            </a:r>
          </a:p>
          <a:p xmlns:a="http://schemas.openxmlformats.org/drawingml/2006/main">
            <a:r>
              <a:t>[Timing]</a:t>
            </a:r>
          </a:p>
          <a:p xmlns:a="http://schemas.openxmlformats.org/drawingml/2006/main">
            <a:r>
              <a:t>2 minutes (02:00)</a:t>
            </a:r>
          </a:p>
          <a:p xmlns:a="http://schemas.openxmlformats.org/drawingml/2006/main">
            <a:r>
              <a:t/>
            </a:r>
          </a:p>
          <a:p xmlns:a="http://schemas.openxmlformats.org/drawingml/2006/main">
            <a:r>
              <a:t>[Talk track]</a:t>
            </a:r>
          </a:p>
          <a:p xmlns:a="http://schemas.openxmlformats.org/drawingml/2006/main">
            <a:r>
              <a:t>The difficult input is a terminal UI, not a clean line-oriented log. A CLI can move the cursor, overwrite a row, wrap a long marker, or switch to an alternate screen. Removing ANSI sequences from raw chunks would not reconstruct what the user actually sees.</a:t>
            </a:r>
          </a:p>
          <a:p xmlns:a="http://schemas.openxmlformats.org/drawingml/2006/main">
            <a:r>
              <a:t/>
            </a:r>
          </a:p>
          <a:p xmlns:a="http://schemas.openxmlformats.org/drawingml/2006/main">
            <a:r>
              <a:t>Commander first rejects output from a replaced child process. StringDecoder preserves UTF-8 characters split across Buffer chunks. VTerm then applies cursor and terminal operations. Only after that does protocol observation happen.</a:t>
            </a:r>
          </a:p>
          <a:p xmlns:a="http://schemas.openxmlformats.org/drawingml/2006/main">
            <a:r>
              <a:t/>
            </a:r>
          </a:p>
          <a:p xmlns:a="http://schemas.openxmlformats.org/drawingml/2006/main">
            <a:r>
              <a:t>There are three observation paths. Finalized primary-scrollback rows feed a stateful scanner. A scheduled visible-grid scan finds complete frames even for alternate-screen TUIs. A tail scan recovers REPLY frames across the newest 120 logical lines. VTerm rejoins terminal-generated soft wraps, preserving the distinction between wrapping and authored newlines. All paths converge on shared echo suppression and deduplication before a message reaches the Orchestrator.</a:t>
            </a:r>
          </a:p>
          <a:p xmlns:a="http://schemas.openxmlformats.org/drawingml/2006/main">
            <a:r>
              <a:t/>
            </a:r>
          </a:p>
          <a:p xmlns:a="http://schemas.openxmlformats.org/drawingml/2006/main">
            <a:r>
              <a:t>Explain why multiple paths exist: the visible-grid frame may later appear again in scrollback. Detecting it twice must not mean delivering it twice.</a:t>
            </a:r>
          </a:p>
          <a:p xmlns:a="http://schemas.openxmlformats.org/drawingml/2006/main">
            <a:r>
              <a:t/>
            </a:r>
          </a:p>
          <a:p xmlns:a="http://schemas.openxmlformats.org/drawingml/2006/main">
            <a:r>
              <a:t>[Caveats]</a:t>
            </a:r>
          </a:p>
          <a:p xmlns:a="http://schemas.openxmlformats.org/drawingml/2006/main">
            <a:r>
              <a:t>The scheduled grid scan normally runs after 50 ms when fresh data arrives; it is not a guaranteed latency. Scrollback REPLY fallback waits 400 ms by default so grid/tail can win. This is terminal observation with recovery heuristics, not a lossless structured-output API.</a:t>
            </a:r>
          </a:p>
          <a:p xmlns:a="http://schemas.openxmlformats.org/drawingml/2006/main">
            <a:r>
              <a:t/>
            </a:r>
          </a:p>
          <a:p xmlns:a="http://schemas.openxmlformats.org/drawingml/2006/main">
            <a:r>
              <a:t>[Sources]</a:t>
            </a:r>
          </a:p>
          <a:p xmlns:a="http://schemas.openxmlformats.org/drawingml/2006/main">
            <a:r>
              <a:t>/Users/lech.kalinowski/products/agents commander/src/panels/terminal-panel.ts:751-765,838-870,879-991,1524-1577,1681-1703 — actual observation order and three scan paths.</a:t>
            </a:r>
          </a:p>
          <a:p xmlns:a="http://schemas.openxmlformats.org/drawingml/2006/main">
            <a:r>
              <a:t>/Users/lech.kalinowski/products/agents commander/src/panels/vterm.ts:381-417,473-488 — logical lines and soft-wrap reconstruction.</a:t>
            </a:r>
          </a:p>
          <a:p xmlns:a="http://schemas.openxmlformats.org/drawingml/2006/main">
            <a:r>
              <a:t>/Users/lech.kalinowski/products/agents commander/tests/unit/terminal-panel.test.ts:343-389,462-548,550-627 — UTF-8, wrap preservation, scrollback rollover, stale-child output tests.</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The frame carries intent; Commander supplies identity</a:t>
            </a:r>
          </a:p>
          <a:p xmlns:a="http://schemas.openxmlformats.org/drawingml/2006/main">
            <a:r>
              <a:t/>
            </a:r>
          </a:p>
          <a:p xmlns:a="http://schemas.openxmlformats.org/drawingml/2006/main">
            <a:r>
              <a:t>[Timing]</a:t>
            </a:r>
          </a:p>
          <a:p xmlns:a="http://schemas.openxmlformats.org/drawingml/2006/main">
            <a:r>
              <a:t>3 minutes (03:00)</a:t>
            </a:r>
          </a:p>
          <a:p xmlns:a="http://schemas.openxmlformats.org/drawingml/2006/main">
            <a:r>
              <a:t/>
            </a:r>
          </a:p>
          <a:p xmlns:a="http://schemas.openxmlformats.org/drawingml/2006/main">
            <a:r>
              <a:t>[Talk track]</a:t>
            </a:r>
          </a:p>
          <a:p xmlns:a="http://schemas.openxmlformats.org/drawingml/2006/main">
            <a:r>
              <a:t>Read the sample frame from left to right. COMMANDER is the namespace. SEND is the verb. The adapter name, such as claude, identifies the expected target CLI type; it is not an LLM model name. The number is the target's one-based stable panel address. The final header field is the source session's capability. The footer repeats that exact capability.</a:t>
            </a:r>
          </a:p>
          <a:p xmlns:a="http://schemas.openxmlformats.org/drawingml/2006/main">
            <a:r>
              <a:t/>
            </a:r>
          </a:p>
          <a:p xmlns:a="http://schemas.openxmlformats.org/drawingml/2006/main">
            <a:r>
              <a:t>The body is plain text. It can contain multiple lines; the three-line example is the simplest envelope, not a JSON schema. Markers must occupy their own logical lines, with narrow allowances for terminal UI prefixes. Surrounding prose or Markdown emphasis is not a valid marker wrapper.</a:t>
            </a:r>
          </a:p>
          <a:p xmlns:a="http://schemas.openxmlformats.org/drawingml/2006/main">
            <a:r>
              <a:t/>
            </a:r>
          </a:p>
          <a:p xmlns:a="http://schemas.openxmlformats.org/drawingml/2006/main">
            <a:r>
              <a:t>Point out what is absent: no user-declared source identity and no message or thread ID. The observed TerminalPanel and AgentManager supply the actual source session. Commander assigns message/thread IDs after accepting SEND. Those IDs appear in the forwarded message and ACK, not in the agent's original frame.</a:t>
            </a:r>
          </a:p>
          <a:p xmlns:a="http://schemas.openxmlformats.org/drawingml/2006/main">
            <a:r>
              <a:t/>
            </a:r>
          </a:p>
          <a:p xmlns:a="http://schemas.openxmlformats.org/drawingml/2006/main">
            <a:r>
              <a:t>Ctrl+P explicitly arms each running session with a fresh 256-bit random capability. A and B have different keys. A uses A's key for SEND; B uses B's key for REPLY. A new injection rotates the key before any injection bytes are written, and a restart invalidates the old session's key.</a:t>
            </a:r>
          </a:p>
          <a:p xmlns:a="http://schemas.openxmlformats.org/drawingml/2006/main">
            <a:r>
              <a:t/>
            </a:r>
          </a:p>
          <a:p xmlns:a="http://schemas.openxmlformats.org/drawingml/2006/main">
            <a:r>
              <a:t>[Caveats]</a:t>
            </a:r>
          </a:p>
          <a:p xmlns:a="http://schemas.openxmlformats.org/drawingml/2006/main">
            <a:r>
              <a:t>Any displayed &lt;cap-A&gt; is an abbreviated teaching placeholder, not a literal valid token. Generated keys are 43-character URL-safe strings. Capability gating is explicit session opt-in, not a signature, payload encryption, or complete prompt-injection protection: the armed agent can see its key in context. Legacy unkeyed frames may parse but remain inert in the production routing entry point.</a:t>
            </a:r>
          </a:p>
          <a:p xmlns:a="http://schemas.openxmlformats.org/drawingml/2006/main">
            <a:r>
              <a:t/>
            </a:r>
          </a:p>
          <a:p xmlns:a="http://schemas.openxmlformats.org/drawingml/2006/main">
            <a:r>
              <a:t>[Sources]</a:t>
            </a:r>
          </a:p>
          <a:p xmlns:a="http://schemas.openxmlformats.org/drawingml/2006/main">
            <a:r>
              <a:t>/Users/lech.kalinowski/products/agents commander/src/orchestration/protocol.ts:26-50,75-98,100-114,164-176,339-439,502-527 — frame grammar, capabilities, parsing, injected instructions.</a:t>
            </a:r>
          </a:p>
          <a:p xmlns:a="http://schemas.openxmlformats.org/drawingml/2006/main">
            <a:r>
              <a:t>/Users/lech.kalinowski/products/agents commander/src/orchestration/orchestrator.ts:420-442,491-498,520-535,564-611,1089-1121,301-315 — source identity, metadata, gate, record creation, rotation and lifecycle.</a:t>
            </a:r>
          </a:p>
          <a:p xmlns:a="http://schemas.openxmlformats.org/drawingml/2006/main">
            <a:r>
              <a:t>/Users/lech.kalinowski/products/agents commander/tests/unit/protocol.test.ts:499-524 — prose and Markdown-emphasis rejection.</a:t>
            </a:r>
          </a:p>
          <a:p xmlns:a="http://schemas.openxmlformats.org/drawingml/2006/main">
            <a:r>
              <a:t>/Users/lech.kalinowski/products/agents commander/tests/unit/orchestrator.test.ts:754-818 — unarmed output and restart-capability tests.</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A small streaming state machine reconstructs a frame</a:t>
            </a:r>
          </a:p>
          <a:p xmlns:a="http://schemas.openxmlformats.org/drawingml/2006/main">
            <a:r>
              <a:t/>
            </a:r>
          </a:p>
          <a:p xmlns:a="http://schemas.openxmlformats.org/drawingml/2006/main">
            <a:r>
              <a:t>[Timing]</a:t>
            </a:r>
          </a:p>
          <a:p xmlns:a="http://schemas.openxmlformats.org/drawingml/2006/main">
            <a:r>
              <a:t>2 minutes (02:00)</a:t>
            </a:r>
          </a:p>
          <a:p xmlns:a="http://schemas.openxmlformats.org/drawingml/2006/main">
            <a:r>
              <a:t/>
            </a:r>
          </a:p>
          <a:p xmlns:a="http://schemas.openxmlformats.org/drawingml/2006/main">
            <a:r>
              <a:t>[Talk track]</a:t>
            </a:r>
          </a:p>
          <a:p xmlns:a="http://schemas.openxmlformats.org/drawingml/2006/main">
            <a:r>
              <a:t>Walk the state graph with a frame split across several chunks. IDLE ignores ordinary terminal text. A valid header enters COLLECT and stores the verb, optional destination, and capability. Body lines accumulate until a footer with the same capability arrives. Only then does the scanner trim the envelope and emit a CommanderMessage.</a:t>
            </a:r>
          </a:p>
          <a:p xmlns:a="http://schemas.openxmlformats.org/drawingml/2006/main">
            <a:r>
              <a:t/>
            </a:r>
          </a:p>
          <a:p xmlns:a="http://schemas.openxmlformats.org/drawingml/2006/main">
            <a:r>
              <a:t>Two edge cases are intentional. A nested START while already collecting is body text; it does not hijack the current message. An END with another capability does not close the frame. The collecting state is discarded when the streaming body exceeds its configured line or UTF-8-byte ceiling. Defaults are 500 lines and 256 KiB.</a:t>
            </a:r>
          </a:p>
          <a:p xmlns:a="http://schemas.openxmlformats.org/drawingml/2006/main">
            <a:r>
              <a:t/>
            </a:r>
          </a:p>
          <a:p xmlns:a="http://schemas.openxmlformats.org/drawingml/2006/main">
            <a:r>
              <a:t>The visible-grid path separately searches for a complete frame in the current snapshot. Shared dedup uses the capability, verb, destination, and SHA-256 of canonicalized full content. Canonicalization normalizes line endings rather than erasing indentation, because indentation can change code meaning. Outgoing prompt examples have explicit echo reservations so pasted examples do not immediately become commands.</a:t>
            </a:r>
          </a:p>
          <a:p xmlns:a="http://schemas.openxmlformats.org/drawingml/2006/main">
            <a:r>
              <a:t/>
            </a:r>
          </a:p>
          <a:p xmlns:a="http://schemas.openxmlformats.org/drawingml/2006/main">
            <a:r>
              <a:t>[Caveats]</a:t>
            </a:r>
          </a:p>
          <a:p xmlns:a="http://schemas.openxmlformats.org/drawingml/2006/main">
            <a:r>
              <a:t>The 500-line/256-KiB limits belong to the streaming collector; grid and tail paths do not apply those exact checks. Dedup is heuristic, not exactly-once delivery: identical intentional traffic inside the default 15-second window may be suppressed. A matching complete frame can still be rejected later by session authorization or routing guards.</a:t>
            </a:r>
          </a:p>
          <a:p xmlns:a="http://schemas.openxmlformats.org/drawingml/2006/main">
            <a:r>
              <a:t/>
            </a:r>
          </a:p>
          <a:p xmlns:a="http://schemas.openxmlformats.org/drawingml/2006/main">
            <a:r>
              <a:t>[Sources]</a:t>
            </a:r>
          </a:p>
          <a:p xmlns:a="http://schemas.openxmlformats.org/drawingml/2006/main">
            <a:r>
              <a:t>/Users/lech.kalinowski/products/agents commander/src/orchestration/protocol.ts:246-266,299-330,339-456 — streaming buffers, state transitions and limits.</a:t>
            </a:r>
          </a:p>
          <a:p xmlns:a="http://schemas.openxmlformats.org/drawingml/2006/main">
            <a:r>
              <a:t>/Users/lech.kalinowski/products/agents commander/src/panels/terminal-panel.ts:777-824,879-991,1617-1632 — echo reservation, dedup, independent grid parsing and content identity.</a:t>
            </a:r>
          </a:p>
          <a:p xmlns:a="http://schemas.openxmlformats.org/drawingml/2006/main">
            <a:r>
              <a:t>/Users/lech.kalinowski/products/agents commander/src/orchestration/orchestrator.ts:196-206 — default scan and dedup configuration.</a:t>
            </a:r>
          </a:p>
          <a:p xmlns:a="http://schemas.openxmlformats.org/drawingml/2006/main">
            <a:r>
              <a:t>/Users/lech.kalinowski/products/agents commander/tests/unit/protocol.test.ts:42-60,77-91,134-164,467-483,525-540 — matching footer, byte bounds, chunks, nested starts and line ceiling.</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Five verbs, three different kinds of effect</a:t>
            </a:r>
          </a:p>
          <a:p xmlns:a="http://schemas.openxmlformats.org/drawingml/2006/main">
            <a:r>
              <a:t/>
            </a:r>
          </a:p>
          <a:p xmlns:a="http://schemas.openxmlformats.org/drawingml/2006/main">
            <a:r>
              <a:t>[Timing]</a:t>
            </a:r>
          </a:p>
          <a:p xmlns:a="http://schemas.openxmlformats.org/drawingml/2006/main">
            <a:r>
              <a:t>2 minutes (02:00)</a:t>
            </a:r>
          </a:p>
          <a:p xmlns:a="http://schemas.openxmlformats.org/drawingml/2006/main">
            <a:r>
              <a:t/>
            </a:r>
          </a:p>
          <a:p xmlns:a="http://schemas.openxmlformats.org/drawingml/2006/main">
            <a:r>
              <a:t>[Talk track]</a:t>
            </a:r>
          </a:p>
          <a:p xmlns:a="http://schemas.openxmlformats.org/drawingml/2006/main">
            <a:r>
              <a:t>Group the protocol by effect. SEND and REPLY deliver text to another managed session. SEND names the expected adapter and target panel. REPLY claims the newest open reply route for the sending session; the agent does not type a destination or thread ID.</a:t>
            </a:r>
          </a:p>
          <a:p xmlns:a="http://schemas.openxmlformats.org/drawingml/2006/main">
            <a:r>
              <a:t/>
            </a:r>
          </a:p>
          <a:p xmlns:a="http://schemas.openxmlformats.org/drawingml/2006/main">
            <a:r>
              <a:t>BROADCAST fans out to other connected managed agents. Commander creates a separate message and thread per recipient, admits each recipient's task independently, and sends one combined queue-admission ACK. That result can be partial if one queue is full.</a:t>
            </a:r>
          </a:p>
          <a:p xmlns:a="http://schemas.openxmlformats.org/drawingml/2006/main">
            <a:r>
              <a:t/>
            </a:r>
          </a:p>
          <a:p xmlns:a="http://schemas.openxmlformats.org/drawingml/2006/main">
            <a:r>
              <a:t>STATUS and QUERY stay local to Commander. STATUS renders progress as a toast and returns a local accepted ACK. QUERY returns information directly: agents, panels, status, help, or ping. They are interactions with the control plane, not routed messages to another LLM.</a:t>
            </a:r>
          </a:p>
          <a:p xmlns:a="http://schemas.openxmlformats.org/drawingml/2006/main">
            <a:r>
              <a:t/>
            </a:r>
          </a:p>
          <a:p xmlns:a="http://schemas.openxmlformats.org/drawingml/2006/main">
            <a:r>
              <a:t>Connect this distinction to F12: Activity retains SEND, REPLY, and BROADCAST delivery records. STATUS and QUERY are intentionally not ledger history. The agent instructions ask the sender to wait for an ACK or information response before emitting another frame; this is a collaboration convention, not a model-enforced transaction protocol.</a:t>
            </a:r>
          </a:p>
          <a:p xmlns:a="http://schemas.openxmlformats.org/drawingml/2006/main">
            <a:r>
              <a:t/>
            </a:r>
          </a:p>
          <a:p xmlns:a="http://schemas.openxmlformats.org/drawingml/2006/main">
            <a:r>
              <a:t>[Caveats]</a:t>
            </a:r>
          </a:p>
          <a:p xmlns:a="http://schemas.openxmlformats.org/drawingml/2006/main">
            <a:r>
              <a:t>Do not label the BROADCAST ACK as delivery completion: it reports accepted/rejected queue admissions. Do not draw one shared broadcast thread across recipients. A REPLY with no open route is dropped. A startup guard suppresses unsolicited coordination chatter before the session is engaged; user input or a delivered task engages it.</a:t>
            </a:r>
          </a:p>
          <a:p xmlns:a="http://schemas.openxmlformats.org/drawingml/2006/main">
            <a:r>
              <a:t/>
            </a:r>
          </a:p>
          <a:p xmlns:a="http://schemas.openxmlformats.org/drawingml/2006/main">
            <a:r>
              <a:t>[Sources]</a:t>
            </a:r>
          </a:p>
          <a:p xmlns:a="http://schemas.openxmlformats.org/drawingml/2006/main">
            <a:r>
              <a:t>/Users/lech.kalinowski/products/agents commander/src/orchestration/orchestrator.ts:465-488,564-682,687-765,770-857,1381-1396 — startup guard, verbs, broadcast admission, local responses, activity filter.</a:t>
            </a:r>
          </a:p>
          <a:p xmlns:a="http://schemas.openxmlformats.org/drawingml/2006/main">
            <a:r>
              <a:t>/Users/lech.kalinowski/products/agents commander/src/orchestration/protocol.ts:523-526 — sender ACK convention.</a:t>
            </a:r>
          </a:p>
          <a:p xmlns:a="http://schemas.openxmlformats.org/drawingml/2006/main">
            <a:r>
              <a:t>/Users/lech.kalinowski/products/agents commander/tests/unit/orchestrator.test.ts:309-454,594-705 — missing reply route, broadcast partial admission, local STATUS, startup engagement.</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SEND → delivery ACK → REPLY is not a completion handshake</a:t>
            </a:r>
          </a:p>
          <a:p xmlns:a="http://schemas.openxmlformats.org/drawingml/2006/main">
            <a:r>
              <a:t/>
            </a:r>
          </a:p>
          <a:p xmlns:a="http://schemas.openxmlformats.org/drawingml/2006/main">
            <a:r>
              <a:t>[Timing]</a:t>
            </a:r>
          </a:p>
          <a:p xmlns:a="http://schemas.openxmlformats.org/drawingml/2006/main">
            <a:r>
              <a:t>3 minutes (03:00)</a:t>
            </a:r>
          </a:p>
          <a:p xmlns:a="http://schemas.openxmlformats.org/drawingml/2006/main">
            <a:r>
              <a:t/>
            </a:r>
          </a:p>
          <a:p xmlns:a="http://schemas.openxmlformats.org/drawingml/2006/main">
            <a:r>
              <a:t>[Talk track]</a:t>
            </a:r>
          </a:p>
          <a:p xmlns:a="http://schemas.openxmlformats.org/drawingml/2006/main">
            <a:r>
              <a:t>Follow the lifelines. Agent A emits a keyed SEND. After observation, dedup, capability verification, and startup engagement checks, Commander resolves A and B, captures B's exact target generation, creates a queued ledger record, and adds a prefixed task to B's queue.</a:t>
            </a:r>
          </a:p>
          <a:p xmlns:a="http://schemas.openxmlformats.org/drawingml/2006/main">
            <a:r>
              <a:t/>
            </a:r>
          </a:p>
          <a:p xmlns:a="http://schemas.openxmlformats.org/drawingml/2006/main">
            <a:r>
              <a:t>Inside B's session input lane, Commander revalidates the target, writes the prompt, and submits Enter. The delivered text carries the source name and panel plus thread and message IDs. After executeTask reports successful submission, the queue processor marks the record delivered, opens B's reply window back to A, and sends a delivered ACK into A's input lane. This ordering matters: the reply route exists before the normal delivery ACK is sent.</a:t>
            </a:r>
          </a:p>
          <a:p xmlns:a="http://schemas.openxmlformats.org/drawingml/2006/main">
            <a:r>
              <a:t/>
            </a:r>
          </a:p>
          <a:p xmlns:a="http://schemas.openxmlformats.org/drawingml/2006/main">
            <a:r>
              <a:t>Later, B emits REPLY with B's own capability. Commander claims B's latest open route, creates a new message in the same thread with replyToMessageId, and delivers it to A through the same guarded queue/input path. A can then reply again because successful delivery opens the reverse reply window.</a:t>
            </a:r>
          </a:p>
          <a:p xmlns:a="http://schemas.openxmlformats.org/drawingml/2006/main">
            <a:r>
              <a:t/>
            </a:r>
          </a:p>
          <a:p xmlns:a="http://schemas.openxmlformats.org/drawingml/2006/main">
            <a:r>
              <a:t>Point to the separation between the small delivery arrow and the long agent-work interval. Commander knows it wrote and submitted terminal input. It does not know that B understood, completed, or correctly performed the task. The human evaluates output; the terminal remains visible for that reason.</a:t>
            </a:r>
          </a:p>
          <a:p xmlns:a="http://schemas.openxmlformats.org/drawingml/2006/main">
            <a:r>
              <a:t/>
            </a:r>
          </a:p>
          <a:p xmlns:a="http://schemas.openxmlformats.org/drawingml/2006/main">
            <a:r>
              <a:t>[Caveats]</a:t>
            </a:r>
          </a:p>
          <a:p xmlns:a="http://schemas.openxmlformats.org/drawingml/2006/main">
            <a:r>
              <a:t>ACK is input-delivery/submission acknowledgement, not model completion or correctness. There is no durable retry/exactly-once contract. Claude's informational ACK display is flattened and width-truncated, so use F12 when inspecting complete identifiers. The 60-second ackTimeout config is a manual task-queue caller timeout, not a protocol response SLA.</a:t>
            </a:r>
          </a:p>
          <a:p xmlns:a="http://schemas.openxmlformats.org/drawingml/2006/main">
            <a:r>
              <a:t/>
            </a:r>
          </a:p>
          <a:p xmlns:a="http://schemas.openxmlformats.org/drawingml/2006/main">
            <a:r>
              <a:t>[Sources]</a:t>
            </a:r>
          </a:p>
          <a:p xmlns:a="http://schemas.openxmlformats.org/drawingml/2006/main">
            <a:r>
              <a:t>/Users/lech.kalinowski/products/agents commander/src/orchestration/orchestrator.ts:491-498,564-682,863-895,952-1010,1250-1365,1664-1723 — forwarding, route creation, input serialization, ACK, ledger/delivery ordering.</a:t>
            </a:r>
          </a:p>
          <a:p xmlns:a="http://schemas.openxmlformats.org/drawingml/2006/main">
            <a:r>
              <a:t>/Users/lech.kalinowski/products/agents commander/src/orchestration/orchestrator.ts:1478-1513 — manual caller timeout semantics.</a:t>
            </a:r>
          </a:p>
          <a:p xmlns:a="http://schemas.openxmlformats.org/drawingml/2006/main">
            <a:r>
              <a:t>/Users/lech.kalinowski/products/agents commander/src/orchestration/message-ledger.ts:80-120,123-147,164-190 — IDs, delivery states and reply-window claim.</a:t>
            </a:r>
          </a:p>
          <a:p xmlns:a="http://schemas.openxmlformats.org/drawingml/2006/main">
            <a:r>
              <a:t>/Users/lech.kalinowski/products/agents commander/tests/unit/orchestrator.test.ts:167-307,1600-1675 — route/identity and manual timeout tests.</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A panel address is stable; its agent session can change</a:t>
            </a:r>
          </a:p>
          <a:p xmlns:a="http://schemas.openxmlformats.org/drawingml/2006/main">
            <a:r>
              <a:t/>
            </a:r>
          </a:p>
          <a:p xmlns:a="http://schemas.openxmlformats.org/drawingml/2006/main">
            <a:r>
              <a:t>[Timing]</a:t>
            </a:r>
          </a:p>
          <a:p xmlns:a="http://schemas.openxmlformats.org/drawingml/2006/main">
            <a:r>
              <a:t>2 minutes (02:00)</a:t>
            </a:r>
          </a:p>
          <a:p xmlns:a="http://schemas.openxmlformats.org/drawingml/2006/main">
            <a:r>
              <a:t/>
            </a:r>
          </a:p>
          <a:p xmlns:a="http://schemas.openxmlformats.org/drawingml/2006/main">
            <a:r>
              <a:t>[Talk track]</a:t>
            </a:r>
          </a:p>
          <a:p xmlns:a="http://schemas.openxmlformats.org/drawingml/2006/main">
            <a:r>
              <a:t>Separate three identifiers. A panel number is the user-facing one-based form of a stable internal panel ID. It survives layout changes and is not reused after removal. A managed-session ID identifies the current agent instance/profile. Message and thread IDs identify routed activity within the in-memory ledger.</a:t>
            </a:r>
          </a:p>
          <a:p xmlns:a="http://schemas.openxmlformats.org/drawingml/2006/main">
            <a:r>
              <a:t/>
            </a:r>
          </a:p>
          <a:p xmlns:a="http://schemas.openxmlformats.org/drawingml/2006/main">
            <a:r>
              <a:t>For routing, Commander captures the exact target terminal object, managed session ID, adapter, and profile. It rechecks these before writing and after asynchronous gaps. If Panel 2 restarts as the same Claude profile, that is still a different session; a message queued for the previous instance must not silently reach the replacement.</a:t>
            </a:r>
          </a:p>
          <a:p xmlns:a="http://schemas.openxmlformats.org/drawingml/2006/main">
            <a:r>
              <a:t/>
            </a:r>
          </a:p>
          <a:p xmlns:a="http://schemas.openxmlformats.org/drawingml/2006/main">
            <a:r>
              <a:t>For REPLY, the ledger stores routes under the session expected to answer. The newest route is claimed first. It records the return session, thread, and preceding message. Closing either endpoint removes the route. A delivery failure can restore a claimed route only while both sessions are still active.</a:t>
            </a:r>
          </a:p>
          <a:p xmlns:a="http://schemas.openxmlformats.org/drawingml/2006/main">
            <a:r>
              <a:t/>
            </a:r>
          </a:p>
          <a:p xmlns:a="http://schemas.openxmlformats.org/drawingml/2006/main">
            <a:r>
              <a:t>Explain the operational consequence: panel navigation is flexible, but queued authorization and replies remain bound to specific running sessions. The human should serialize ambiguous parallel questions when using implicit newest-first REPLY.</a:t>
            </a:r>
          </a:p>
          <a:p xmlns:a="http://schemas.openxmlformats.org/drawingml/2006/main">
            <a:r>
              <a:t/>
            </a:r>
          </a:p>
          <a:p xmlns:a="http://schemas.openxmlformats.org/drawingml/2006/main">
            <a:r>
              <a:t>[Caveats]</a:t>
            </a:r>
          </a:p>
          <a:p xmlns:a="http://schemas.openxmlformats.org/drawingml/2006/main">
            <a:r>
              <a:t>REPLY is not explicit thread-addressed RPC; multiple open questions can be ambiguous. Default pending-route caps are 64 per session and 1000 globally, with oldest routes evicted under pressure. There is no reply expiry/completion timer. The application allows at most 100 active panels; the 1,000,000 panel-number range is an address range, not concurrent capacity.</a:t>
            </a:r>
          </a:p>
          <a:p xmlns:a="http://schemas.openxmlformats.org/drawingml/2006/main">
            <a:r>
              <a:t/>
            </a:r>
          </a:p>
          <a:p xmlns:a="http://schemas.openxmlformats.org/drawingml/2006/main">
            <a:r>
              <a:t>[Sources]</a:t>
            </a:r>
          </a:p>
          <a:p xmlns:a="http://schemas.openxmlformats.org/drawingml/2006/main">
            <a:r>
              <a:t>/Users/lech.kalinowski/products/agents commander/src/panel-limits.ts:4-13 — active-panel boundary and stable address range.</a:t>
            </a:r>
          </a:p>
          <a:p xmlns:a="http://schemas.openxmlformats.org/drawingml/2006/main">
            <a:r>
              <a:t>/Users/lech.kalinowski/products/agents commander/src/orchestration/orchestrator.ts:301-315,324-406,616-682,1840-1864,1995-1999 — lifecycle, target snapshots, reply routing and restoration.</a:t>
            </a:r>
          </a:p>
          <a:p xmlns:a="http://schemas.openxmlformats.org/drawingml/2006/main">
            <a:r>
              <a:t>/Users/lech.kalinowski/products/agents commander/src/orchestration/message-ledger.ts:34-41,56-78,179-207,263-305 — reply-route identity, newest-first claim and bounded retention.</a:t>
            </a:r>
          </a:p>
          <a:p xmlns:a="http://schemas.openxmlformats.org/drawingml/2006/main">
            <a:r>
              <a:t>/Users/lech.kalinowski/products/agents commander/tests/unit/orchestrator.test.ts:1038-1150 — same-profile target restarts invalidate queued SEND/REPLY/BROADCAST.</a:t>
            </a:r>
          </a:p>
          <a:p xmlns:a="http://schemas.openxmlformats.org/drawingml/2006/main">
            <a:r>
              <a:t>/Users/lech.kalinowski/products/agents commander/tests/unit/message-ledger.test.ts:57-150 — route caps and session closure.</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Bounded queues and revalidation protect terminal input</a:t>
            </a:r>
          </a:p>
          <a:p xmlns:a="http://schemas.openxmlformats.org/drawingml/2006/main">
            <a:r>
              <a:t/>
            </a:r>
          </a:p>
          <a:p xmlns:a="http://schemas.openxmlformats.org/drawingml/2006/main">
            <a:r>
              <a:t>[Timing]</a:t>
            </a:r>
          </a:p>
          <a:p xmlns:a="http://schemas.openxmlformats.org/drawingml/2006/main">
            <a:r>
              <a:t>2 minutes (02:00)</a:t>
            </a:r>
          </a:p>
          <a:p xmlns:a="http://schemas.openxmlformats.org/drawingml/2006/main">
            <a:r>
              <a:t/>
            </a:r>
          </a:p>
          <a:p xmlns:a="http://schemas.openxmlformats.org/drawingml/2006/main">
            <a:r>
              <a:t>[Talk track]</a:t>
            </a:r>
          </a:p>
          <a:p xmlns:a="http://schemas.openxmlformats.org/drawingml/2006/main">
            <a:r>
              <a:t>Trace the guard graph in its real order. The observed frame first passes current-source and capability checks, plus the startup engagement guard where applicable. SEND then creates a queued ledger record and captures the target. Queue admission checks retained task count and UTF-8 bytes. Before any task input, execution normalizes the payload, checks the target is present and unchanged, and refuses automatic replacement of a missing or mismatched agent.</a:t>
            </a:r>
          </a:p>
          <a:p xmlns:a="http://schemas.openxmlformats.org/drawingml/2006/main">
            <a:r>
              <a:t/>
            </a:r>
          </a:p>
          <a:p xmlns:a="http://schemas.openxmlformats.org/drawingml/2006/main">
            <a:r>
              <a:t>Each panel queue is sequential, and all Commander-generated writes for a managed session share an input lane. Inside the lane, Commander checks identity again before writing and between delayed chunks or submission. Payloads reject unsafe terminal control characters. Multiline delivery normally uses bracketed paste; UTF-8-safe chunks are at most 1024 bytes with 15-ms pacing. Short single-line Claude traffic has a direct-type path; paste submission has adapter-specific delays.</a:t>
            </a:r>
          </a:p>
          <a:p xmlns:a="http://schemas.openxmlformats.org/drawingml/2006/main">
            <a:r>
              <a:t/>
            </a:r>
          </a:p>
          <a:p xmlns:a="http://schemas.openxmlformats.org/drawingml/2006/main">
            <a:r>
              <a:t>The default retained-queue budgets are 64 tasks/512 KiB per panel and 512 tasks/4 MiB globally, including a task currently being delivered. On rejection or delivery failure, routed records become failed and SEND/REPLY return a failure ACK when the source session still exists.</a:t>
            </a:r>
          </a:p>
          <a:p xmlns:a="http://schemas.openxmlformats.org/drawingml/2006/main">
            <a:r>
              <a:t/>
            </a:r>
          </a:p>
          <a:p xmlns:a="http://schemas.openxmlformats.org/drawingml/2006/main">
            <a:r>
              <a:t>[Caveats]</a:t>
            </a:r>
          </a:p>
          <a:p xmlns:a="http://schemas.openxmlformats.org/drawingml/2006/main">
            <a:r>
              <a:t>These are memory/admission guards, not a throughput guarantee or sandbox for the agent's tools. The ledger is in memory, with completed-history budgets, not durable event storage. Capability checks do not validate whether the requested action is safe or appropriate; permissions and output review still matter.</a:t>
            </a:r>
          </a:p>
          <a:p xmlns:a="http://schemas.openxmlformats.org/drawingml/2006/main">
            <a:r>
              <a:t/>
            </a:r>
          </a:p>
          <a:p xmlns:a="http://schemas.openxmlformats.org/drawingml/2006/main">
            <a:r>
              <a:t>[Sources]</a:t>
            </a:r>
          </a:p>
          <a:p xmlns:a="http://schemas.openxmlformats.org/drawingml/2006/main">
            <a:r>
              <a:t>/Users/lech.kalinowski/products/agents commander/src/orchestration/orchestrator.ts:140-147,520-535,564-611,863-895,1128-1212,1250-1365 — gates, admission, queues, input lanes and failure handling.</a:t>
            </a:r>
          </a:p>
          <a:p xmlns:a="http://schemas.openxmlformats.org/drawingml/2006/main">
            <a:r>
              <a:t>/Users/lech.kalinowski/products/agents commander/src/orchestration/orchestrator.ts:1528-1572,1664-1753,1757-1833 — payload checks, target refusal/revalidation, paste, submission, UTF-8 chunking.</a:t>
            </a:r>
          </a:p>
          <a:p xmlns:a="http://schemas.openxmlformats.org/drawingml/2006/main">
            <a:r>
              <a:t>/Users/lech.kalinowski/products/agents commander/src/orchestration/message-ledger.ts:56-78,233-260,330-347 — in-memory history and payload bounds.</a:t>
            </a:r>
          </a:p>
          <a:p xmlns:a="http://schemas.openxmlformats.org/drawingml/2006/main">
            <a:r>
              <a:t>/Users/lech.kalinowski/products/agents commander/tests/unit/orchestrator.test.ts:865-1020,1860-1885,2034-2199 — queue budgets, automatic target refusal, input serialization, control rejection and chunking.</a:t>
            </a:r>
          </a:p>
          <a:p xmlns:a="http://schemas.openxmlformats.org/drawingml/2006/main">
            <a:r>
              <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 minutes</a:t>
            </a:r>
          </a:p>
          <a:p xmlns:a="http://schemas.openxmlformats.org/drawingml/2006/main">
            <a:r>
              <a:t/>
            </a:r>
          </a:p>
          <a:p xmlns:a="http://schemas.openxmlformats.org/drawingml/2006/main">
            <a:r>
              <a:t>[Talk track]</a:t>
            </a:r>
          </a:p>
          <a:p xmlns:a="http://schemas.openxmlformats.org/drawingml/2006/main">
            <a:r>
              <a:t>Place BAND and Jam in the competitive landscape without a winner/loser scorecard. Jam is the closer coding-workspace comparison; BAND is the broader commercial agent-collaboration platform. The same user need can lead to different architectural boundaries.</a:t>
            </a:r>
          </a:p>
          <a:p xmlns:a="http://schemas.openxmlformats.org/drawingml/2006/main">
            <a:r>
              <a:t/>
            </a:r>
          </a:p>
          <a:p xmlns:a="http://schemas.openxmlformats.org/drawingml/2006/main">
            <a:r>
              <a:t>Jam keeps coding sessions local but uses BAND for coordination messages. Its documented setup combines Desktop, a bundled jam CLI, the jamd background daemon, and Claude Code’s band-peer plugin. Rooms carry shared coordination. Commander instead observes terminal output and injects text into a target local PTY; F12 shows its bounded in-memory routed ledger. Both still rely on the coding agents’ own tools and provider behavior. Local execution is not the same as local-only coordination or local-only data.</a:t>
            </a:r>
          </a:p>
          <a:p xmlns:a="http://schemas.openxmlformats.org/drawingml/2006/main">
            <a:r>
              <a:t/>
            </a:r>
          </a:p>
          <a:p xmlns:a="http://schemas.openxmlformats.org/drawingml/2006/main">
            <a:r>
              <a:t>BAND advertises distributed interaction and governance. We did not independently test those guarantees. Its public platform plans currently list Free at $0, Pro at $17.99/month, and Enterprise by quote. This is not a verified Jam-specific price. Commander’s source is CC-BY-NC-4.0; do not frame this as unrestricted free commercial software versus paid-only software. Agent/model costs are a separate consideration.</a:t>
            </a:r>
          </a:p>
          <a:p xmlns:a="http://schemas.openxmlformats.org/drawingml/2006/main">
            <a:r>
              <a:t/>
            </a:r>
          </a:p>
          <a:p xmlns:a="http://schemas.openxmlformats.org/drawingml/2006/main">
            <a:r>
              <a:t>[Boundaries]</a:t>
            </a:r>
          </a:p>
          <a:p xmlns:a="http://schemas.openxmlformats.org/drawingml/2006/main">
            <a:r>
              <a:t>This comparison is documentation-based, not a hands-on benchmark or endorsement. Do not describe Jam as merely a Chrome terminal, assume all BAND SDK adapters are direct Jam CLI integrations, infer GA/beta status, or repeat absolute security/exactly-once claims. Recheck prices before presenting.</a:t>
            </a:r>
          </a:p>
          <a:p xmlns:a="http://schemas.openxmlformats.org/drawingml/2006/main">
            <a:r>
              <a:t/>
            </a:r>
          </a:p>
          <a:p xmlns:a="http://schemas.openxmlformats.org/drawingml/2006/main">
            <a:r>
              <a:t>[Sources]</a:t>
            </a:r>
          </a:p>
          <a:p xmlns:a="http://schemas.openxmlformats.org/drawingml/2006/main">
            <a:r>
              <a:t>https://www.band.ai/use-cases/jam — local coding sessions and networked coordination; accessed 2026-09-02.</a:t>
            </a:r>
          </a:p>
          <a:p xmlns:a="http://schemas.openxmlformats.org/drawingml/2006/main">
            <a:r>
              <a:t>https://docs.band.ai/jam — Desktop, CLI, daemon, Claude Code plugin and collaboration visibility; accessed 2026-09-02.</a:t>
            </a:r>
          </a:p>
          <a:p xmlns:a="http://schemas.openxmlformats.org/drawingml/2006/main">
            <a:r>
              <a:t>https://www.band.ai/platform — broader distributed interaction/governance positioning; accessed 2026-09-02.</a:t>
            </a:r>
          </a:p>
          <a:p xmlns:a="http://schemas.openxmlformats.org/drawingml/2006/main">
            <a:r>
              <a:t>https://www.band.ai/pricing — Free, Pro $17.99/month, Enterprise quote; accessed 2026-09-02.</a:t>
            </a:r>
          </a:p>
          <a:p xmlns:a="http://schemas.openxmlformats.org/drawingml/2006/main">
            <a:r>
              <a:t>/Users/lech.kalinowski/products/agents commander/src/orchestration/orchestrator.ts</a:t>
            </a:r>
          </a:p>
          <a:p xmlns:a="http://schemas.openxmlformats.org/drawingml/2006/main">
            <a:r>
              <a:t>/Users/lech.kalinowski/products/agents commander/src/panels/terminal-panel.ts</a:t>
            </a:r>
          </a:p>
          <a:p xmlns:a="http://schemas.openxmlformats.org/drawingml/2006/main">
            <a:r>
              <a:t>/Users/lech.kalinowski/products/agents commander/src/orchestration/message-ledger.ts</a:t>
            </a:r>
          </a:p>
          <a:p xmlns:a="http://schemas.openxmlformats.org/drawingml/2006/main">
            <a:r>
              <a:t>/Users/lech.kalinowski/products/agents commander/LICENSE</a:t>
            </a:r>
          </a:p>
          <a:p xmlns:a="http://schemas.openxmlformats.org/drawingml/2006/main">
            <a:r>
              <a:t>https://www.callstack.com/media-kit — inherited visual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4 minutes</a:t>
            </a:r>
          </a:p>
          <a:p xmlns:a="http://schemas.openxmlformats.org/drawingml/2006/main">
            <a:r>
              <a:t/>
            </a:r>
          </a:p>
          <a:p xmlns:a="http://schemas.openxmlformats.org/drawingml/2006/main">
            <a:r>
              <a:t>Spend 4 minutes proving the machinery before asking an LLM to use it. Start the built 0.1.5 source with --demo, focus Demo Coordinator and type START. Observe the exact SEND, local STATUS acknowledgement, and REPLY. Verify deterministic calculateTotal([19, 23]) = 42. Open F12 and point to delivered SEND/REPLY with the same thread and different message IDs. STATUS does not appear in routed Activity. No network or credentials are required. These are deterministic fixtures, never describe them as reasoning agents.</a:t>
            </a:r>
          </a:p>
          <a:p xmlns:a="http://schemas.openxmlformats.org/drawingml/2006/main">
            <a:r>
              <a:t>Recovery: when both roles have exited, Ctrl+O can offer a newly seeded demo. While either role is live, Ctrl+O is normal Orchestrate; relaunch --demo for a clean reset.</a:t>
            </a:r>
          </a:p>
          <a:p xmlns:a="http://schemas.openxmlformats.org/drawingml/2006/main">
            <a:r>
              <a:t/>
            </a:r>
          </a:p>
          <a:p xmlns:a="http://schemas.openxmlformats.org/drawingml/2006/main">
            <a:r>
              <a:t>[Sources]</a:t>
            </a:r>
          </a:p>
          <a:p xmlns:a="http://schemas.openxmlformats.org/drawingml/2006/main">
            <a:r>
              <a:t>/Users/lech.kalinowski/products/agents commander/src/demo/demo-agent.js</a:t>
            </a:r>
          </a:p>
          <a:p xmlns:a="http://schemas.openxmlformats.org/drawingml/2006/main">
            <a:r>
              <a:t>/Users/lech.kalinowski/products/agents commander/src/demo/demo-workspace.ts</a:t>
            </a:r>
          </a:p>
          <a:p xmlns:a="http://schemas.openxmlformats.org/drawingml/2006/main">
            <a:r>
              <a:t>/Users/lech.kalinowski/products/agents commander/presentation/README.md</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6 minutes</a:t>
            </a:r>
          </a:p>
          <a:p xmlns:a="http://schemas.openxmlformats.org/drawingml/2006/main">
            <a:r>
              <a:t/>
            </a:r>
          </a:p>
          <a:p xmlns:a="http://schemas.openxmlformats.org/drawingml/2006/main">
            <a:r>
              <a:t>6 minutes. Start exactly two authenticated real CLI sessions: Panel 1 Codex CLI, Panel 2 Claude Code. Run --conference --panels 2 from the source checkout. Before the audience enters, finish authentication and press Ctrl+P separately in both panels.</a:t>
            </a:r>
          </a:p>
          <a:p xmlns:a="http://schemas.openxmlformats.org/drawingml/2006/main">
            <a:r>
              <a:t/>
            </a:r>
          </a:p>
          <a:p xmlns:a="http://schemas.openxmlformats.org/drawingml/2006/main">
            <a:r>
              <a:t>[Exact live prompt]</a:t>
            </a:r>
          </a:p>
          <a:p xmlns:a="http://schemas.openxmlformats.org/drawingml/2006/main">
            <a:r>
              <a:t>Read `src/orchestration/message-ledger.ts`. Do not edit files. In at most five</a:t>
            </a:r>
          </a:p>
          <a:p xmlns:a="http://schemas.openxmlformats.org/drawingml/2006/main">
            <a:r>
              <a:t>bullets, propose a minimal opt-in design that persists routed Activity across</a:t>
            </a:r>
          </a:p>
          <a:p xmlns:a="http://schemas.openxmlformats.org/drawingml/2006/main">
            <a:r>
              <a:t>restarts. Say whether message content is stored and name one security</a:t>
            </a:r>
          </a:p>
          <a:p xmlns:a="http://schemas.openxmlformats.org/drawingml/2006/main">
            <a:r>
              <a:t>assumption. End the proposal with `PROPOSAL_READY`. Then use Commander `SEND`</a:t>
            </a:r>
          </a:p>
          <a:p xmlns:a="http://schemas.openxmlformats.org/drawingml/2006/main">
            <a:r>
              <a:t>to Claude Code in panel 2 with this exact request: Challenge the assumption</a:t>
            </a:r>
          </a:p>
          <a:p xmlns:a="http://schemas.openxmlformats.org/drawingml/2006/main">
            <a:r>
              <a:t>that full message content should be persisted. Cite two concrete controls</a:t>
            </a:r>
          </a:p>
          <a:p xmlns:a="http://schemas.openxmlformats.org/drawingml/2006/main">
            <a:r>
              <a:t>already present in `message-ledger.ts`, give one testable acceptance criterion,</a:t>
            </a:r>
          </a:p>
          <a:p xmlns:a="http://schemas.openxmlformats.org/drawingml/2006/main">
            <a:r>
              <a:t>end with `CHALLENGE_READY`, and `REPLY` to me. When the challenge returns,</a:t>
            </a:r>
          </a:p>
          <a:p xmlns:a="http://schemas.openxmlformats.org/drawingml/2006/main">
            <a:r>
              <a:t>refine or reject your proposal with evidence from the file, name one test, and</a:t>
            </a:r>
          </a:p>
          <a:p xmlns:a="http://schemas.openxmlformats.org/drawingml/2006/main">
            <a:r>
              <a:t>end with `REFINED_READY`.</a:t>
            </a:r>
          </a:p>
          <a:p xmlns:a="http://schemas.openxmlformats.org/drawingml/2006/main">
            <a:r>
              <a:t/>
            </a:r>
          </a:p>
          <a:p xmlns:a="http://schemas.openxmlformats.org/drawingml/2006/main">
            <a:r>
              <a:t>[Evidence and prepared fallback]</a:t>
            </a:r>
          </a:p>
          <a:p xmlns:a="http://schemas.openxmlformats.org/drawingml/2006/main">
            <a:r>
              <a:t>The challenge should cite maxMessages and content-byte limits/truncation: persistent full prompts can retain sensitive data and bypass bounded in-memory retention. The refinement should be opt-in, metadata-only or redacted by default, bounded rotation, with a test for persistence after restart and no retained full content by default. Success: routed challenge returns, Codex reaches REFINED_READY, and F12 shows delivered SEND/REPLY on the same thread. Allow 45 seconds per agent response. On timeout/auth/provider/routing error, open F12 once, name the failure, stop waiting and narrate the prepared proposal/challenge/refinement visible here. Do not debug credentials on stage. These are proposed changes, not implemented persistence features.</a:t>
            </a:r>
          </a:p>
          <a:p xmlns:a="http://schemas.openxmlformats.org/drawingml/2006/main">
            <a:r>
              <a:t/>
            </a:r>
          </a:p>
          <a:p xmlns:a="http://schemas.openxmlformats.org/drawingml/2006/main">
            <a:r>
              <a:t>[Sources]</a:t>
            </a:r>
          </a:p>
          <a:p xmlns:a="http://schemas.openxmlformats.org/drawingml/2006/main">
            <a:r>
              <a:t>/Users/lech.kalinowski/products/agents commander/src/orchestration/message-ledger.ts</a:t>
            </a:r>
          </a:p>
          <a:p xmlns:a="http://schemas.openxmlformats.org/drawingml/2006/main">
            <a:r>
              <a:t>/Users/lech.kalinowski/products/agents commander/presentation/README.md</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 minutes</a:t>
            </a:r>
          </a:p>
          <a:p xmlns:a="http://schemas.openxmlformats.org/drawingml/2006/main">
            <a:r>
              <a:t/>
            </a:r>
          </a:p>
          <a:p xmlns:a="http://schemas.openxmlformats.org/drawingml/2006/main">
            <a:r>
              <a:t>1.5 minutes. Show the proof at readable size: newest-first Activity contains two delivered routed records, one SEND and one REPLY. The thread is thr_000001 for both; msg_000001 and msg_000002 identify different messages. Activity is in memory and bounded. It is not a durable audit log; STATUS and QUERY are local effects and absent here. Delivered is submission, not semantic correctness.</a:t>
            </a:r>
          </a:p>
          <a:p xmlns:a="http://schemas.openxmlformats.org/drawingml/2006/main">
            <a:r>
              <a:t/>
            </a:r>
          </a:p>
          <a:p xmlns:a="http://schemas.openxmlformats.org/drawingml/2006/main">
            <a:r>
              <a:t>[Sources]</a:t>
            </a:r>
          </a:p>
          <a:p xmlns:a="http://schemas.openxmlformats.org/drawingml/2006/main">
            <a:r>
              <a:t>Actual capture from the unmodified compiled 0.1.5 deterministic demo; lossless crop left=300, top=80, width=1000, height=242 from capture/activity.png. No content redrawn.</a:t>
            </a:r>
          </a:p>
          <a:p xmlns:a="http://schemas.openxmlformats.org/drawingml/2006/main">
            <a:r>
              <a:t>/Users/lech.kalinowski/products/agents commander/src/orchestration/message-ledger.ts</a:t>
            </a:r>
          </a:p>
          <a:p xmlns:a="http://schemas.openxmlformats.org/drawingml/2006/main">
            <a:r>
              <a:t>/Users/lech.kalinowski/products/agents commander/src/screen/dialog/activity-dialog.ts</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 minutes</a:t>
            </a:r>
          </a:p>
          <a:p xmlns:a="http://schemas.openxmlformats.org/drawingml/2006/main">
            <a:r>
              <a:t/>
            </a:r>
          </a:p>
          <a:p xmlns:a="http://schemas.openxmlformats.org/drawingml/2006/main">
            <a:r>
              <a:t>1.5 minutes. Human controls are primary: F11 finds panels, F12 exposes routed activity, Ctrl+K stops the active session. Optional Codex Micro is an experimental physical control surface, not an autonomous approval agent. Prefer wired USB. Close ChatGPT Desktop or disable its Input Monitoring permission and restart it, then grant the presentation terminal Input Monitoring. Rehearse --doctor --codex-micro and --codex-micro-test first. MICRO:BUSY fails closed and drops device input when another HID reader is detected. This is not OS-enforced exclusive access. Stop pressing controls, close the competing reader and wait for MICRO:USB/GUARD. Guarded decision buttons are off unless --codex-micro-decisions is explicitly enabled. Do not promise arbitrary provider prompt recognition or firmware/RGB control. Keyboard fallback has no reader guard and disables decisions; ChatGPT must stay quit.</a:t>
            </a:r>
          </a:p>
          <a:p xmlns:a="http://schemas.openxmlformats.org/drawingml/2006/main">
            <a:r>
              <a:t/>
            </a:r>
          </a:p>
          <a:p xmlns:a="http://schemas.openxmlformats.org/drawingml/2006/main">
            <a:r>
              <a:t>[Sources]</a:t>
            </a:r>
          </a:p>
          <a:p xmlns:a="http://schemas.openxmlformats.org/drawingml/2006/main">
            <a:r>
              <a:t>/Users/lech.kalinowski/products/agents commander/docs/codex-micro.md</a:t>
            </a:r>
          </a:p>
          <a:p xmlns:a="http://schemas.openxmlformats.org/drawingml/2006/main">
            <a:r>
              <a:t>/Users/lech.kalinowski/products/agents commander/src/hardware/codex-micro.ts</a:t>
            </a:r>
          </a:p>
          <a:p xmlns:a="http://schemas.openxmlformats.org/drawingml/2006/main">
            <a:r>
              <a:t>/Users/lech.kalinowski/products/agents commander/presentation/README.md</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 minutes</a:t>
            </a:r>
          </a:p>
          <a:p xmlns:a="http://schemas.openxmlformats.org/drawingml/2006/main">
            <a:r>
              <a:t/>
            </a:r>
          </a:p>
          <a:p xmlns:a="http://schemas.openxmlformats.org/drawingml/2006/main">
            <a:r>
              <a:t>2 minutes. This is a recovery policy, not a retry loop. At 45 seconds per response or any auth/provider/routing failure, inspect F12 once, describe only what is visible, and stop waiting. Use the deterministic offline runtime to prove transport; use the prepared slide 13 content to discuss proposal/challenge/refinement, clearly labeled as prepared. If Micro fails, use a normal keyboard; no agent depends on it. Ctrl+K stops an active session. F10 escalates tracked process groups from SIGINT through SIGTERM to SIGKILL, waits, and restores the terminal. Do not clear a running layout accidentally: focus a file panel before Ctrl+E and confirm live sessions.</a:t>
            </a:r>
          </a:p>
          <a:p xmlns:a="http://schemas.openxmlformats.org/drawingml/2006/main">
            <a:r>
              <a:t/>
            </a:r>
          </a:p>
          <a:p xmlns:a="http://schemas.openxmlformats.org/drawingml/2006/main">
            <a:r>
              <a:t>[Sources]</a:t>
            </a:r>
          </a:p>
          <a:p xmlns:a="http://schemas.openxmlformats.org/drawingml/2006/main">
            <a:r>
              <a:t>/Users/lech.kalinowski/products/agents commander/presentation/README.md</a:t>
            </a:r>
          </a:p>
          <a:p xmlns:a="http://schemas.openxmlformats.org/drawingml/2006/main">
            <a:r>
              <a:t>/Users/lech.kalinowski/products/agents commander/src/app.ts</a:t>
            </a:r>
          </a:p>
          <a:p xmlns:a="http://schemas.openxmlformats.org/drawingml/2006/main">
            <a:r>
              <a:t>/Users/lech.kalinowski/products/agents commander/docs/codex-micro.md</a:t>
            </a:r>
          </a:p>
          <a:p xmlns:a="http://schemas.openxmlformats.org/drawingml/2006/main">
            <a:r>
              <a:t>https://www.callstack.com/media-kit — inherited visual identity; Callstack mark is speaker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 minutes</a:t>
            </a:r>
          </a:p>
          <a:p xmlns:a="http://schemas.openxmlformats.org/drawingml/2006/main">
            <a:r>
              <a:t/>
            </a:r>
          </a:p>
          <a:p xmlns:a="http://schemas.openxmlformats.org/drawingml/2006/main">
            <a:r>
              <a:t>1 minute. Public availability is real: npm latest was verified as 0.1.4 on 2026-09-02. Show the pinned, runnable command npx agents-commander@0.1.4 . . That package is the earlier public CLI, not the conference feature set. Public 0.1.4 declares Node &gt;=18 in stale package metadata, but dependencies are stricter; use Node22+ and supports the earlier panel/theme/directory flags; --demo, --doctor and --conference are not public 0.1.4 flags. Today’s technical deck and captures use 0.1.5 built from this source checkout, Node22+ and Python3. Do not claim 0.1.5 is published. Source is CC-BY-NC-4.0: publicly available, not unrestricted commercial use or OSI open source.</a:t>
            </a:r>
          </a:p>
          <a:p xmlns:a="http://schemas.openxmlformats.org/drawingml/2006/main">
            <a:r>
              <a:t/>
            </a:r>
          </a:p>
          <a:p xmlns:a="http://schemas.openxmlformats.org/drawingml/2006/main">
            <a:r>
              <a:t>[Sources]</a:t>
            </a:r>
          </a:p>
          <a:p xmlns:a="http://schemas.openxmlformats.org/drawingml/2006/main">
            <a:r>
              <a:t>https://registry.npmjs.org/agents-commander — dist-tags.latest=0.1.4, verified 2026-09-02.</a:t>
            </a:r>
          </a:p>
          <a:p xmlns:a="http://schemas.openxmlformats.org/drawingml/2006/main">
            <a:r>
              <a:t>https://registry.npmjs.org/agents-commander/-/agents-commander-0.1.4.tgz — inspected package.json and CLI without installation/execution.</a:t>
            </a:r>
          </a:p>
          <a:p xmlns:a="http://schemas.openxmlformats.org/drawingml/2006/main">
            <a:r>
              <a:t>https://www.npmjs.com/package/agents-commander</a:t>
            </a:r>
          </a:p>
          <a:p xmlns:a="http://schemas.openxmlformats.org/drawingml/2006/main">
            <a:r>
              <a:t>https://github.com/lech-kalinowski/agents-commander</a:t>
            </a:r>
          </a:p>
          <a:p xmlns:a="http://schemas.openxmlformats.org/drawingml/2006/main">
            <a:r>
              <a:t>/Users/lech.kalinowski/products/agents commander/package.json</a:t>
            </a:r>
          </a:p>
          <a:p xmlns:a="http://schemas.openxmlformats.org/drawingml/2006/main">
            <a:r>
              <a:t>/Users/lech.kalinowski/products/agents commander/LICENSE</a:t>
            </a:r>
          </a:p>
          <a:p xmlns:a="http://schemas.openxmlformats.org/drawingml/2006/main">
            <a:r>
              <a:t>https://registry.npmjs.org/chokidar/5.0.0 — dependency engines.node &gt;=20.19.0.</a:t>
            </a:r>
          </a:p>
          <a:p xmlns:a="http://schemas.openxmlformats.org/drawingml/2006/main">
            <a:r>
              <a:t>https://github.com/lech-kalinowski/agents-commander/tree/codex/review-and-release-0.1.5 — exact conference-source branch; main is older.</a:t>
            </a:r>
          </a:p>
          <a:p xmlns:a="http://schemas.openxmlformats.org/drawingml/2006/main">
            <a:r>
              <a:t>https://www.callstack.com/media-kit — inherited visual identity; Callstack mark is speaker affiliation.</a:t>
            </a:r>
          </a:p>
          <a:p xmlns:a="http://schemas.openxmlformats.org/drawingml/2006/main">
            <a:r>
              <a:t/>
            </a:r>
          </a:p>
          <a:p xmlns:a="http://schemas.openxmlformats.org/drawingml/2006/main">
            <a:r>
              <a:t>[Sources — logo refresh]</a:t>
            </a:r>
          </a:p>
          <a:p xmlns:a="http://schemas.openxmlformats.org/drawingml/2006/main">
            <a:r>
              <a:t>/Users/lech.kalinowski/products/agents commander/assets/logo.png — original user-requested retro mark, generated with built-in image generation, 2026-09-02.</a:t>
            </a:r>
          </a:p>
          <a:p xmlns:a="http://schemas.openxmlformats.org/drawingml/2006/main">
            <a:r>
              <a:t>/Users/lech.kalinowski/products/agents commander/assets/BRAND.md — asset usage and prompt provenance.</a:t>
            </a:r>
          </a:p>
          <a:p xmlns:a="http://schemas.openxmlformats.org/drawingml/2006/main">
            <a:r>
              <a:t>Existing Callstack logo and template identity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5:00</a:t>
            </a:r>
          </a:p>
          <a:p xmlns:a="http://schemas.openxmlformats.org/drawingml/2006/main">
            <a:r>
              <a:t/>
            </a:r>
          </a:p>
          <a:p xmlns:a="http://schemas.openxmlformats.org/drawingml/2006/main">
            <a:r>
              <a:t>Use the prompts to structure Q&amp;A: what evidence must survive each handoff, when one agent should challenge another, and where a human interruption is mandatory.</a:t>
            </a:r>
          </a:p>
          <a:p xmlns:a="http://schemas.openxmlformats.org/drawingml/2006/main">
            <a:r>
              <a:t/>
            </a:r>
          </a:p>
          <a:p xmlns:a="http://schemas.openxmlformats.org/drawingml/2006/main">
            <a:r>
              <a:t>If questions are slow, ask: “Would you authorize one agent to broadcast to every other agent automatically? What evidence would make that safe?”</a:t>
            </a:r>
          </a:p>
          <a:p xmlns:a="http://schemas.openxmlformats.org/drawingml/2006/main">
            <a:r>
              <a:t/>
            </a:r>
          </a:p>
          <a:p xmlns:a="http://schemas.openxmlformats.org/drawingml/2006/main">
            <a:r>
              <a:t>End with the practical boundary: Commander can make transport visible and controllable; it does not make model reasoning correct, disagreement resolved, or history durable by itself.</a:t>
            </a:r>
          </a:p>
          <a:p xmlns:a="http://schemas.openxmlformats.org/drawingml/2006/main">
            <a:r>
              <a:t/>
            </a:r>
          </a:p>
          <a:p xmlns:a="http://schemas.openxmlformats.org/drawingml/2006/main">
            <a:r>
              <a:t>[Sources]</a:t>
            </a:r>
          </a:p>
          <a:p xmlns:a="http://schemas.openxmlformats.org/drawingml/2006/main">
            <a:r>
              <a:t>- https://codeeurope.pl/speakers</a:t>
            </a:r>
          </a:p>
          <a:p xmlns:a="http://schemas.openxmlformats.org/drawingml/2006/main">
            <a:r>
              <a:t>- https://www.callstack.com/events/no-framework-no-server-making-ai-agents-collaborate-in-one-terminal</a:t>
            </a:r>
          </a:p>
          <a:p xmlns:a="http://schemas.openxmlformats.org/drawingml/2006/main">
            <a:r>
              <a:t>- /Users/lech.kalinowski/products/agents commander/README.md</a:t>
            </a:r>
          </a:p>
          <a:p xmlns:a="http://schemas.openxmlformats.org/drawingml/2006/main">
            <a:r>
              <a:t>- /Users/lech.kalinowski/products/agents commander/src/orchestration/protocol.ts</a:t>
            </a:r>
          </a:p>
          <a:p xmlns:a="http://schemas.openxmlformats.org/drawingml/2006/main">
            <a:r>
              <a:t>- /Users/lech.kalinowski/products/agents commander/src/orchestration/message-ledger.ts</a:t>
            </a:r>
          </a:p>
          <a:p xmlns:a="http://schemas.openxmlformats.org/drawingml/2006/main">
            <a:r>
              <a:t/>
            </a:r>
          </a:p>
          <a:p xmlns:a="http://schemas.openxmlformats.org/drawingml/2006/main">
            <a:r>
              <a:t>[Sources]</a:t>
            </a:r>
          </a:p>
          <a:p xmlns:a="http://schemas.openxmlformats.org/drawingml/2006/main">
            <a:r>
              <a:t>https://www.callstack.com/media-kit — inherited Callstack visual identity and affiliation mark.</a:t>
            </a:r>
          </a:p>
          <a:p xmlns:a="http://schemas.openxmlformats.org/drawingml/2006/main">
            <a:r>
              <a:t>/Users/lech.kalinowski/products/agents commander/assets/logo.png — Agents Commander project logo.</a:t>
            </a:r>
          </a:p>
          <a:p xmlns:a="http://schemas.openxmlformats.org/drawingml/2006/main">
            <a:r>
              <a:t/>
            </a:r>
          </a:p>
          <a:p xmlns:a="http://schemas.openxmlformats.org/drawingml/2006/main">
            <a:r>
              <a:t>[Sources — logo refresh]</a:t>
            </a:r>
          </a:p>
          <a:p xmlns:a="http://schemas.openxmlformats.org/drawingml/2006/main">
            <a:r>
              <a:t>/Users/lech.kalinowski/products/agents commander/assets/logo.png — original user-requested retro mark, generated with built-in image generation, 2026-09-02.</a:t>
            </a:r>
          </a:p>
          <a:p xmlns:a="http://schemas.openxmlformats.org/drawingml/2006/main">
            <a:r>
              <a:t>/Users/lech.kalinowski/products/agents commander/assets/BRAND.md — asset usage and prompt provenance.</a:t>
            </a:r>
          </a:p>
          <a:p xmlns:a="http://schemas.openxmlformats.org/drawingml/2006/main">
            <a:r>
              <a:t>Existing Callstack logo and template identity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dfdc1ae9ac47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a2a45b178143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1cf4c8546540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e573d42de440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79ace7721047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2b60e9e6954f1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a7e377b6191437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2e5d3f318ea465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4f2aab5aa624a4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2dfd169a0574d4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31ba53313bf4c8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D7CA46-DC3C-45F2-9052-5D92E35F3F8B}"/>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E3BDA128-384E-4A4E-BEC0-81E847304F7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0124124-F56D-477B-A387-37B4029734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521DE0BE-5544-4D84-81C4-5E429B6ECEB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B7DCC41-2E33-480B-952B-C3558E95C4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758345-A3E0-4D5D-9CFA-A3B42FB0FC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DE8BD06-215C-4854-A422-66CC6F2639B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1AD2CE5-EBD3-4F3F-9AD6-30AAA23F4B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E0180C6F-1391-4071-9D16-8F74F9AF74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C1E7826-60A3-4921-9A0D-36DF5DA839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AFF5A5-6250-47ED-AA8D-23FA1C07CFE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331F9B6-82FC-4A98-A844-B115DA9A3662}"/>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3DCAA89-2487-4C5C-A410-76096E51BE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FCA77239-126A-47BC-9E57-713A6AF9A7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7FF064D-4A1A-4EF6-8CDB-2CC08B815D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3D0B7E-D4AB-44FE-AB10-B9142ACED2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1B25D0B-CBF6-43C2-BEA6-E0084947AC7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2EC68A06-9F0E-4C3C-AE8D-7B5C76D992E0}"/>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B1AA3CC0-E977-4665-86A0-81320B6097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F173F75B-EB1C-47E8-9A17-2C72051213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CF2C95CA-CF23-4351-8686-2B39B0EB97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FFDF4F-D8C5-48C2-BCBD-9FBCF1CEA5C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8F4AC57-0A93-4002-BBC2-591A93041A5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4AAA74A-46A0-4577-A3A3-0C8AFB4115D4}"/>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E234D39-1734-4934-A96D-40CFD0F7A1E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A662F3AE-DFB1-4050-8BFF-98458C37E118}"/>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BE6DE3BD-FAEE-4B9D-B9C2-4759A36A44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8" name="Footer Placeholder 7">
            <a:extLst xmlns:a="http://schemas.openxmlformats.org/drawingml/2006/main">
              <a:ext uri="{FF2B5EF4-FFF2-40B4-BE49-F238E27FC236}">
                <a16:creationId xmlns:a16="http://schemas.microsoft.com/office/drawing/2014/main" id="{CE15CADE-C857-48CA-A37A-65E2DA87A5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AB2C4DB3-066A-4761-9CA7-3B52808B90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9B17AB-C158-4D1F-8721-F943FA38A34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089A156-C9CF-471E-A96D-5FA22127B6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4" name="Footer Placeholder 3">
            <a:extLst xmlns:a="http://schemas.openxmlformats.org/drawingml/2006/main">
              <a:ext uri="{FF2B5EF4-FFF2-40B4-BE49-F238E27FC236}">
                <a16:creationId xmlns:a16="http://schemas.microsoft.com/office/drawing/2014/main" id="{92F5DB43-FD9A-4231-BD93-3B6C79FCC5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B508FC53-E1C2-4E19-8A21-7277C034D6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4E1890D-1F1E-43F8-9A31-0C7F325F26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3" name="Footer Placeholder 2">
            <a:extLst xmlns:a="http://schemas.openxmlformats.org/drawingml/2006/main">
              <a:ext uri="{FF2B5EF4-FFF2-40B4-BE49-F238E27FC236}">
                <a16:creationId xmlns:a16="http://schemas.microsoft.com/office/drawing/2014/main" id="{022D7EBA-370A-4961-BBFC-1D897F5500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23247573-DA77-4F39-8B78-C0B50EC7BB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F718B4-F2AE-4CDB-A33E-73B66B8F363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7E7A708-1847-4A6F-912D-4785C95EEA1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73D24881-D57D-486A-8853-9FCEF3249471}"/>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6B1C701-6569-4501-A3CF-468698E355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C31A831B-1E20-438E-B284-FC4447FA3E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3087F804-5B6F-4B76-9E23-5D6B0C9BBD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3E7011-5068-49DE-B11D-3E340AC1D6C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16B6C0B-99D3-4C46-BB50-10178A7E43F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ED1E47AD-A098-497B-B495-5BE3EAF5EE8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4091853-AD5A-4246-AD62-350DFE1786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FF1F55D4-92A9-4C33-8447-B73E79B736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E65ABD08-8F50-4726-9D35-B700B31C2B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22617B-F95F-4401-93FF-F9AC57EA17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324A57A-5FCA-46E4-887C-0C0BFBCE7C6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7006EC1-8CAA-45D5-8B93-8444309DF2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DE5D6C4C-E20A-4324-B7A8-0F3DFAD747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787BCFD-5563-478A-B7AB-9B1165CBC5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C757974-379F-4C4B-A30F-4A1235AA103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B03FB64-0E98-4132-A093-DBED2105D305}"/>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77EC6F3-DF9E-432C-B619-DC973447B5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EE99499C-B5C7-44D5-8E5E-2813DD52B9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914F7E8-A266-4ECA-9D48-1F2EA76469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1bef5c708a4444" /><Relationship Type="http://schemas.openxmlformats.org/officeDocument/2006/relationships/slideLayout" Target="/ppt/slideLayouts/slideLayout1.xml" Id="Rf20d6b4b06a2421d" /><Relationship Type="http://schemas.openxmlformats.org/officeDocument/2006/relationships/slideLayout" Target="/ppt/slideLayouts/slideLayout2.xml" Id="Reafcd8aaf1ac4f27" /><Relationship Type="http://schemas.openxmlformats.org/officeDocument/2006/relationships/slideLayout" Target="/ppt/slideLayouts/slideLayout3.xml" Id="R3731b5ca5e8a4023" /><Relationship Type="http://schemas.openxmlformats.org/officeDocument/2006/relationships/slideLayout" Target="/ppt/slideLayouts/slideLayout4.xml" Id="R0f887a98c3dd4e7d" /><Relationship Type="http://schemas.openxmlformats.org/officeDocument/2006/relationships/slideLayout" Target="/ppt/slideLayouts/slideLayout5.xml" Id="Rc42dd7d47e7a404a" /><Relationship Type="http://schemas.openxmlformats.org/officeDocument/2006/relationships/slideLayout" Target="/ppt/slideLayouts/slideLayout6.xml" Id="Rf01369b5e8f540c3" /><Relationship Type="http://schemas.openxmlformats.org/officeDocument/2006/relationships/slideLayout" Target="/ppt/slideLayouts/slideLayout7.xml" Id="Rb720926990bf4894" /><Relationship Type="http://schemas.openxmlformats.org/officeDocument/2006/relationships/slideLayout" Target="/ppt/slideLayouts/slideLayout8.xml" Id="Rde48403f9af747f4" /><Relationship Type="http://schemas.openxmlformats.org/officeDocument/2006/relationships/slideLayout" Target="/ppt/slideLayouts/slideLayout9.xml" Id="R466a55361f6d4524" /><Relationship Type="http://schemas.openxmlformats.org/officeDocument/2006/relationships/slideLayout" Target="/ppt/slideLayouts/slideLayout10.xml" Id="R41d55ebd5b3e493b" /><Relationship Type="http://schemas.openxmlformats.org/officeDocument/2006/relationships/slideLayout" Target="/ppt/slideLayouts/slideLayout11.xml" Id="R986350850dfa404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6FEEE26-531D-487D-90CC-4F207A74E2C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C56BBC0-71B6-419E-9DF6-AF60CC3CD00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73DD697-1987-409D-9B50-9D88F76B6CD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74820924-9AF1-4DB5-A5A7-45D88CFC06A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D716DE6-005E-41F3-A99F-B190C664E66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0d6b4b06a2421d"/>
    <p:sldLayoutId xmlns:r="http://schemas.openxmlformats.org/officeDocument/2006/relationships" id="2147483650" r:id="Reafcd8aaf1ac4f27"/>
    <p:sldLayoutId xmlns:r="http://schemas.openxmlformats.org/officeDocument/2006/relationships" id="2147483651" r:id="R3731b5ca5e8a4023"/>
    <p:sldLayoutId xmlns:r="http://schemas.openxmlformats.org/officeDocument/2006/relationships" id="2147483652" r:id="R0f887a98c3dd4e7d"/>
    <p:sldLayoutId xmlns:r="http://schemas.openxmlformats.org/officeDocument/2006/relationships" id="2147483653" r:id="Rc42dd7d47e7a404a"/>
    <p:sldLayoutId xmlns:r="http://schemas.openxmlformats.org/officeDocument/2006/relationships" id="2147483654" r:id="Rf01369b5e8f540c3"/>
    <p:sldLayoutId xmlns:r="http://schemas.openxmlformats.org/officeDocument/2006/relationships" id="2147483655" r:id="Rb720926990bf4894"/>
    <p:sldLayoutId xmlns:r="http://schemas.openxmlformats.org/officeDocument/2006/relationships" id="2147483656" r:id="Rde48403f9af747f4"/>
    <p:sldLayoutId xmlns:r="http://schemas.openxmlformats.org/officeDocument/2006/relationships" id="2147483657" r:id="R466a55361f6d4524"/>
    <p:sldLayoutId xmlns:r="http://schemas.openxmlformats.org/officeDocument/2006/relationships" id="2147483658" r:id="R41d55ebd5b3e493b"/>
    <p:sldLayoutId xmlns:r="http://schemas.openxmlformats.org/officeDocument/2006/relationships" id="2147483659" r:id="R986350850dfa404b"/>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00b965e1f3b54392" /><Relationship Type="http://schemas.openxmlformats.org/officeDocument/2006/relationships/image" Target="/ppt/media/image.png" Id="Rebff490dc1a242f8" /><Relationship Type="http://schemas.openxmlformats.org/officeDocument/2006/relationships/image" Target="/ppt/media/image2.png" Id="Rd51e0989313f428e" /><Relationship Type="http://schemas.openxmlformats.org/officeDocument/2006/relationships/notesSlide" Target="/ppt/notesSlides/notesSlide1.xml" Id="Rc0ba6eba2a2b40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834304172a04329" /><Relationship Type="http://schemas.openxmlformats.org/officeDocument/2006/relationships/image" Target="/ppt/media/image.jpeg" Id="R1cf60fdd7dfb4043" /><Relationship Type="http://schemas.openxmlformats.org/officeDocument/2006/relationships/notesSlide" Target="/ppt/notesSlides/notesSlide2.xml" Id="R4f74d2488fe14a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cf7a320ce9b4dd0" /><Relationship Type="http://schemas.openxmlformats.org/officeDocument/2006/relationships/notesSlide" Target="/ppt/notesSlides/notesSlide3.xml" Id="R15baaabdde9d48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9a41be3f85af4c7a" /><Relationship Type="http://schemas.openxmlformats.org/officeDocument/2006/relationships/notesSlide" Target="/ppt/notesSlides/notesSlide4.xml" Id="Rb7c9a4135f3142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eba59d8ff50d4a44" /><Relationship Type="http://schemas.openxmlformats.org/officeDocument/2006/relationships/notesSlide" Target="/ppt/notesSlides/notesSlide5.xml" Id="R8e071b93c59448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0329fb3c694e4bc2" /><Relationship Type="http://schemas.openxmlformats.org/officeDocument/2006/relationships/notesSlide" Target="/ppt/notesSlides/notesSlide6.xml" Id="R4248e87a38fb44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429ef41464345b8" /><Relationship Type="http://schemas.openxmlformats.org/officeDocument/2006/relationships/notesSlide" Target="/ppt/notesSlides/notesSlide7.xml" Id="R0567600cf21949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72a2e2f000049e7" /><Relationship Type="http://schemas.openxmlformats.org/officeDocument/2006/relationships/notesSlide" Target="/ppt/notesSlides/notesSlide8.xml" Id="R7b9fad90fc7a46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b2db50753cc642da" /><Relationship Type="http://schemas.openxmlformats.org/officeDocument/2006/relationships/notesSlide" Target="/ppt/notesSlides/notesSlide9.xml" Id="R04aec5f4bc2947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85fc42fbd934dab" /><Relationship Type="http://schemas.openxmlformats.org/officeDocument/2006/relationships/notesSlide" Target="/ppt/notesSlides/notesSlide10.xml" Id="Rb3d8549d331f4d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48442f8eefeb4f8a" /><Relationship Type="http://schemas.openxmlformats.org/officeDocument/2006/relationships/notesSlide" Target="/ppt/notesSlides/notesSlide11.xml" Id="R405fed04519842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6cebdd318b784417" /><Relationship Type="http://schemas.openxmlformats.org/officeDocument/2006/relationships/notesSlide" Target="/ppt/notesSlides/notesSlide12.xml" Id="R3ae9c9fccbcd44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ec99c90172fd4074" /><Relationship Type="http://schemas.openxmlformats.org/officeDocument/2006/relationships/notesSlide" Target="/ppt/notesSlides/notesSlide13.xml" Id="Rcffae84cad4049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30784f37d341472a" /><Relationship Type="http://schemas.openxmlformats.org/officeDocument/2006/relationships/image" Target="/ppt/media/image3.png" Id="R23d5b11ea1974773" /><Relationship Type="http://schemas.openxmlformats.org/officeDocument/2006/relationships/notesSlide" Target="/ppt/notesSlides/notesSlide14.xml" Id="R656d0f3b3aff4d4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6fb78f20951248be" /><Relationship Type="http://schemas.openxmlformats.org/officeDocument/2006/relationships/notesSlide" Target="/ppt/notesSlides/notesSlide15.xml" Id="R7ab7376c9c8a44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bbbc4bef2bf14775" /><Relationship Type="http://schemas.openxmlformats.org/officeDocument/2006/relationships/notesSlide" Target="/ppt/notesSlides/notesSlide16.xml" Id="R96df2ed4715c49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fde5dece72964f9c" /><Relationship Type="http://schemas.openxmlformats.org/officeDocument/2006/relationships/image" Target="/ppt/media/image.png" Id="Rcb09bf3a203c454e" /><Relationship Type="http://schemas.openxmlformats.org/officeDocument/2006/relationships/image" Target="/ppt/media/image4.png" Id="Rb19ef964dc414e05" /><Relationship Type="http://schemas.openxmlformats.org/officeDocument/2006/relationships/notesSlide" Target="/ppt/notesSlides/notesSlide17.xml" Id="R9c7a9cb0a12a4b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9c9b8e2c2a7d4a05" /><Relationship Type="http://schemas.openxmlformats.org/officeDocument/2006/relationships/image" Target="/ppt/media/image.png" Id="R642d93374ae34989" /><Relationship Type="http://schemas.openxmlformats.org/officeDocument/2006/relationships/image" Target="/ppt/media/image5.png" Id="R36d8b7dbf2144194" /><Relationship Type="http://schemas.openxmlformats.org/officeDocument/2006/relationships/notesSlide" Target="/ppt/notesSlides/notesSlide18.xml" Id="R1c387888656c4352" /></Relationships>
</file>

<file path=ppt/slides/slide1.xml><?xml version="1.0" encoding="utf-8"?>
<p:sld xmlns:p="http://schemas.openxmlformats.org/presentationml/2006/main">
  <p:cSld>
    <p:bg>
      <p:bgPr>
        <a:gradFill xmlns:a="http://schemas.openxmlformats.org/drawingml/2006/main">
          <a:gsLst>
            <a:gs pos="0">
              <a:srgbClr val="201F24"/>
            </a:gs>
            <a:gs pos="44000">
              <a:srgbClr val="201F24"/>
            </a:gs>
            <a:gs pos="76000">
              <a:srgbClr val="35106F"/>
            </a:gs>
            <a:gs pos="100000">
              <a:srgbClr val="8232FF"/>
            </a:gs>
          </a:gsLst>
          <a:lin ang="6480000"/>
        </a:gradFill>
      </p:bgPr>
    </p:bg>
    <p:spTree>
      <p:nvGrpSpPr>
        <p:cNvPr id="1" name=""/>
        <p:cNvGrpSpPr/>
        <p:nvPr/>
      </p:nvGrpSpPr>
      <p:grpSpPr>
        <a:xfrm xmlns:a="http://schemas.openxmlformats.org/drawingml/2006/main"/>
      </p:grpSpPr>
      <p:pic>
        <p:nvPicPr>
          <p:cNvPr id="10" name="Picture 1"/>
          <p:cNvPicPr>
            <a:picLocks xmlns:a="http://schemas.openxmlformats.org/drawingml/2006/main" noChangeAspect="1"/>
          </p:cNvPicPr>
          <p:nvPr/>
        </p:nvPicPr>
        <p:blipFill>
          <a:blip xmlns:r="http://schemas.openxmlformats.org/officeDocument/2006/relationships" xmlns:a="http://schemas.openxmlformats.org/drawingml/2006/main" r:embed="Rebff490dc1a242f8"/>
          <a:stretch xmlns:a="http://schemas.openxmlformats.org/drawingml/2006/main"/>
        </p:blipFill>
        <p:spPr>
          <a:xfrm xmlns:a="http://schemas.openxmlformats.org/drawingml/2006/main">
            <a:off x="9620250" y="1095375"/>
            <a:ext cx="1524000" cy="152400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FE563BE6-A522-4E92-AC67-FFB63D6B74F2}"/>
              </a:ext>
            </a:extLst>
          </p:cNvPr>
          <p:cNvSpPr>
            <a:spLocks xmlns:a="http://schemas.openxmlformats.org/drawingml/2006/main" noGrp="1"/>
          </p:cNvSpPr>
          <p:nvPr/>
        </p:nvSpPr>
        <p:spPr>
          <a:xfrm xmlns:a="http://schemas.openxmlformats.org/drawingml/2006/main">
            <a:off x="609600" y="2333625"/>
            <a:ext cx="8477250" cy="1737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4350" b="0">
                <a:solidFill>
                  <a:srgbClr val="FFFFFF"/>
                </a:solidFill>
                <a:latin typeface="Alliance No.2"/>
                <a:ea typeface="Alliance No.2"/>
                <a:cs typeface="Alliance No.2"/>
              </a:defRPr>
            </a:pPr>
            <a:r>
              <a:rPr sz="4350" b="0">
                <a:solidFill>
                  <a:srgbClr val="FFFFFF"/>
                </a:solidFill>
                <a:latin typeface="Alliance No.2"/>
                <a:ea typeface="Alliance No.2"/>
                <a:cs typeface="Alliance No.2"/>
              </a:rPr>
              <a:t>NO FRAMEWORK, NO SERVER:</a:t>
            </a:r>
          </a:p>
        </p:txBody>
      </p:sp>
      <p:sp>
        <p:nvSpPr>
          <p:cNvPr id="4" name="TextBox 3">
            <a:extLst xmlns:a="http://schemas.openxmlformats.org/drawingml/2006/main">
              <a:ext uri="{FF2B5EF4-FFF2-40B4-BE49-F238E27FC236}">
                <a16:creationId xmlns:a16="http://schemas.microsoft.com/office/drawing/2014/main" id="{41191EC2-0170-423E-B785-102419F74F3E}"/>
              </a:ext>
            </a:extLst>
          </p:cNvPr>
          <p:cNvSpPr>
            <a:spLocks xmlns:a="http://schemas.openxmlformats.org/drawingml/2006/main" noGrp="1"/>
          </p:cNvSpPr>
          <p:nvPr/>
        </p:nvSpPr>
        <p:spPr>
          <a:xfrm xmlns:a="http://schemas.openxmlformats.org/drawingml/2006/main">
            <a:off x="609600" y="3781425"/>
            <a:ext cx="7905750" cy="552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100" b="0">
                <a:solidFill>
                  <a:srgbClr val="E9E7EE"/>
                </a:solidFill>
                <a:latin typeface="Switzer"/>
                <a:ea typeface="Switzer"/>
                <a:cs typeface="Switzer"/>
              </a:defRPr>
            </a:pPr>
            <a:r>
              <a:rPr sz="2100" b="0">
                <a:solidFill>
                  <a:srgbClr val="E9E7EE"/>
                </a:solidFill>
                <a:latin typeface="Switzer"/>
                <a:ea typeface="Switzer"/>
                <a:cs typeface="Switzer"/>
              </a:rPr>
              <a:t>Making AI Agents Collaborate in One Terminal</a:t>
            </a:r>
          </a:p>
        </p:txBody>
      </p:sp>
      <p:sp>
        <p:nvSpPr>
          <p:cNvPr id="5" name="TextBox 4">
            <a:extLst xmlns:a="http://schemas.openxmlformats.org/drawingml/2006/main">
              <a:ext uri="{FF2B5EF4-FFF2-40B4-BE49-F238E27FC236}">
                <a16:creationId xmlns:a16="http://schemas.microsoft.com/office/drawing/2014/main" id="{9BC0269B-D4B5-4E2B-9998-0593711684D8}"/>
              </a:ext>
            </a:extLst>
          </p:cNvPr>
          <p:cNvSpPr>
            <a:spLocks xmlns:a="http://schemas.openxmlformats.org/drawingml/2006/main" noGrp="1"/>
          </p:cNvSpPr>
          <p:nvPr/>
        </p:nvSpPr>
        <p:spPr>
          <a:xfrm xmlns:a="http://schemas.openxmlformats.org/drawingml/2006/main">
            <a:off x="609600" y="4857750"/>
            <a:ext cx="8572500" cy="381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50" b="0">
                <a:solidFill>
                  <a:srgbClr val="CBAAFF"/>
                </a:solidFill>
                <a:latin typeface="Consolas"/>
                <a:ea typeface="Consolas"/>
                <a:cs typeface="Consolas"/>
              </a:defRPr>
            </a:pPr>
            <a:r>
              <a:rPr sz="1350" b="0">
                <a:solidFill>
                  <a:srgbClr val="CBAAFF"/>
                </a:solidFill>
                <a:latin typeface="Consolas"/>
                <a:ea typeface="Consolas"/>
                <a:cs typeface="Consolas"/>
              </a:rPr>
              <a:t>Agents Commander  •  Code Europe 2026  •  AI Engineering &amp; Data</a:t>
            </a:r>
          </a:p>
        </p:txBody>
      </p:sp>
      <p:sp>
        <p:nvSpPr>
          <p:cNvPr id="6" name="TextBox 5">
            <a:extLst xmlns:a="http://schemas.openxmlformats.org/drawingml/2006/main">
              <a:ext uri="{FF2B5EF4-FFF2-40B4-BE49-F238E27FC236}">
                <a16:creationId xmlns:a16="http://schemas.microsoft.com/office/drawing/2014/main" id="{512402D6-EADC-4756-91DD-C6F372D7D266}"/>
              </a:ext>
            </a:extLst>
          </p:cNvPr>
          <p:cNvSpPr>
            <a:spLocks xmlns:a="http://schemas.openxmlformats.org/drawingml/2006/main" noGrp="1"/>
          </p:cNvSpPr>
          <p:nvPr/>
        </p:nvSpPr>
        <p:spPr>
          <a:xfrm xmlns:a="http://schemas.openxmlformats.org/drawingml/2006/main">
            <a:off x="609600" y="5467350"/>
            <a:ext cx="8572500" cy="381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50" b="0">
                <a:solidFill>
                  <a:srgbClr val="E9E7EE"/>
                </a:solidFill>
                <a:latin typeface="Switzer"/>
                <a:ea typeface="Switzer"/>
                <a:cs typeface="Switzer"/>
              </a:defRPr>
            </a:pPr>
            <a:r>
              <a:rPr sz="1350" b="0">
                <a:solidFill>
                  <a:srgbClr val="E9E7EE"/>
                </a:solidFill>
                <a:latin typeface="Switzer"/>
                <a:ea typeface="Switzer"/>
                <a:cs typeface="Switzer"/>
              </a:rPr>
              <a:t>Lech Kalinowski  •  Senior AI Systems Engineer at Callstack</a:t>
            </a:r>
          </a:p>
        </p:txBody>
      </p:sp>
      <p:sp>
        <p:nvSpPr>
          <p:cNvPr id="7" name="TextBox 6">
            <a:extLst xmlns:a="http://schemas.openxmlformats.org/drawingml/2006/main">
              <a:ext uri="{FF2B5EF4-FFF2-40B4-BE49-F238E27FC236}">
                <a16:creationId xmlns:a16="http://schemas.microsoft.com/office/drawing/2014/main" id="{6DC6C857-8428-433C-B7DE-9F4EF04C48BE}"/>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1/18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51e0989313f428e"/>
          <a:stretch xmlns:a="http://schemas.openxmlformats.org/drawingml/2006/main"/>
        </p:blipFill>
        <p:spPr>
          <a:xfrm xmlns:a="http://schemas.openxmlformats.org/drawingml/2006/main">
            <a:off x="692604" y="342900"/>
            <a:ext cx="1567543" cy="342900"/>
          </a:xfrm>
          <a:prstGeom xmlns:a="http://schemas.openxmlformats.org/drawingml/2006/main" prst="rect">
            <a:avLst/>
          </a:prstGeom>
        </p:spPr>
      </p:pic>
    </p:spTree>
    <p:extLst>
      <p:ext uri="{BB962C8B-B14F-4D97-AF65-F5344CB8AC3E}">
        <p14:creationId xmlns:p14="http://schemas.microsoft.com/office/powerpoint/2010/main" val="495145724"/>
      </p:ext>
    </p:extLst>
  </p:cSld>
</p:sld>
</file>

<file path=ppt/slides/slide2.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C4FE56-EF53-4B59-80FD-0556F3ADEF68}"/>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IN THE TERMINAL</a:t>
            </a:r>
          </a:p>
        </p:txBody>
      </p:sp>
      <p:sp>
        <p:nvSpPr>
          <p:cNvPr id="3" name="TextBox 2">
            <a:extLst xmlns:a="http://schemas.openxmlformats.org/drawingml/2006/main">
              <a:ext uri="{FF2B5EF4-FFF2-40B4-BE49-F238E27FC236}">
                <a16:creationId xmlns:a16="http://schemas.microsoft.com/office/drawing/2014/main" id="{1ADF6C27-524D-429D-963F-7FAB2499F859}"/>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One workspace. Real terminal sessions.</a:t>
            </a:r>
          </a:p>
        </p:txBody>
      </p:sp>
      <p:sp>
        <p:nvSpPr>
          <p:cNvPr id="28" name="TextBox 27">
            <a:extLst xmlns:a="http://schemas.openxmlformats.org/drawingml/2006/main">
              <a:ext uri="{FF2B5EF4-FFF2-40B4-BE49-F238E27FC236}">
                <a16:creationId xmlns:a16="http://schemas.microsoft.com/office/drawing/2014/main" id="{F407AF73-1128-4BB2-9A9D-E65D3110D560}"/>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2/18</a:t>
            </a:r>
          </a:p>
        </p:txBody>
      </p:sp>
      <p:sp>
        <p:nvSpPr>
          <p:cNvPr id="29" name="Callstack accent rule">
            <a:extLst xmlns:a="http://schemas.openxmlformats.org/drawingml/2006/main">
              <a:ext uri="{FF2B5EF4-FFF2-40B4-BE49-F238E27FC236}">
                <a16:creationId xmlns:a16="http://schemas.microsoft.com/office/drawing/2014/main" id="{57ECF28A-4432-486B-B490-F06CEE4625F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cf60fdd7dfb4043"/>
          <a:stretch xmlns:a="http://schemas.openxmlformats.org/drawingml/2006/main"/>
        </p:blipFill>
        <p:spPr>
          <a:xfrm xmlns:a="http://schemas.openxmlformats.org/drawingml/2006/main">
            <a:off x="723900" y="1828800"/>
            <a:ext cx="8382000" cy="4191000"/>
          </a:xfrm>
          <a:prstGeom xmlns:a="http://schemas.openxmlformats.org/drawingml/2006/main" prst="rect">
            <a:avLst/>
          </a:prstGeom>
        </p:spPr>
      </p:pic>
      <p:sp>
        <p:nvSpPr>
          <p:cNvPr id="31" name="two-panels">
            <a:extLst xmlns:a="http://schemas.openxmlformats.org/drawingml/2006/main">
              <a:ext uri="{FF2B5EF4-FFF2-40B4-BE49-F238E27FC236}">
                <a16:creationId xmlns:a16="http://schemas.microsoft.com/office/drawing/2014/main" id="{1C00BA6A-847B-4539-8995-307AF92E4753}"/>
              </a:ext>
            </a:extLst>
          </p:cNvPr>
          <p:cNvSpPr>
            <a:spLocks xmlns:a="http://schemas.openxmlformats.org/drawingml/2006/main" noGrp="1"/>
          </p:cNvSpPr>
          <p:nvPr/>
        </p:nvSpPr>
        <p:spPr>
          <a:xfrm xmlns:a="http://schemas.openxmlformats.org/drawingml/2006/main">
            <a:off x="9353550" y="2028825"/>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700">
                <a:solidFill>
                  <a:srgbClr val="CBAAFF"/>
                </a:solidFill>
                <a:latin typeface="Alliance No.2"/>
                <a:ea typeface="Alliance No.2"/>
                <a:cs typeface="Alliance No.2"/>
              </a:defRPr>
            </a:pPr>
            <a:r>
              <a:rPr sz="2700">
                <a:solidFill>
                  <a:srgbClr val="CBAAFF"/>
                </a:solidFill>
                <a:latin typeface="Alliance No.2"/>
                <a:ea typeface="Alliance No.2"/>
                <a:cs typeface="Alliance No.2"/>
              </a:rPr>
              <a:t>2 panels</a:t>
            </a:r>
          </a:p>
        </p:txBody>
      </p:sp>
      <p:sp>
        <p:nvSpPr>
          <p:cNvPr id="32" name="separate-ptys">
            <a:extLst xmlns:a="http://schemas.openxmlformats.org/drawingml/2006/main">
              <a:ext uri="{FF2B5EF4-FFF2-40B4-BE49-F238E27FC236}">
                <a16:creationId xmlns:a16="http://schemas.microsoft.com/office/drawing/2014/main" id="{50344505-F1D9-40D5-B6D3-D892A306EF3C}"/>
              </a:ext>
            </a:extLst>
          </p:cNvPr>
          <p:cNvSpPr>
            <a:spLocks xmlns:a="http://schemas.openxmlformats.org/drawingml/2006/main" noGrp="1"/>
          </p:cNvSpPr>
          <p:nvPr/>
        </p:nvSpPr>
        <p:spPr>
          <a:xfrm xmlns:a="http://schemas.openxmlformats.org/drawingml/2006/main">
            <a:off x="9353550" y="2667000"/>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Independent PTYs</a:t>
            </a:r>
          </a:p>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and CLI contexts</a:t>
            </a:r>
          </a:p>
        </p:txBody>
      </p:sp>
      <p:sp>
        <p:nvSpPr>
          <p:cNvPr id="33" name="single-workspace">
            <a:extLst xmlns:a="http://schemas.openxmlformats.org/drawingml/2006/main">
              <a:ext uri="{FF2B5EF4-FFF2-40B4-BE49-F238E27FC236}">
                <a16:creationId xmlns:a16="http://schemas.microsoft.com/office/drawing/2014/main" id="{09A34A57-5E25-4E5A-B11A-1FF125997213}"/>
              </a:ext>
            </a:extLst>
          </p:cNvPr>
          <p:cNvSpPr>
            <a:spLocks xmlns:a="http://schemas.openxmlformats.org/drawingml/2006/main" noGrp="1"/>
          </p:cNvSpPr>
          <p:nvPr/>
        </p:nvSpPr>
        <p:spPr>
          <a:xfrm xmlns:a="http://schemas.openxmlformats.org/drawingml/2006/main">
            <a:off x="9353550" y="3810000"/>
            <a:ext cx="2209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6AE8CD"/>
                </a:solidFill>
                <a:latin typeface="Switzer"/>
                <a:ea typeface="Switzer"/>
                <a:cs typeface="Switzer"/>
              </a:defRPr>
            </a:pPr>
            <a:r>
              <a:rPr sz="1875">
                <a:solidFill>
                  <a:srgbClr val="6AE8CD"/>
                </a:solidFill>
                <a:latin typeface="Switzer"/>
                <a:ea typeface="Switzer"/>
                <a:cs typeface="Switzer"/>
              </a:rPr>
              <a:t>One visible</a:t>
            </a:r>
          </a:p>
          <a:p xmlns:a="http://schemas.openxmlformats.org/drawingml/2006/main">
            <a:pPr algn="l">
              <a:buNone/>
              <a:defRPr sz="1875">
                <a:solidFill>
                  <a:srgbClr val="6AE8CD"/>
                </a:solidFill>
                <a:latin typeface="Switzer"/>
                <a:ea typeface="Switzer"/>
                <a:cs typeface="Switzer"/>
              </a:defRPr>
            </a:pPr>
            <a:r>
              <a:rPr sz="1875">
                <a:solidFill>
                  <a:srgbClr val="6AE8CD"/>
                </a:solidFill>
                <a:latin typeface="Switzer"/>
                <a:ea typeface="Switzer"/>
                <a:cs typeface="Switzer"/>
              </a:rPr>
              <a:t>SEND → REPLY</a:t>
            </a:r>
          </a:p>
        </p:txBody>
      </p:sp>
      <p:sp>
        <p:nvSpPr>
          <p:cNvPr id="34" name="scale">
            <a:extLst xmlns:a="http://schemas.openxmlformats.org/drawingml/2006/main">
              <a:ext uri="{FF2B5EF4-FFF2-40B4-BE49-F238E27FC236}">
                <a16:creationId xmlns:a16="http://schemas.microsoft.com/office/drawing/2014/main" id="{C0C1C36E-36E4-4DD9-92D5-5D52ABFB9F18}"/>
              </a:ext>
            </a:extLst>
          </p:cNvPr>
          <p:cNvSpPr>
            <a:spLocks xmlns:a="http://schemas.openxmlformats.org/drawingml/2006/main" noGrp="1"/>
          </p:cNvSpPr>
          <p:nvPr/>
        </p:nvSpPr>
        <p:spPr>
          <a:xfrm xmlns:a="http://schemas.openxmlformats.org/drawingml/2006/main">
            <a:off x="9353550" y="4991100"/>
            <a:ext cx="2209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Up to 100 panels</a:t>
            </a:r>
          </a:p>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Paginated by size</a:t>
            </a:r>
          </a:p>
        </p:txBody>
      </p:sp>
      <p:sp>
        <p:nvSpPr>
          <p:cNvPr id="35" name="capture-caption">
            <a:extLst xmlns:a="http://schemas.openxmlformats.org/drawingml/2006/main">
              <a:ext uri="{FF2B5EF4-FFF2-40B4-BE49-F238E27FC236}">
                <a16:creationId xmlns:a16="http://schemas.microsoft.com/office/drawing/2014/main" id="{28FD5922-7ACD-4E22-9899-D6058E75E5ED}"/>
              </a:ext>
            </a:extLst>
          </p:cNvPr>
          <p:cNvSpPr>
            <a:spLocks xmlns:a="http://schemas.openxmlformats.org/drawingml/2006/main" noGrp="1"/>
          </p:cNvSpPr>
          <p:nvPr/>
        </p:nvSpPr>
        <p:spPr>
          <a:xfrm xmlns:a="http://schemas.openxmlformats.org/drawingml/2006/main">
            <a:off x="723900" y="6076950"/>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a:solidFill>
                  <a:srgbClr val="BCBBC2"/>
                </a:solidFill>
                <a:latin typeface="Switzer"/>
                <a:ea typeface="Switzer"/>
                <a:cs typeface="Switzer"/>
              </a:defRPr>
            </a:pPr>
            <a:r>
              <a:rPr sz="1200">
                <a:solidFill>
                  <a:srgbClr val="BCBBC2"/>
                </a:solidFill>
                <a:latin typeface="Switzer"/>
                <a:ea typeface="Switzer"/>
                <a:cs typeface="Switzer"/>
              </a:rPr>
              <a:t>Actual terminal capture · offline demo · session capabilities redacted</a:t>
            </a:r>
          </a:p>
        </p:txBody>
      </p:sp>
    </p:spTree>
    <p:extLst>
      <p:ext uri="{BB962C8B-B14F-4D97-AF65-F5344CB8AC3E}">
        <p14:creationId xmlns:p14="http://schemas.microsoft.com/office/powerpoint/2010/main" val="1378249199"/>
      </p:ext>
    </p:extLst>
  </p:cSld>
</p:sld>
</file>

<file path=ppt/slides/slide3.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EB8AD4E-AD27-4024-A9EE-917726B61BD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LOCAL ARCHITECTURE</a:t>
            </a:r>
          </a:p>
        </p:txBody>
      </p:sp>
      <p:sp>
        <p:nvSpPr>
          <p:cNvPr id="3" name="TextBox 2">
            <a:extLst xmlns:a="http://schemas.openxmlformats.org/drawingml/2006/main">
              <a:ext uri="{FF2B5EF4-FFF2-40B4-BE49-F238E27FC236}">
                <a16:creationId xmlns:a16="http://schemas.microsoft.com/office/drawing/2014/main" id="{DDF33651-B9E8-4515-B26B-EF9D9863635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Routing lives in one local process.</a:t>
            </a:r>
          </a:p>
        </p:txBody>
      </p:sp>
      <p:sp>
        <p:nvSpPr>
          <p:cNvPr id="18" name="TextBox 17">
            <a:extLst xmlns:a="http://schemas.openxmlformats.org/drawingml/2006/main">
              <a:ext uri="{FF2B5EF4-FFF2-40B4-BE49-F238E27FC236}">
                <a16:creationId xmlns:a16="http://schemas.microsoft.com/office/drawing/2014/main" id="{477D95A0-5390-49EC-8A72-2F18560257CF}"/>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3/18</a:t>
            </a:r>
          </a:p>
        </p:txBody>
      </p:sp>
      <p:sp>
        <p:nvSpPr>
          <p:cNvPr id="19" name="Callstack accent rule">
            <a:extLst xmlns:a="http://schemas.openxmlformats.org/drawingml/2006/main">
              <a:ext uri="{FF2B5EF4-FFF2-40B4-BE49-F238E27FC236}">
                <a16:creationId xmlns:a16="http://schemas.microsoft.com/office/drawing/2014/main" id="{982DCEE5-8D57-444F-AB5E-218829D4B56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20" name="node-boundary">
            <a:extLst xmlns:a="http://schemas.openxmlformats.org/drawingml/2006/main">
              <a:ext uri="{FF2B5EF4-FFF2-40B4-BE49-F238E27FC236}">
                <a16:creationId xmlns:a16="http://schemas.microsoft.com/office/drawing/2014/main" id="{71F8882B-6100-4EF5-9A3F-E60C7289411C}"/>
              </a:ext>
            </a:extLst>
          </p:cNvPr>
          <p:cNvSpPr>
            <a:spLocks xmlns:a="http://schemas.openxmlformats.org/drawingml/2006/main" noGrp="1"/>
          </p:cNvSpPr>
          <p:nvPr/>
        </p:nvSpPr>
        <p:spPr>
          <a:xfrm xmlns:a="http://schemas.openxmlformats.org/drawingml/2006/main">
            <a:off x="723900" y="1885950"/>
            <a:ext cx="10744200" cy="2438400"/>
          </a:xfrm>
          <a:prstGeom xmlns:a="http://schemas.openxmlformats.org/drawingml/2006/main" prst="rect">
            <a:avLst/>
          </a:prstGeom>
          <a:noFill xmlns:a="http://schemas.openxmlformats.org/drawingml/2006/main"/>
          <a:ln xmlns:a="http://schemas.openxmlformats.org/drawingml/2006/main" w="9525">
            <a:solidFill>
              <a:srgbClr val="838289"/>
            </a:solidFill>
            <a:prstDash val="solid"/>
          </a:ln>
        </p:spPr>
      </p:sp>
      <p:sp>
        <p:nvSpPr>
          <p:cNvPr id="21" name="boundary-label">
            <a:extLst xmlns:a="http://schemas.openxmlformats.org/drawingml/2006/main">
              <a:ext uri="{FF2B5EF4-FFF2-40B4-BE49-F238E27FC236}">
                <a16:creationId xmlns:a16="http://schemas.microsoft.com/office/drawing/2014/main" id="{9416364C-9B97-4E8F-92CB-F19E6C861908}"/>
              </a:ext>
            </a:extLst>
          </p:cNvPr>
          <p:cNvSpPr>
            <a:spLocks xmlns:a="http://schemas.openxmlformats.org/drawingml/2006/main" noGrp="1"/>
          </p:cNvSpPr>
          <p:nvPr/>
        </p:nvSpPr>
        <p:spPr>
          <a:xfrm xmlns:a="http://schemas.openxmlformats.org/drawingml/2006/main">
            <a:off x="876300" y="19526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a:solidFill>
                  <a:srgbClr val="BCBBC2"/>
                </a:solidFill>
                <a:latin typeface="Consolas"/>
                <a:ea typeface="Consolas"/>
                <a:cs typeface="Consolas"/>
              </a:defRPr>
            </a:pPr>
            <a:r>
              <a:rPr sz="1200">
                <a:solidFill>
                  <a:srgbClr val="BCBBC2"/>
                </a:solidFill>
                <a:latin typeface="Consolas"/>
                <a:ea typeface="Consolas"/>
                <a:cs typeface="Consolas"/>
              </a:rPr>
              <a:t>NODE.JS / BLESSED — AGENTS COMMANDER</a:t>
            </a:r>
          </a:p>
        </p:txBody>
      </p:sp>
      <p:sp>
        <p:nvSpPr>
          <p:cNvPr id="22" name="manager-to-router">
            <a:extLst xmlns:a="http://schemas.openxmlformats.org/drawingml/2006/main">
              <a:ext uri="{FF2B5EF4-FFF2-40B4-BE49-F238E27FC236}">
                <a16:creationId xmlns:a16="http://schemas.microsoft.com/office/drawing/2014/main" id="{E16148C4-4067-481C-9E74-F68603F331C7}"/>
              </a:ext>
            </a:extLst>
          </p:cNvPr>
          <p:cNvSpPr>
            <a:spLocks xmlns:a="http://schemas.openxmlformats.org/drawingml/2006/main" noGrp="1"/>
          </p:cNvSpPr>
          <p:nvPr/>
        </p:nvSpPr>
        <p:spPr>
          <a:xfrm xmlns:a="http://schemas.openxmlformats.org/drawingml/2006/main">
            <a:off x="6038850" y="2724150"/>
            <a:ext cx="114300" cy="295275"/>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3" name="output-route">
            <a:extLst xmlns:a="http://schemas.openxmlformats.org/drawingml/2006/main">
              <a:ext uri="{FF2B5EF4-FFF2-40B4-BE49-F238E27FC236}">
                <a16:creationId xmlns:a16="http://schemas.microsoft.com/office/drawing/2014/main" id="{522F4CB9-4793-4034-AEA9-81AB9BCA9BFA}"/>
              </a:ext>
            </a:extLst>
          </p:cNvPr>
          <p:cNvSpPr>
            <a:spLocks xmlns:a="http://schemas.openxmlformats.org/drawingml/2006/main" noGrp="1"/>
          </p:cNvSpPr>
          <p:nvPr/>
        </p:nvSpPr>
        <p:spPr>
          <a:xfrm xmlns:a="http://schemas.openxmlformats.org/drawingml/2006/main">
            <a:off x="3457575" y="3314700"/>
            <a:ext cx="133350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4" name="input-route">
            <a:extLst xmlns:a="http://schemas.openxmlformats.org/drawingml/2006/main">
              <a:ext uri="{FF2B5EF4-FFF2-40B4-BE49-F238E27FC236}">
                <a16:creationId xmlns:a16="http://schemas.microsoft.com/office/drawing/2014/main" id="{DAD61FDC-C355-4827-836A-077F6E70BC92}"/>
              </a:ext>
            </a:extLst>
          </p:cNvPr>
          <p:cNvSpPr>
            <a:spLocks xmlns:a="http://schemas.openxmlformats.org/drawingml/2006/main" noGrp="1"/>
          </p:cNvSpPr>
          <p:nvPr/>
        </p:nvSpPr>
        <p:spPr>
          <a:xfrm xmlns:a="http://schemas.openxmlformats.org/drawingml/2006/main">
            <a:off x="7410450" y="3314700"/>
            <a:ext cx="13335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25" name="a-bytes">
            <a:extLst xmlns:a="http://schemas.openxmlformats.org/drawingml/2006/main">
              <a:ext uri="{FF2B5EF4-FFF2-40B4-BE49-F238E27FC236}">
                <a16:creationId xmlns:a16="http://schemas.microsoft.com/office/drawing/2014/main" id="{4012DDD3-C19C-40FA-A1B9-4D63C95CE99A}"/>
              </a:ext>
            </a:extLst>
          </p:cNvPr>
          <p:cNvSpPr>
            <a:spLocks xmlns:a="http://schemas.openxmlformats.org/drawingml/2006/main" noGrp="1"/>
          </p:cNvSpPr>
          <p:nvPr/>
        </p:nvSpPr>
        <p:spPr>
          <a:xfrm xmlns:a="http://schemas.openxmlformats.org/drawingml/2006/main">
            <a:off x="2124075" y="3743325"/>
            <a:ext cx="114300" cy="895350"/>
          </a:xfrm>
          <a:prstGeom xmlns:a="http://schemas.openxmlformats.org/drawingml/2006/main" prst="upDownArrow">
            <a:avLst/>
          </a:prstGeom>
          <a:solidFill xmlns:a="http://schemas.openxmlformats.org/drawingml/2006/main">
            <a:srgbClr val="72C6F9"/>
          </a:solidFill>
          <a:ln xmlns:a="http://schemas.openxmlformats.org/drawingml/2006/main" w="0">
            <a:noFill/>
            <a:prstDash val="solid"/>
          </a:ln>
        </p:spPr>
      </p:sp>
      <p:sp>
        <p:nvSpPr>
          <p:cNvPr id="26" name="b-bytes">
            <a:extLst xmlns:a="http://schemas.openxmlformats.org/drawingml/2006/main">
              <a:ext uri="{FF2B5EF4-FFF2-40B4-BE49-F238E27FC236}">
                <a16:creationId xmlns:a16="http://schemas.microsoft.com/office/drawing/2014/main" id="{516DA8EF-2F06-49DD-A40D-52EF8EAACCB9}"/>
              </a:ext>
            </a:extLst>
          </p:cNvPr>
          <p:cNvSpPr>
            <a:spLocks xmlns:a="http://schemas.openxmlformats.org/drawingml/2006/main" noGrp="1"/>
          </p:cNvSpPr>
          <p:nvPr/>
        </p:nvSpPr>
        <p:spPr>
          <a:xfrm xmlns:a="http://schemas.openxmlformats.org/drawingml/2006/main">
            <a:off x="9934575" y="3743325"/>
            <a:ext cx="114300" cy="895350"/>
          </a:xfrm>
          <a:prstGeom xmlns:a="http://schemas.openxmlformats.org/drawingml/2006/main" prst="upDownArrow">
            <a:avLst/>
          </a:prstGeom>
          <a:solidFill xmlns:a="http://schemas.openxmlformats.org/drawingml/2006/main">
            <a:srgbClr val="72C6F9"/>
          </a:solidFill>
          <a:ln xmlns:a="http://schemas.openxmlformats.org/drawingml/2006/main" w="0">
            <a:noFill/>
            <a:prstDash val="solid"/>
          </a:ln>
        </p:spPr>
      </p:sp>
      <p:sp>
        <p:nvSpPr>
          <p:cNvPr id="27" name="ledger-flow">
            <a:extLst xmlns:a="http://schemas.openxmlformats.org/drawingml/2006/main">
              <a:ext uri="{FF2B5EF4-FFF2-40B4-BE49-F238E27FC236}">
                <a16:creationId xmlns:a16="http://schemas.microsoft.com/office/drawing/2014/main" id="{34A8CAD2-8D8D-46C2-A6E8-2FE451C040B4}"/>
              </a:ext>
            </a:extLst>
          </p:cNvPr>
          <p:cNvSpPr>
            <a:spLocks xmlns:a="http://schemas.openxmlformats.org/drawingml/2006/main" noGrp="1"/>
          </p:cNvSpPr>
          <p:nvPr/>
        </p:nvSpPr>
        <p:spPr>
          <a:xfrm xmlns:a="http://schemas.openxmlformats.org/drawingml/2006/main">
            <a:off x="6038850" y="3743325"/>
            <a:ext cx="114300" cy="133350"/>
          </a:xfrm>
          <a:prstGeom xmlns:a="http://schemas.openxmlformats.org/drawingml/2006/main" prst="downArrow">
            <a:avLst/>
          </a:prstGeom>
          <a:solidFill xmlns:a="http://schemas.openxmlformats.org/drawingml/2006/main">
            <a:srgbClr val="A6E34A"/>
          </a:solidFill>
          <a:ln xmlns:a="http://schemas.openxmlformats.org/drawingml/2006/main" w="0">
            <a:noFill/>
            <a:prstDash val="solid"/>
          </a:ln>
        </p:spPr>
      </p:sp>
      <p:sp>
        <p:nvSpPr>
          <p:cNvPr id="28" name="a-exec">
            <a:extLst xmlns:a="http://schemas.openxmlformats.org/drawingml/2006/main">
              <a:ext uri="{FF2B5EF4-FFF2-40B4-BE49-F238E27FC236}">
                <a16:creationId xmlns:a16="http://schemas.microsoft.com/office/drawing/2014/main" id="{8C2BE0D0-3993-4D45-B360-5ADEB6D36CB0}"/>
              </a:ext>
            </a:extLst>
          </p:cNvPr>
          <p:cNvSpPr>
            <a:spLocks xmlns:a="http://schemas.openxmlformats.org/drawingml/2006/main" noGrp="1"/>
          </p:cNvSpPr>
          <p:nvPr/>
        </p:nvSpPr>
        <p:spPr>
          <a:xfrm xmlns:a="http://schemas.openxmlformats.org/drawingml/2006/main">
            <a:off x="2124075" y="5133975"/>
            <a:ext cx="114300" cy="257175"/>
          </a:xfrm>
          <a:prstGeom xmlns:a="http://schemas.openxmlformats.org/drawingml/2006/main" prst="upDownArrow">
            <a:avLst/>
          </a:prstGeom>
          <a:solidFill xmlns:a="http://schemas.openxmlformats.org/drawingml/2006/main">
            <a:srgbClr val="72C6F9"/>
          </a:solidFill>
          <a:ln xmlns:a="http://schemas.openxmlformats.org/drawingml/2006/main" w="0">
            <a:noFill/>
            <a:prstDash val="solid"/>
          </a:ln>
        </p:spPr>
      </p:sp>
      <p:sp>
        <p:nvSpPr>
          <p:cNvPr id="29" name="b-exec">
            <a:extLst xmlns:a="http://schemas.openxmlformats.org/drawingml/2006/main">
              <a:ext uri="{FF2B5EF4-FFF2-40B4-BE49-F238E27FC236}">
                <a16:creationId xmlns:a16="http://schemas.microsoft.com/office/drawing/2014/main" id="{DE05F921-18B9-4C98-A2D9-24FCE914AFFE}"/>
              </a:ext>
            </a:extLst>
          </p:cNvPr>
          <p:cNvSpPr>
            <a:spLocks xmlns:a="http://schemas.openxmlformats.org/drawingml/2006/main" noGrp="1"/>
          </p:cNvSpPr>
          <p:nvPr/>
        </p:nvSpPr>
        <p:spPr>
          <a:xfrm xmlns:a="http://schemas.openxmlformats.org/drawingml/2006/main">
            <a:off x="9934575" y="5133975"/>
            <a:ext cx="114300" cy="257175"/>
          </a:xfrm>
          <a:prstGeom xmlns:a="http://schemas.openxmlformats.org/drawingml/2006/main" prst="upDownArrow">
            <a:avLst/>
          </a:prstGeom>
          <a:solidFill xmlns:a="http://schemas.openxmlformats.org/drawingml/2006/main">
            <a:srgbClr val="72C6F9"/>
          </a:solidFill>
          <a:ln xmlns:a="http://schemas.openxmlformats.org/drawingml/2006/main" w="0">
            <a:noFill/>
            <a:prstDash val="solid"/>
          </a:ln>
        </p:spPr>
      </p:sp>
      <p:sp>
        <p:nvSpPr>
          <p:cNvPr id="30" name="manager">
            <a:extLst xmlns:a="http://schemas.openxmlformats.org/drawingml/2006/main">
              <a:ext uri="{FF2B5EF4-FFF2-40B4-BE49-F238E27FC236}">
                <a16:creationId xmlns:a16="http://schemas.microsoft.com/office/drawing/2014/main" id="{4C993032-F82E-4C6E-8D4D-44CA8206090B}"/>
              </a:ext>
            </a:extLst>
          </p:cNvPr>
          <p:cNvSpPr>
            <a:spLocks xmlns:a="http://schemas.openxmlformats.org/drawingml/2006/main" noGrp="1"/>
          </p:cNvSpPr>
          <p:nvPr/>
        </p:nvSpPr>
        <p:spPr>
          <a:xfrm xmlns:a="http://schemas.openxmlformats.org/drawingml/2006/main">
            <a:off x="4095750" y="2286000"/>
            <a:ext cx="4000500" cy="438150"/>
          </a:xfrm>
          <a:prstGeom xmlns:a="http://schemas.openxmlformats.org/drawingml/2006/main" prst="rect">
            <a:avLst/>
          </a:prstGeom>
          <a:solidFill xmlns:a="http://schemas.openxmlformats.org/drawingml/2006/main">
            <a:srgbClr val="27262B"/>
          </a:solidFill>
          <a:ln xmlns:a="http://schemas.openxmlformats.org/drawingml/2006/main" w="13335">
            <a:solidFill>
              <a:srgbClr val="BCBBC2"/>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a:solidFill>
                  <a:srgbClr val="F9F8FD"/>
                </a:solidFill>
                <a:latin typeface="Switzer"/>
                <a:ea typeface="Switzer"/>
                <a:cs typeface="Switzer"/>
              </a:defRPr>
            </a:pPr>
            <a:r>
              <a:rPr sz="1650">
                <a:solidFill>
                  <a:srgbClr val="F9F8FD"/>
                </a:solidFill>
                <a:latin typeface="Switzer"/>
                <a:ea typeface="Switzer"/>
                <a:cs typeface="Switzer"/>
              </a:rPr>
              <a:t>AgentManager · session + lifecycle</a:t>
            </a:r>
          </a:p>
        </p:txBody>
      </p:sp>
      <p:sp>
        <p:nvSpPr>
          <p:cNvPr id="31" name="terminal-a">
            <a:extLst xmlns:a="http://schemas.openxmlformats.org/drawingml/2006/main">
              <a:ext uri="{FF2B5EF4-FFF2-40B4-BE49-F238E27FC236}">
                <a16:creationId xmlns:a16="http://schemas.microsoft.com/office/drawing/2014/main" id="{B905188B-4699-4F22-959F-E829340FFCD2}"/>
              </a:ext>
            </a:extLst>
          </p:cNvPr>
          <p:cNvSpPr>
            <a:spLocks xmlns:a="http://schemas.openxmlformats.org/drawingml/2006/main" noGrp="1"/>
          </p:cNvSpPr>
          <p:nvPr/>
        </p:nvSpPr>
        <p:spPr>
          <a:xfrm xmlns:a="http://schemas.openxmlformats.org/drawingml/2006/main">
            <a:off x="895350" y="3019425"/>
            <a:ext cx="2571750" cy="7239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TerminalPanel A</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VTerm + frame observer</a:t>
            </a:r>
          </a:p>
        </p:txBody>
      </p:sp>
      <p:sp>
        <p:nvSpPr>
          <p:cNvPr id="32" name="orchestrator">
            <a:extLst xmlns:a="http://schemas.openxmlformats.org/drawingml/2006/main">
              <a:ext uri="{FF2B5EF4-FFF2-40B4-BE49-F238E27FC236}">
                <a16:creationId xmlns:a16="http://schemas.microsoft.com/office/drawing/2014/main" id="{1FA16F4B-CA0A-41BA-893D-D88D03476555}"/>
              </a:ext>
            </a:extLst>
          </p:cNvPr>
          <p:cNvSpPr>
            <a:spLocks xmlns:a="http://schemas.openxmlformats.org/drawingml/2006/main" noGrp="1"/>
          </p:cNvSpPr>
          <p:nvPr/>
        </p:nvSpPr>
        <p:spPr>
          <a:xfrm xmlns:a="http://schemas.openxmlformats.org/drawingml/2006/main">
            <a:off x="4810125" y="3019425"/>
            <a:ext cx="2590800" cy="7239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Orchestrator</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queues + input lanes</a:t>
            </a:r>
          </a:p>
        </p:txBody>
      </p:sp>
      <p:sp>
        <p:nvSpPr>
          <p:cNvPr id="33" name="terminal-b">
            <a:extLst xmlns:a="http://schemas.openxmlformats.org/drawingml/2006/main">
              <a:ext uri="{FF2B5EF4-FFF2-40B4-BE49-F238E27FC236}">
                <a16:creationId xmlns:a16="http://schemas.microsoft.com/office/drawing/2014/main" id="{25D571DC-D2A5-4BB9-9C2D-C5F82D058E9F}"/>
              </a:ext>
            </a:extLst>
          </p:cNvPr>
          <p:cNvSpPr>
            <a:spLocks xmlns:a="http://schemas.openxmlformats.org/drawingml/2006/main" noGrp="1"/>
          </p:cNvSpPr>
          <p:nvPr/>
        </p:nvSpPr>
        <p:spPr>
          <a:xfrm xmlns:a="http://schemas.openxmlformats.org/drawingml/2006/main">
            <a:off x="8724900" y="3019425"/>
            <a:ext cx="2571750" cy="72390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TerminalPanel B</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PTY input / output</a:t>
            </a:r>
          </a:p>
        </p:txBody>
      </p:sp>
      <p:sp>
        <p:nvSpPr>
          <p:cNvPr id="34" name="output-label">
            <a:extLst xmlns:a="http://schemas.openxmlformats.org/drawingml/2006/main">
              <a:ext uri="{FF2B5EF4-FFF2-40B4-BE49-F238E27FC236}">
                <a16:creationId xmlns:a16="http://schemas.microsoft.com/office/drawing/2014/main" id="{E2CC8C33-CDF0-4882-AA21-C09FE40DD550}"/>
              </a:ext>
            </a:extLst>
          </p:cNvPr>
          <p:cNvSpPr>
            <a:spLocks xmlns:a="http://schemas.openxmlformats.org/drawingml/2006/main" noGrp="1"/>
          </p:cNvSpPr>
          <p:nvPr/>
        </p:nvSpPr>
        <p:spPr>
          <a:xfrm xmlns:a="http://schemas.openxmlformats.org/drawingml/2006/main">
            <a:off x="3505200" y="2762250"/>
            <a:ext cx="1266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a:solidFill>
                  <a:srgbClr val="CBAAFF"/>
                </a:solidFill>
                <a:latin typeface="Switzer"/>
                <a:ea typeface="Switzer"/>
                <a:cs typeface="Switzer"/>
              </a:defRPr>
            </a:pPr>
            <a:r>
              <a:rPr sz="1200">
                <a:solidFill>
                  <a:srgbClr val="CBAAFF"/>
                </a:solidFill>
                <a:latin typeface="Switzer"/>
                <a:ea typeface="Switzer"/>
                <a:cs typeface="Switzer"/>
              </a:rPr>
              <a:t>parsed frame</a:t>
            </a:r>
          </a:p>
        </p:txBody>
      </p:sp>
      <p:sp>
        <p:nvSpPr>
          <p:cNvPr id="35" name="input-label">
            <a:extLst xmlns:a="http://schemas.openxmlformats.org/drawingml/2006/main">
              <a:ext uri="{FF2B5EF4-FFF2-40B4-BE49-F238E27FC236}">
                <a16:creationId xmlns:a16="http://schemas.microsoft.com/office/drawing/2014/main" id="{CA8F110C-264E-4370-9C87-B5AA9F03BF10}"/>
              </a:ext>
            </a:extLst>
          </p:cNvPr>
          <p:cNvSpPr>
            <a:spLocks xmlns:a="http://schemas.openxmlformats.org/drawingml/2006/main" noGrp="1"/>
          </p:cNvSpPr>
          <p:nvPr/>
        </p:nvSpPr>
        <p:spPr>
          <a:xfrm xmlns:a="http://schemas.openxmlformats.org/drawingml/2006/main">
            <a:off x="7429500" y="2762250"/>
            <a:ext cx="12763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a:solidFill>
                  <a:srgbClr val="6AE8CD"/>
                </a:solidFill>
                <a:latin typeface="Switzer"/>
                <a:ea typeface="Switzer"/>
                <a:cs typeface="Switzer"/>
              </a:defRPr>
            </a:pPr>
            <a:r>
              <a:rPr sz="1200">
                <a:solidFill>
                  <a:srgbClr val="6AE8CD"/>
                </a:solidFill>
                <a:latin typeface="Switzer"/>
                <a:ea typeface="Switzer"/>
                <a:cs typeface="Switzer"/>
              </a:rPr>
              <a:t>terminal input</a:t>
            </a:r>
          </a:p>
        </p:txBody>
      </p:sp>
      <p:sp>
        <p:nvSpPr>
          <p:cNvPr id="36" name="pty-a">
            <a:extLst xmlns:a="http://schemas.openxmlformats.org/drawingml/2006/main">
              <a:ext uri="{FF2B5EF4-FFF2-40B4-BE49-F238E27FC236}">
                <a16:creationId xmlns:a16="http://schemas.microsoft.com/office/drawing/2014/main" id="{334248D5-A82E-45E9-BE25-DD0B64638EDC}"/>
              </a:ext>
            </a:extLst>
          </p:cNvPr>
          <p:cNvSpPr>
            <a:spLocks xmlns:a="http://schemas.openxmlformats.org/drawingml/2006/main" noGrp="1"/>
          </p:cNvSpPr>
          <p:nvPr/>
        </p:nvSpPr>
        <p:spPr>
          <a:xfrm xmlns:a="http://schemas.openxmlformats.org/drawingml/2006/main">
            <a:off x="895350" y="4638675"/>
            <a:ext cx="2571750" cy="4953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a:solidFill>
                  <a:srgbClr val="F9F8FD"/>
                </a:solidFill>
                <a:latin typeface="Switzer"/>
                <a:ea typeface="Switzer"/>
                <a:cs typeface="Switzer"/>
              </a:defRPr>
            </a:pPr>
            <a:r>
              <a:rPr sz="1575">
                <a:solidFill>
                  <a:srgbClr val="F9F8FD"/>
                </a:solidFill>
                <a:latin typeface="Switzer"/>
                <a:ea typeface="Switzer"/>
                <a:cs typeface="Switzer"/>
              </a:rPr>
              <a:t>Python helper ↔ real PTY</a:t>
            </a:r>
          </a:p>
        </p:txBody>
      </p:sp>
      <p:sp>
        <p:nvSpPr>
          <p:cNvPr id="37" name="ledger">
            <a:extLst xmlns:a="http://schemas.openxmlformats.org/drawingml/2006/main">
              <a:ext uri="{FF2B5EF4-FFF2-40B4-BE49-F238E27FC236}">
                <a16:creationId xmlns:a16="http://schemas.microsoft.com/office/drawing/2014/main" id="{75B5C02E-E00A-4BE4-AC7B-AB2B2B2D31BA}"/>
              </a:ext>
            </a:extLst>
          </p:cNvPr>
          <p:cNvSpPr>
            <a:spLocks xmlns:a="http://schemas.openxmlformats.org/drawingml/2006/main" noGrp="1"/>
          </p:cNvSpPr>
          <p:nvPr/>
        </p:nvSpPr>
        <p:spPr>
          <a:xfrm xmlns:a="http://schemas.openxmlformats.org/drawingml/2006/main">
            <a:off x="4343400" y="3876675"/>
            <a:ext cx="3514725" cy="352425"/>
          </a:xfrm>
          <a:prstGeom xmlns:a="http://schemas.openxmlformats.org/drawingml/2006/main" prst="rect">
            <a:avLst/>
          </a:prstGeom>
          <a:solidFill xmlns:a="http://schemas.openxmlformats.org/drawingml/2006/main">
            <a:srgbClr val="27262B"/>
          </a:solidFill>
          <a:ln xmlns:a="http://schemas.openxmlformats.org/drawingml/2006/main" w="13335">
            <a:solidFill>
              <a:srgbClr val="A6E34A"/>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00">
                <a:solidFill>
                  <a:srgbClr val="F9F8FD"/>
                </a:solidFill>
                <a:latin typeface="Switzer"/>
                <a:ea typeface="Switzer"/>
                <a:cs typeface="Switzer"/>
              </a:defRPr>
            </a:pPr>
            <a:r>
              <a:rPr sz="1500">
                <a:solidFill>
                  <a:srgbClr val="F9F8FD"/>
                </a:solidFill>
                <a:latin typeface="Switzer"/>
                <a:ea typeface="Switzer"/>
                <a:cs typeface="Switzer"/>
              </a:rPr>
              <a:t>In-memory ledger → F12 Activity</a:t>
            </a:r>
          </a:p>
        </p:txBody>
      </p:sp>
      <p:sp>
        <p:nvSpPr>
          <p:cNvPr id="38" name="pty-b">
            <a:extLst xmlns:a="http://schemas.openxmlformats.org/drawingml/2006/main">
              <a:ext uri="{FF2B5EF4-FFF2-40B4-BE49-F238E27FC236}">
                <a16:creationId xmlns:a16="http://schemas.microsoft.com/office/drawing/2014/main" id="{40B1A98C-B938-4989-80E8-746C60321AA1}"/>
              </a:ext>
            </a:extLst>
          </p:cNvPr>
          <p:cNvSpPr>
            <a:spLocks xmlns:a="http://schemas.openxmlformats.org/drawingml/2006/main" noGrp="1"/>
          </p:cNvSpPr>
          <p:nvPr/>
        </p:nvSpPr>
        <p:spPr>
          <a:xfrm xmlns:a="http://schemas.openxmlformats.org/drawingml/2006/main">
            <a:off x="8724900" y="4638675"/>
            <a:ext cx="2571750" cy="4953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a:solidFill>
                  <a:srgbClr val="F9F8FD"/>
                </a:solidFill>
                <a:latin typeface="Switzer"/>
                <a:ea typeface="Switzer"/>
                <a:cs typeface="Switzer"/>
              </a:defRPr>
            </a:pPr>
            <a:r>
              <a:rPr sz="1575">
                <a:solidFill>
                  <a:srgbClr val="F9F8FD"/>
                </a:solidFill>
                <a:latin typeface="Switzer"/>
                <a:ea typeface="Switzer"/>
                <a:cs typeface="Switzer"/>
              </a:rPr>
              <a:t>Python helper ↔ real PTY</a:t>
            </a:r>
          </a:p>
        </p:txBody>
      </p:sp>
      <p:sp>
        <p:nvSpPr>
          <p:cNvPr id="39" name="cli-a">
            <a:extLst xmlns:a="http://schemas.openxmlformats.org/drawingml/2006/main">
              <a:ext uri="{FF2B5EF4-FFF2-40B4-BE49-F238E27FC236}">
                <a16:creationId xmlns:a16="http://schemas.microsoft.com/office/drawing/2014/main" id="{29C65B9E-393E-42F4-9E76-5CDEBC058609}"/>
              </a:ext>
            </a:extLst>
          </p:cNvPr>
          <p:cNvSpPr>
            <a:spLocks xmlns:a="http://schemas.openxmlformats.org/drawingml/2006/main" noGrp="1"/>
          </p:cNvSpPr>
          <p:nvPr/>
        </p:nvSpPr>
        <p:spPr>
          <a:xfrm xmlns:a="http://schemas.openxmlformats.org/drawingml/2006/main">
            <a:off x="895350" y="5391150"/>
            <a:ext cx="2571750" cy="5143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Agent CLI A</a:t>
            </a:r>
          </a:p>
        </p:txBody>
      </p:sp>
      <p:sp>
        <p:nvSpPr>
          <p:cNvPr id="40" name="cli-b">
            <a:extLst xmlns:a="http://schemas.openxmlformats.org/drawingml/2006/main">
              <a:ext uri="{FF2B5EF4-FFF2-40B4-BE49-F238E27FC236}">
                <a16:creationId xmlns:a16="http://schemas.microsoft.com/office/drawing/2014/main" id="{ACC92605-CB5C-4411-B2C8-144224F1C4A7}"/>
              </a:ext>
            </a:extLst>
          </p:cNvPr>
          <p:cNvSpPr>
            <a:spLocks xmlns:a="http://schemas.openxmlformats.org/drawingml/2006/main" noGrp="1"/>
          </p:cNvSpPr>
          <p:nvPr/>
        </p:nvSpPr>
        <p:spPr>
          <a:xfrm xmlns:a="http://schemas.openxmlformats.org/drawingml/2006/main">
            <a:off x="8724900" y="5391150"/>
            <a:ext cx="2571750" cy="5143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Agent CLI B</a:t>
            </a:r>
          </a:p>
        </p:txBody>
      </p:sp>
      <p:sp>
        <p:nvSpPr>
          <p:cNvPr id="41" name="local-control">
            <a:extLst xmlns:a="http://schemas.openxmlformats.org/drawingml/2006/main">
              <a:ext uri="{FF2B5EF4-FFF2-40B4-BE49-F238E27FC236}">
                <a16:creationId xmlns:a16="http://schemas.microsoft.com/office/drawing/2014/main" id="{D8C967FE-E8BD-4E29-9F79-49C12C18807B}"/>
              </a:ext>
            </a:extLst>
          </p:cNvPr>
          <p:cNvSpPr>
            <a:spLocks xmlns:a="http://schemas.openxmlformats.org/drawingml/2006/main" noGrp="1"/>
          </p:cNvSpPr>
          <p:nvPr/>
        </p:nvSpPr>
        <p:spPr>
          <a:xfrm xmlns:a="http://schemas.openxmlformats.org/drawingml/2006/main">
            <a:off x="4324350" y="4781550"/>
            <a:ext cx="35528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BCBBC2"/>
                </a:solidFill>
                <a:latin typeface="Switzer"/>
                <a:ea typeface="Switzer"/>
                <a:cs typeface="Switzer"/>
              </a:defRPr>
            </a:pPr>
            <a:r>
              <a:rPr sz="2100">
                <a:solidFill>
                  <a:srgbClr val="BCBBC2"/>
                </a:solidFill>
                <a:latin typeface="Switzer"/>
                <a:ea typeface="Switzer"/>
                <a:cs typeface="Switzer"/>
              </a:rPr>
              <a:t>No inter-agent sockets.</a:t>
            </a:r>
          </a:p>
          <a:p xmlns:a="http://schemas.openxmlformats.org/drawingml/2006/main">
            <a:pPr algn="ctr">
              <a:buNone/>
              <a:defRPr sz="2100">
                <a:solidFill>
                  <a:srgbClr val="BCBBC2"/>
                </a:solidFill>
                <a:latin typeface="Switzer"/>
                <a:ea typeface="Switzer"/>
                <a:cs typeface="Switzer"/>
              </a:defRPr>
            </a:pPr>
            <a:r>
              <a:rPr sz="2100">
                <a:solidFill>
                  <a:srgbClr val="BCBBC2"/>
                </a:solidFill>
                <a:latin typeface="Switzer"/>
                <a:ea typeface="Switzer"/>
                <a:cs typeface="Switzer"/>
              </a:rPr>
              <a:t>No orchestration server.</a:t>
            </a:r>
          </a:p>
        </p:txBody>
      </p:sp>
      <p:sp>
        <p:nvSpPr>
          <p:cNvPr id="42" name="provider-boundary">
            <a:extLst xmlns:a="http://schemas.openxmlformats.org/drawingml/2006/main">
              <a:ext uri="{FF2B5EF4-FFF2-40B4-BE49-F238E27FC236}">
                <a16:creationId xmlns:a16="http://schemas.microsoft.com/office/drawing/2014/main" id="{1464D1AE-1BCC-4B03-9D7F-C7FEFFDE75F6}"/>
              </a:ext>
            </a:extLst>
          </p:cNvPr>
          <p:cNvSpPr>
            <a:spLocks xmlns:a="http://schemas.openxmlformats.org/drawingml/2006/main" noGrp="1"/>
          </p:cNvSpPr>
          <p:nvPr/>
        </p:nvSpPr>
        <p:spPr>
          <a:xfrm xmlns:a="http://schemas.openxmlformats.org/drawingml/2006/main">
            <a:off x="914400" y="6048375"/>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BCBBC2"/>
                </a:solidFill>
                <a:latin typeface="Switzer"/>
                <a:ea typeface="Switzer"/>
                <a:cs typeface="Switzer"/>
              </a:defRPr>
            </a:pPr>
            <a:r>
              <a:rPr sz="1500">
                <a:solidFill>
                  <a:srgbClr val="BCBBC2"/>
                </a:solidFill>
                <a:latin typeface="Switzer"/>
                <a:ea typeface="Switzer"/>
                <a:cs typeface="Switzer"/>
              </a:rPr>
              <a:t>Each CLI owns its provider calls, credentials, tools, and permission prompts.</a:t>
            </a:r>
          </a:p>
        </p:txBody>
      </p:sp>
    </p:spTree>
    <p:extLst>
      <p:ext uri="{BB962C8B-B14F-4D97-AF65-F5344CB8AC3E}">
        <p14:creationId xmlns:p14="http://schemas.microsoft.com/office/powerpoint/2010/main" val="1960374928"/>
      </p:ext>
    </p:extLst>
  </p:cSld>
</p:sld>
</file>

<file path=ppt/slides/slide4.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7BA366A-9237-4F8F-8986-15917BD6D207}"/>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OBSERVATION</a:t>
            </a:r>
          </a:p>
        </p:txBody>
      </p:sp>
      <p:sp>
        <p:nvSpPr>
          <p:cNvPr id="3" name="TextBox 2">
            <a:extLst xmlns:a="http://schemas.openxmlformats.org/drawingml/2006/main">
              <a:ext uri="{FF2B5EF4-FFF2-40B4-BE49-F238E27FC236}">
                <a16:creationId xmlns:a16="http://schemas.microsoft.com/office/drawing/2014/main" id="{D8202F8C-732C-4C98-9F82-3027BD53EF0A}"/>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Scan the terminal—not raw escape codes.</a:t>
            </a:r>
          </a:p>
        </p:txBody>
      </p:sp>
      <p:sp>
        <p:nvSpPr>
          <p:cNvPr id="17" name="TextBox 16">
            <a:extLst xmlns:a="http://schemas.openxmlformats.org/drawingml/2006/main">
              <a:ext uri="{FF2B5EF4-FFF2-40B4-BE49-F238E27FC236}">
                <a16:creationId xmlns:a16="http://schemas.microsoft.com/office/drawing/2014/main" id="{C9D6A176-4572-4BB1-8164-1D95DC5CCB19}"/>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4/18</a:t>
            </a:r>
          </a:p>
        </p:txBody>
      </p:sp>
      <p:sp>
        <p:nvSpPr>
          <p:cNvPr id="18" name="Callstack accent rule">
            <a:extLst xmlns:a="http://schemas.openxmlformats.org/drawingml/2006/main">
              <a:ext uri="{FF2B5EF4-FFF2-40B4-BE49-F238E27FC236}">
                <a16:creationId xmlns:a16="http://schemas.microsoft.com/office/drawing/2014/main" id="{C6B95789-2123-4965-B52B-40FD36F4D7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9" name="bytes-to-decode">
            <a:extLst xmlns:a="http://schemas.openxmlformats.org/drawingml/2006/main">
              <a:ext uri="{FF2B5EF4-FFF2-40B4-BE49-F238E27FC236}">
                <a16:creationId xmlns:a16="http://schemas.microsoft.com/office/drawing/2014/main" id="{6AAB505C-A6AD-4AAF-9631-06E32C4E5490}"/>
              </a:ext>
            </a:extLst>
          </p:cNvPr>
          <p:cNvSpPr>
            <a:spLocks xmlns:a="http://schemas.openxmlformats.org/drawingml/2006/main" noGrp="1"/>
          </p:cNvSpPr>
          <p:nvPr/>
        </p:nvSpPr>
        <p:spPr>
          <a:xfrm xmlns:a="http://schemas.openxmlformats.org/drawingml/2006/main">
            <a:off x="2524125" y="2276475"/>
            <a:ext cx="857250" cy="114300"/>
          </a:xfrm>
          <a:prstGeom xmlns:a="http://schemas.openxmlformats.org/drawingml/2006/main" prst="rightArrow">
            <a:avLst/>
          </a:prstGeom>
          <a:solidFill xmlns:a="http://schemas.openxmlformats.org/drawingml/2006/main">
            <a:srgbClr val="72C6F9"/>
          </a:solidFill>
          <a:ln xmlns:a="http://schemas.openxmlformats.org/drawingml/2006/main" w="0">
            <a:noFill/>
            <a:prstDash val="solid"/>
          </a:ln>
        </p:spPr>
      </p:sp>
      <p:sp>
        <p:nvSpPr>
          <p:cNvPr id="20" name="decode-to-vterm">
            <a:extLst xmlns:a="http://schemas.openxmlformats.org/drawingml/2006/main">
              <a:ext uri="{FF2B5EF4-FFF2-40B4-BE49-F238E27FC236}">
                <a16:creationId xmlns:a16="http://schemas.microsoft.com/office/drawing/2014/main" id="{A3EDF5C4-A9AD-4DFB-9C3C-3EB2C59256B6}"/>
              </a:ext>
            </a:extLst>
          </p:cNvPr>
          <p:cNvSpPr>
            <a:spLocks xmlns:a="http://schemas.openxmlformats.org/drawingml/2006/main" noGrp="1"/>
          </p:cNvSpPr>
          <p:nvPr/>
        </p:nvSpPr>
        <p:spPr>
          <a:xfrm xmlns:a="http://schemas.openxmlformats.org/drawingml/2006/main">
            <a:off x="5962650" y="2276475"/>
            <a:ext cx="809625" cy="114300"/>
          </a:xfrm>
          <a:prstGeom xmlns:a="http://schemas.openxmlformats.org/drawingml/2006/main" prst="rightArrow">
            <a:avLst/>
          </a:prstGeom>
          <a:solidFill xmlns:a="http://schemas.openxmlformats.org/drawingml/2006/main">
            <a:srgbClr val="72C6F9"/>
          </a:solidFill>
          <a:ln xmlns:a="http://schemas.openxmlformats.org/drawingml/2006/main" w="0">
            <a:noFill/>
            <a:prstDash val="solid"/>
          </a:ln>
        </p:spPr>
      </p:sp>
      <p:sp>
        <p:nvSpPr>
          <p:cNvPr id="21" name="vterm-to-fan">
            <a:extLst xmlns:a="http://schemas.openxmlformats.org/drawingml/2006/main">
              <a:ext uri="{FF2B5EF4-FFF2-40B4-BE49-F238E27FC236}">
                <a16:creationId xmlns:a16="http://schemas.microsoft.com/office/drawing/2014/main" id="{3A24FEB3-43ED-4989-9FA8-45519473BE57}"/>
              </a:ext>
            </a:extLst>
          </p:cNvPr>
          <p:cNvSpPr>
            <a:spLocks xmlns:a="http://schemas.openxmlformats.org/drawingml/2006/main" noGrp="1"/>
          </p:cNvSpPr>
          <p:nvPr/>
        </p:nvSpPr>
        <p:spPr>
          <a:xfrm xmlns:a="http://schemas.openxmlformats.org/drawingml/2006/main">
            <a:off x="9067800" y="2686050"/>
            <a:ext cx="0" cy="24765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22" name="fanout-bar">
            <a:extLst xmlns:a="http://schemas.openxmlformats.org/drawingml/2006/main">
              <a:ext uri="{FF2B5EF4-FFF2-40B4-BE49-F238E27FC236}">
                <a16:creationId xmlns:a16="http://schemas.microsoft.com/office/drawing/2014/main" id="{D5D827A9-4EAC-4670-BC05-54AB53E4421A}"/>
              </a:ext>
            </a:extLst>
          </p:cNvPr>
          <p:cNvSpPr>
            <a:spLocks xmlns:a="http://schemas.openxmlformats.org/drawingml/2006/main" noGrp="1"/>
          </p:cNvSpPr>
          <p:nvPr/>
        </p:nvSpPr>
        <p:spPr>
          <a:xfrm xmlns:a="http://schemas.openxmlformats.org/drawingml/2006/main">
            <a:off x="2152650" y="2933700"/>
            <a:ext cx="7534275" cy="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23" name="scan-in-220">
            <a:extLst xmlns:a="http://schemas.openxmlformats.org/drawingml/2006/main">
              <a:ext uri="{FF2B5EF4-FFF2-40B4-BE49-F238E27FC236}">
                <a16:creationId xmlns:a16="http://schemas.microsoft.com/office/drawing/2014/main" id="{CEBF0AED-C042-4EF9-98CA-38CE4E0C6DBE}"/>
              </a:ext>
            </a:extLst>
          </p:cNvPr>
          <p:cNvSpPr>
            <a:spLocks xmlns:a="http://schemas.openxmlformats.org/drawingml/2006/main" noGrp="1"/>
          </p:cNvSpPr>
          <p:nvPr/>
        </p:nvSpPr>
        <p:spPr>
          <a:xfrm xmlns:a="http://schemas.openxmlformats.org/drawingml/2006/main">
            <a:off x="2095500" y="2933700"/>
            <a:ext cx="114300" cy="34290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4" name="scan-in-604">
            <a:extLst xmlns:a="http://schemas.openxmlformats.org/drawingml/2006/main">
              <a:ext uri="{FF2B5EF4-FFF2-40B4-BE49-F238E27FC236}">
                <a16:creationId xmlns:a16="http://schemas.microsoft.com/office/drawing/2014/main" id="{C8B56312-BDEA-48BC-81FF-15FCBDE07222}"/>
              </a:ext>
            </a:extLst>
          </p:cNvPr>
          <p:cNvSpPr>
            <a:spLocks xmlns:a="http://schemas.openxmlformats.org/drawingml/2006/main" noGrp="1"/>
          </p:cNvSpPr>
          <p:nvPr/>
        </p:nvSpPr>
        <p:spPr>
          <a:xfrm xmlns:a="http://schemas.openxmlformats.org/drawingml/2006/main">
            <a:off x="5753100" y="2933700"/>
            <a:ext cx="114300" cy="34290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5" name="scan-in-1011">
            <a:extLst xmlns:a="http://schemas.openxmlformats.org/drawingml/2006/main">
              <a:ext uri="{FF2B5EF4-FFF2-40B4-BE49-F238E27FC236}">
                <a16:creationId xmlns:a16="http://schemas.microsoft.com/office/drawing/2014/main" id="{8DF498A5-D0A1-4CFA-9415-AA96923EE9D2}"/>
              </a:ext>
            </a:extLst>
          </p:cNvPr>
          <p:cNvSpPr>
            <a:spLocks xmlns:a="http://schemas.openxmlformats.org/drawingml/2006/main" noGrp="1"/>
          </p:cNvSpPr>
          <p:nvPr/>
        </p:nvSpPr>
        <p:spPr>
          <a:xfrm xmlns:a="http://schemas.openxmlformats.org/drawingml/2006/main">
            <a:off x="9629775" y="2933700"/>
            <a:ext cx="114300" cy="34290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26" name="scan-out-226">
            <a:extLst xmlns:a="http://schemas.openxmlformats.org/drawingml/2006/main">
              <a:ext uri="{FF2B5EF4-FFF2-40B4-BE49-F238E27FC236}">
                <a16:creationId xmlns:a16="http://schemas.microsoft.com/office/drawing/2014/main" id="{1C2B8A32-A03E-4052-8DF4-C132ED47CFDE}"/>
              </a:ext>
            </a:extLst>
          </p:cNvPr>
          <p:cNvSpPr>
            <a:spLocks xmlns:a="http://schemas.openxmlformats.org/drawingml/2006/main" noGrp="1"/>
          </p:cNvSpPr>
          <p:nvPr/>
        </p:nvSpPr>
        <p:spPr>
          <a:xfrm xmlns:a="http://schemas.openxmlformats.org/drawingml/2006/main">
            <a:off x="2152650" y="4038600"/>
            <a:ext cx="0" cy="32385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7" name="scan-out-610">
            <a:extLst xmlns:a="http://schemas.openxmlformats.org/drawingml/2006/main">
              <a:ext uri="{FF2B5EF4-FFF2-40B4-BE49-F238E27FC236}">
                <a16:creationId xmlns:a16="http://schemas.microsoft.com/office/drawing/2014/main" id="{A466B230-BD9A-45B7-B20E-F1BC473EE022}"/>
              </a:ext>
            </a:extLst>
          </p:cNvPr>
          <p:cNvSpPr>
            <a:spLocks xmlns:a="http://schemas.openxmlformats.org/drawingml/2006/main" noGrp="1"/>
          </p:cNvSpPr>
          <p:nvPr/>
        </p:nvSpPr>
        <p:spPr>
          <a:xfrm xmlns:a="http://schemas.openxmlformats.org/drawingml/2006/main">
            <a:off x="5810250" y="4038600"/>
            <a:ext cx="0" cy="32385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8" name="scan-out-1017">
            <a:extLst xmlns:a="http://schemas.openxmlformats.org/drawingml/2006/main">
              <a:ext uri="{FF2B5EF4-FFF2-40B4-BE49-F238E27FC236}">
                <a16:creationId xmlns:a16="http://schemas.microsoft.com/office/drawing/2014/main" id="{3F2D4140-FF74-4B38-8835-B76D1083F932}"/>
              </a:ext>
            </a:extLst>
          </p:cNvPr>
          <p:cNvSpPr>
            <a:spLocks xmlns:a="http://schemas.openxmlformats.org/drawingml/2006/main" noGrp="1"/>
          </p:cNvSpPr>
          <p:nvPr/>
        </p:nvSpPr>
        <p:spPr>
          <a:xfrm xmlns:a="http://schemas.openxmlformats.org/drawingml/2006/main">
            <a:off x="9686925" y="4038600"/>
            <a:ext cx="0" cy="32385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9" name="merge-bar">
            <a:extLst xmlns:a="http://schemas.openxmlformats.org/drawingml/2006/main">
              <a:ext uri="{FF2B5EF4-FFF2-40B4-BE49-F238E27FC236}">
                <a16:creationId xmlns:a16="http://schemas.microsoft.com/office/drawing/2014/main" id="{E75D6801-05E6-4FB0-B336-5F3FDFBECF2D}"/>
              </a:ext>
            </a:extLst>
          </p:cNvPr>
          <p:cNvSpPr>
            <a:spLocks xmlns:a="http://schemas.openxmlformats.org/drawingml/2006/main" noGrp="1"/>
          </p:cNvSpPr>
          <p:nvPr/>
        </p:nvSpPr>
        <p:spPr>
          <a:xfrm xmlns:a="http://schemas.openxmlformats.org/drawingml/2006/main">
            <a:off x="2152650" y="4362450"/>
            <a:ext cx="7534275" cy="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30" name="merge-to-dedup">
            <a:extLst xmlns:a="http://schemas.openxmlformats.org/drawingml/2006/main">
              <a:ext uri="{FF2B5EF4-FFF2-40B4-BE49-F238E27FC236}">
                <a16:creationId xmlns:a16="http://schemas.microsoft.com/office/drawing/2014/main" id="{AEC4C37A-8F75-49FD-82C7-E6594582DA25}"/>
              </a:ext>
            </a:extLst>
          </p:cNvPr>
          <p:cNvSpPr>
            <a:spLocks xmlns:a="http://schemas.openxmlformats.org/drawingml/2006/main" noGrp="1"/>
          </p:cNvSpPr>
          <p:nvPr/>
        </p:nvSpPr>
        <p:spPr>
          <a:xfrm xmlns:a="http://schemas.openxmlformats.org/drawingml/2006/main">
            <a:off x="5753100" y="4362450"/>
            <a:ext cx="114300" cy="352425"/>
          </a:xfrm>
          <a:prstGeom xmlns:a="http://schemas.openxmlformats.org/drawingml/2006/main" prst="downArrow">
            <a:avLst/>
          </a:prstGeom>
          <a:solidFill xmlns:a="http://schemas.openxmlformats.org/drawingml/2006/main">
            <a:srgbClr val="6AE8CD"/>
          </a:solidFill>
          <a:ln xmlns:a="http://schemas.openxmlformats.org/drawingml/2006/main" w="0">
            <a:noFill/>
            <a:prstDash val="solid"/>
          </a:ln>
        </p:spPr>
      </p:sp>
      <p:sp>
        <p:nvSpPr>
          <p:cNvPr id="31" name="dedup-to-route">
            <a:extLst xmlns:a="http://schemas.openxmlformats.org/drawingml/2006/main">
              <a:ext uri="{FF2B5EF4-FFF2-40B4-BE49-F238E27FC236}">
                <a16:creationId xmlns:a16="http://schemas.microsoft.com/office/drawing/2014/main" id="{81D2801F-B609-471A-9C3E-93AC27476D03}"/>
              </a:ext>
            </a:extLst>
          </p:cNvPr>
          <p:cNvSpPr>
            <a:spLocks xmlns:a="http://schemas.openxmlformats.org/drawingml/2006/main" noGrp="1"/>
          </p:cNvSpPr>
          <p:nvPr/>
        </p:nvSpPr>
        <p:spPr>
          <a:xfrm xmlns:a="http://schemas.openxmlformats.org/drawingml/2006/main">
            <a:off x="8667750" y="4953000"/>
            <a:ext cx="714375"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32" name="bytes">
            <a:extLst xmlns:a="http://schemas.openxmlformats.org/drawingml/2006/main">
              <a:ext uri="{FF2B5EF4-FFF2-40B4-BE49-F238E27FC236}">
                <a16:creationId xmlns:a16="http://schemas.microsoft.com/office/drawing/2014/main" id="{8B03B193-2FFA-441A-9D9E-C5B4098C3A8C}"/>
              </a:ext>
            </a:extLst>
          </p:cNvPr>
          <p:cNvSpPr>
            <a:spLocks xmlns:a="http://schemas.openxmlformats.org/drawingml/2006/main" noGrp="1"/>
          </p:cNvSpPr>
          <p:nvPr/>
        </p:nvSpPr>
        <p:spPr>
          <a:xfrm xmlns:a="http://schemas.openxmlformats.org/drawingml/2006/main">
            <a:off x="742950" y="2009775"/>
            <a:ext cx="1781175" cy="676275"/>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PTY bytes</a:t>
            </a:r>
          </a:p>
        </p:txBody>
      </p:sp>
      <p:sp>
        <p:nvSpPr>
          <p:cNvPr id="33" name="decoder">
            <a:extLst xmlns:a="http://schemas.openxmlformats.org/drawingml/2006/main">
              <a:ext uri="{FF2B5EF4-FFF2-40B4-BE49-F238E27FC236}">
                <a16:creationId xmlns:a16="http://schemas.microsoft.com/office/drawing/2014/main" id="{8C820907-2ED5-4C49-89CF-5E70000C9E8E}"/>
              </a:ext>
            </a:extLst>
          </p:cNvPr>
          <p:cNvSpPr>
            <a:spLocks xmlns:a="http://schemas.openxmlformats.org/drawingml/2006/main" noGrp="1"/>
          </p:cNvSpPr>
          <p:nvPr/>
        </p:nvSpPr>
        <p:spPr>
          <a:xfrm xmlns:a="http://schemas.openxmlformats.org/drawingml/2006/main">
            <a:off x="3390900" y="1943100"/>
            <a:ext cx="2571750" cy="7429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StringDecoder</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streaming UTF-8</a:t>
            </a:r>
          </a:p>
        </p:txBody>
      </p:sp>
      <p:sp>
        <p:nvSpPr>
          <p:cNvPr id="34" name="vterm">
            <a:extLst xmlns:a="http://schemas.openxmlformats.org/drawingml/2006/main">
              <a:ext uri="{FF2B5EF4-FFF2-40B4-BE49-F238E27FC236}">
                <a16:creationId xmlns:a16="http://schemas.microsoft.com/office/drawing/2014/main" id="{21D3FBBC-8B03-4A4E-A3F6-EFD4E1702578}"/>
              </a:ext>
            </a:extLst>
          </p:cNvPr>
          <p:cNvSpPr>
            <a:spLocks xmlns:a="http://schemas.openxmlformats.org/drawingml/2006/main" noGrp="1"/>
          </p:cNvSpPr>
          <p:nvPr/>
        </p:nvSpPr>
        <p:spPr>
          <a:xfrm xmlns:a="http://schemas.openxmlformats.org/drawingml/2006/main">
            <a:off x="6781800" y="1943100"/>
            <a:ext cx="4600575" cy="7429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VTerm · ANSI + cursor + wraps</a:t>
            </a:r>
          </a:p>
        </p:txBody>
      </p:sp>
      <p:sp>
        <p:nvSpPr>
          <p:cNvPr id="35" name="finalized">
            <a:extLst xmlns:a="http://schemas.openxmlformats.org/drawingml/2006/main">
              <a:ext uri="{FF2B5EF4-FFF2-40B4-BE49-F238E27FC236}">
                <a16:creationId xmlns:a16="http://schemas.microsoft.com/office/drawing/2014/main" id="{7DE4008B-E2A7-431E-8EA0-FECDBBD01AB5}"/>
              </a:ext>
            </a:extLst>
          </p:cNvPr>
          <p:cNvSpPr>
            <a:spLocks xmlns:a="http://schemas.openxmlformats.org/drawingml/2006/main" noGrp="1"/>
          </p:cNvSpPr>
          <p:nvPr/>
        </p:nvSpPr>
        <p:spPr>
          <a:xfrm xmlns:a="http://schemas.openxmlformats.org/drawingml/2006/main">
            <a:off x="742950" y="3276600"/>
            <a:ext cx="2819400" cy="7620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Finalized scrollback</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stateful scanner</a:t>
            </a:r>
          </a:p>
        </p:txBody>
      </p:sp>
      <p:sp>
        <p:nvSpPr>
          <p:cNvPr id="36" name="grid">
            <a:extLst xmlns:a="http://schemas.openxmlformats.org/drawingml/2006/main">
              <a:ext uri="{FF2B5EF4-FFF2-40B4-BE49-F238E27FC236}">
                <a16:creationId xmlns:a16="http://schemas.microsoft.com/office/drawing/2014/main" id="{33A82EA1-4D46-4389-8867-FC18F6C4D1CD}"/>
              </a:ext>
            </a:extLst>
          </p:cNvPr>
          <p:cNvSpPr>
            <a:spLocks xmlns:a="http://schemas.openxmlformats.org/drawingml/2006/main" noGrp="1"/>
          </p:cNvSpPr>
          <p:nvPr/>
        </p:nvSpPr>
        <p:spPr>
          <a:xfrm xmlns:a="http://schemas.openxmlformats.org/drawingml/2006/main">
            <a:off x="4238625" y="3276600"/>
            <a:ext cx="3143250" cy="7620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Visible logical grid</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complete frames</a:t>
            </a:r>
          </a:p>
        </p:txBody>
      </p:sp>
      <p:sp>
        <p:nvSpPr>
          <p:cNvPr id="37" name="tail">
            <a:extLst xmlns:a="http://schemas.openxmlformats.org/drawingml/2006/main">
              <a:ext uri="{FF2B5EF4-FFF2-40B4-BE49-F238E27FC236}">
                <a16:creationId xmlns:a16="http://schemas.microsoft.com/office/drawing/2014/main" id="{D28466B7-3CCF-4826-8ACC-B2FC8C4B9A58}"/>
              </a:ext>
            </a:extLst>
          </p:cNvPr>
          <p:cNvSpPr>
            <a:spLocks xmlns:a="http://schemas.openxmlformats.org/drawingml/2006/main" noGrp="1"/>
          </p:cNvSpPr>
          <p:nvPr/>
        </p:nvSpPr>
        <p:spPr>
          <a:xfrm xmlns:a="http://schemas.openxmlformats.org/drawingml/2006/main">
            <a:off x="7981950" y="3276600"/>
            <a:ext cx="3400425" cy="7620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Newest 120 lines</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REPLY recovery</a:t>
            </a:r>
          </a:p>
        </p:txBody>
      </p:sp>
      <p:sp>
        <p:nvSpPr>
          <p:cNvPr id="38" name="dedup">
            <a:extLst xmlns:a="http://schemas.openxmlformats.org/drawingml/2006/main">
              <a:ext uri="{FF2B5EF4-FFF2-40B4-BE49-F238E27FC236}">
                <a16:creationId xmlns:a16="http://schemas.microsoft.com/office/drawing/2014/main" id="{139D5BA6-9624-4F65-B48F-A5FC2541EFF9}"/>
              </a:ext>
            </a:extLst>
          </p:cNvPr>
          <p:cNvSpPr>
            <a:spLocks xmlns:a="http://schemas.openxmlformats.org/drawingml/2006/main" noGrp="1"/>
          </p:cNvSpPr>
          <p:nvPr/>
        </p:nvSpPr>
        <p:spPr>
          <a:xfrm xmlns:a="http://schemas.openxmlformats.org/drawingml/2006/main">
            <a:off x="2943225" y="4714875"/>
            <a:ext cx="5724525" cy="6191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Echo suppression + SHA-256 dedup</a:t>
            </a:r>
          </a:p>
        </p:txBody>
      </p:sp>
      <p:sp>
        <p:nvSpPr>
          <p:cNvPr id="39" name="route">
            <a:extLst xmlns:a="http://schemas.openxmlformats.org/drawingml/2006/main">
              <a:ext uri="{FF2B5EF4-FFF2-40B4-BE49-F238E27FC236}">
                <a16:creationId xmlns:a16="http://schemas.microsoft.com/office/drawing/2014/main" id="{64B8F276-F802-4FCE-BDA7-694DA67F167E}"/>
              </a:ext>
            </a:extLst>
          </p:cNvPr>
          <p:cNvSpPr>
            <a:spLocks xmlns:a="http://schemas.openxmlformats.org/drawingml/2006/main" noGrp="1"/>
          </p:cNvSpPr>
          <p:nvPr/>
        </p:nvSpPr>
        <p:spPr>
          <a:xfrm xmlns:a="http://schemas.openxmlformats.org/drawingml/2006/main">
            <a:off x="9382125" y="4695825"/>
            <a:ext cx="2000250" cy="66675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Session gate</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then routing</a:t>
            </a:r>
          </a:p>
        </p:txBody>
      </p:sp>
      <p:sp>
        <p:nvSpPr>
          <p:cNvPr id="40" name="why-observe">
            <a:extLst xmlns:a="http://schemas.openxmlformats.org/drawingml/2006/main">
              <a:ext uri="{FF2B5EF4-FFF2-40B4-BE49-F238E27FC236}">
                <a16:creationId xmlns:a16="http://schemas.microsoft.com/office/drawing/2014/main" id="{A64B266D-ED99-4A4B-9B97-B28D39D635CE}"/>
              </a:ext>
            </a:extLst>
          </p:cNvPr>
          <p:cNvSpPr>
            <a:spLocks xmlns:a="http://schemas.openxmlformats.org/drawingml/2006/main" noGrp="1"/>
          </p:cNvSpPr>
          <p:nvPr/>
        </p:nvSpPr>
        <p:spPr>
          <a:xfrm xmlns:a="http://schemas.openxmlformats.org/drawingml/2006/main">
            <a:off x="742950" y="5610225"/>
            <a:ext cx="10639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a:solidFill>
                  <a:srgbClr val="F9F8FD"/>
                </a:solidFill>
                <a:latin typeface="Alliance No.2"/>
                <a:ea typeface="Alliance No.2"/>
                <a:cs typeface="Alliance No.2"/>
              </a:defRPr>
            </a:pPr>
            <a:r>
              <a:rPr sz="2250">
                <a:solidFill>
                  <a:srgbClr val="F9F8FD"/>
                </a:solidFill>
                <a:latin typeface="Alliance No.2"/>
                <a:ea typeface="Alliance No.2"/>
                <a:cs typeface="Alliance No.2"/>
              </a:rPr>
              <a:t>Cursor moves ≠ new text.  Soft wraps ≠ authored newlines.</a:t>
            </a:r>
          </a:p>
        </p:txBody>
      </p:sp>
      <p:sp>
        <p:nvSpPr>
          <p:cNvPr id="41" name="dedup-caveat">
            <a:extLst xmlns:a="http://schemas.openxmlformats.org/drawingml/2006/main">
              <a:ext uri="{FF2B5EF4-FFF2-40B4-BE49-F238E27FC236}">
                <a16:creationId xmlns:a16="http://schemas.microsoft.com/office/drawing/2014/main" id="{D60C6BB7-19BE-4BFD-9356-851F0205F06B}"/>
              </a:ext>
            </a:extLst>
          </p:cNvPr>
          <p:cNvSpPr>
            <a:spLocks xmlns:a="http://schemas.openxmlformats.org/drawingml/2006/main" noGrp="1"/>
          </p:cNvSpPr>
          <p:nvPr/>
        </p:nvSpPr>
        <p:spPr>
          <a:xfrm xmlns:a="http://schemas.openxmlformats.org/drawingml/2006/main">
            <a:off x="752475" y="6067425"/>
            <a:ext cx="1061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350">
                <a:solidFill>
                  <a:srgbClr val="BCBBC2"/>
                </a:solidFill>
                <a:latin typeface="Switzer"/>
                <a:ea typeface="Switzer"/>
                <a:cs typeface="Switzer"/>
              </a:defRPr>
            </a:pPr>
            <a:r>
              <a:rPr sz="1350">
                <a:solidFill>
                  <a:srgbClr val="BCBBC2"/>
                </a:solidFill>
                <a:latin typeface="Switzer"/>
                <a:ea typeface="Switzer"/>
                <a:cs typeface="Switzer"/>
              </a:rPr>
              <a:t>Shared 15 s dedup heuristic—not exactly-once delivery.</a:t>
            </a:r>
          </a:p>
        </p:txBody>
      </p:sp>
    </p:spTree>
    <p:extLst>
      <p:ext uri="{BB962C8B-B14F-4D97-AF65-F5344CB8AC3E}">
        <p14:creationId xmlns:p14="http://schemas.microsoft.com/office/powerpoint/2010/main" val="2090962750"/>
      </p:ext>
    </p:extLst>
  </p:cSld>
</p:sld>
</file>

<file path=ppt/slides/slide5.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14A90BD-F9A0-4DE6-94FF-FC226C52D935}"/>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FRAME ANATOMY</a:t>
            </a:r>
          </a:p>
        </p:txBody>
      </p:sp>
      <p:sp>
        <p:nvSpPr>
          <p:cNvPr id="3" name="TextBox 2">
            <a:extLst xmlns:a="http://schemas.openxmlformats.org/drawingml/2006/main">
              <a:ext uri="{FF2B5EF4-FFF2-40B4-BE49-F238E27FC236}">
                <a16:creationId xmlns:a16="http://schemas.microsoft.com/office/drawing/2014/main" id="{D4C72E13-4133-4A4A-AFAD-F67776F7D283}"/>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A frame carries intent and authority.</a:t>
            </a:r>
          </a:p>
        </p:txBody>
      </p:sp>
      <p:sp>
        <p:nvSpPr>
          <p:cNvPr id="11" name="TextBox 10">
            <a:extLst xmlns:a="http://schemas.openxmlformats.org/drawingml/2006/main">
              <a:ext uri="{FF2B5EF4-FFF2-40B4-BE49-F238E27FC236}">
                <a16:creationId xmlns:a16="http://schemas.microsoft.com/office/drawing/2014/main" id="{C67EF9B9-01A7-4D8A-83E7-4C39D8358563}"/>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5/18</a:t>
            </a:r>
          </a:p>
        </p:txBody>
      </p:sp>
      <p:sp>
        <p:nvSpPr>
          <p:cNvPr id="12" name="Callstack accent rule">
            <a:extLst xmlns:a="http://schemas.openxmlformats.org/drawingml/2006/main">
              <a:ext uri="{FF2B5EF4-FFF2-40B4-BE49-F238E27FC236}">
                <a16:creationId xmlns:a16="http://schemas.microsoft.com/office/drawing/2014/main" id="{40D80EF0-A0A3-4E80-81D1-43F41C357C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3" name="arming">
            <a:extLst xmlns:a="http://schemas.openxmlformats.org/drawingml/2006/main">
              <a:ext uri="{FF2B5EF4-FFF2-40B4-BE49-F238E27FC236}">
                <a16:creationId xmlns:a16="http://schemas.microsoft.com/office/drawing/2014/main" id="{0E4FD032-17BA-46CB-835B-2DA39B931B6B}"/>
              </a:ext>
            </a:extLst>
          </p:cNvPr>
          <p:cNvSpPr>
            <a:spLocks xmlns:a="http://schemas.openxmlformats.org/drawingml/2006/main" noGrp="1"/>
          </p:cNvSpPr>
          <p:nvPr/>
        </p:nvSpPr>
        <p:spPr>
          <a:xfrm xmlns:a="http://schemas.openxmlformats.org/drawingml/2006/main">
            <a:off x="742950" y="18764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BCBBC2"/>
                </a:solidFill>
                <a:latin typeface="Switzer"/>
                <a:ea typeface="Switzer"/>
                <a:cs typeface="Switzer"/>
              </a:defRPr>
            </a:pPr>
            <a:r>
              <a:rPr sz="1875">
                <a:solidFill>
                  <a:srgbClr val="BCBBC2"/>
                </a:solidFill>
                <a:latin typeface="Switzer"/>
                <a:ea typeface="Switzer"/>
                <a:cs typeface="Switzer"/>
              </a:rPr>
              <a:t>Ctrl+P arms the source session with a fresh 256-bit capability.</a:t>
            </a:r>
          </a:p>
        </p:txBody>
      </p:sp>
      <p:sp>
        <p:nvSpPr>
          <p:cNvPr id="14" name="frame-code">
            <a:extLst xmlns:a="http://schemas.openxmlformats.org/drawingml/2006/main">
              <a:ext uri="{FF2B5EF4-FFF2-40B4-BE49-F238E27FC236}">
                <a16:creationId xmlns:a16="http://schemas.microsoft.com/office/drawing/2014/main" id="{6EE110C2-815C-4DA5-8C61-58F760FC69CE}"/>
              </a:ext>
            </a:extLst>
          </p:cNvPr>
          <p:cNvSpPr>
            <a:spLocks xmlns:a="http://schemas.openxmlformats.org/drawingml/2006/main" noGrp="1"/>
          </p:cNvSpPr>
          <p:nvPr/>
        </p:nvSpPr>
        <p:spPr>
          <a:xfrm xmlns:a="http://schemas.openxmlformats.org/drawingml/2006/main">
            <a:off x="742950" y="2476500"/>
            <a:ext cx="10620375" cy="1781175"/>
          </a:xfrm>
          <a:prstGeom xmlns:a="http://schemas.openxmlformats.org/drawingml/2006/main" prst="rect">
            <a:avLst/>
          </a:prstGeom>
          <a:noFill xmlns:a="http://schemas.openxmlformats.org/drawingml/2006/main"/>
          <a:ln xmlns:a="http://schemas.openxmlformats.org/drawingml/2006/main" w="9525">
            <a:solidFill>
              <a:srgbClr val="838289"/>
            </a:solidFill>
            <a:prstDash val="solid"/>
          </a:ln>
        </p:spPr>
      </p:sp>
      <p:sp>
        <p:nvSpPr>
          <p:cNvPr id="15" name="frame">
            <a:extLst xmlns:a="http://schemas.openxmlformats.org/drawingml/2006/main">
              <a:ext uri="{FF2B5EF4-FFF2-40B4-BE49-F238E27FC236}">
                <a16:creationId xmlns:a16="http://schemas.microsoft.com/office/drawing/2014/main" id="{5A890B10-B73D-4115-B1AE-4F3CE565C4D6}"/>
              </a:ext>
            </a:extLst>
          </p:cNvPr>
          <p:cNvSpPr>
            <a:spLocks xmlns:a="http://schemas.openxmlformats.org/drawingml/2006/main" noGrp="1"/>
          </p:cNvSpPr>
          <p:nvPr/>
        </p:nvSpPr>
        <p:spPr>
          <a:xfrm xmlns:a="http://schemas.openxmlformats.org/drawingml/2006/main">
            <a:off x="990600" y="2619375"/>
            <a:ext cx="1009650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75">
                <a:solidFill>
                  <a:srgbClr val="F9F8FD"/>
                </a:solidFill>
                <a:latin typeface="Consolas"/>
                <a:ea typeface="Consolas"/>
                <a:cs typeface="Consolas"/>
              </a:defRPr>
            </a:pPr>
            <a:r>
              <a:rPr sz="2175">
                <a:solidFill>
                  <a:srgbClr val="F9F8FD"/>
                </a:solidFill>
                <a:latin typeface="Consolas"/>
                <a:ea typeface="Consolas"/>
                <a:cs typeface="Consolas"/>
              </a:rPr>
              <a:t>===COMMANDER:</a:t>
            </a:r>
            <a:r>
              <a:rPr sz="2175">
                <a:solidFill>
                  <a:srgbClr val="CBAAFF"/>
                </a:solidFill>
                <a:latin typeface="Consolas"/>
                <a:ea typeface="Consolas"/>
                <a:cs typeface="Consolas"/>
              </a:rPr>
              <a:t>SEND</a:t>
            </a:r>
            <a:r>
              <a:rPr sz="2175">
                <a:solidFill>
                  <a:srgbClr val="F9F8FD"/>
                </a:solidFill>
                <a:latin typeface="Consolas"/>
                <a:ea typeface="Consolas"/>
                <a:cs typeface="Consolas"/>
              </a:rPr>
              <a:t>:</a:t>
            </a:r>
            <a:r>
              <a:rPr sz="2175">
                <a:solidFill>
                  <a:srgbClr val="72C6F9"/>
                </a:solidFill>
                <a:latin typeface="Consolas"/>
                <a:ea typeface="Consolas"/>
                <a:cs typeface="Consolas"/>
              </a:rPr>
              <a:t>claude</a:t>
            </a:r>
            <a:r>
              <a:rPr sz="2175">
                <a:solidFill>
                  <a:srgbClr val="A6E34A"/>
                </a:solidFill>
                <a:latin typeface="Consolas"/>
                <a:ea typeface="Consolas"/>
                <a:cs typeface="Consolas"/>
              </a:rPr>
              <a:t>:2:</a:t>
            </a:r>
            <a:r>
              <a:rPr sz="2175">
                <a:solidFill>
                  <a:srgbClr val="6AE8CD"/>
                </a:solidFill>
                <a:latin typeface="Consolas"/>
                <a:ea typeface="Consolas"/>
                <a:cs typeface="Consolas"/>
              </a:rPr>
              <a:t>&lt;cap-A&gt;</a:t>
            </a:r>
            <a:r>
              <a:rPr sz="2175">
                <a:solidFill>
                  <a:srgbClr val="F9F8FD"/>
                </a:solidFill>
                <a:latin typeface="Consolas"/>
                <a:ea typeface="Consolas"/>
                <a:cs typeface="Consolas"/>
              </a:rPr>
              <a:t>===</a:t>
            </a:r>
          </a:p>
          <a:p xmlns:a="http://schemas.openxmlformats.org/drawingml/2006/main">
            <a:pPr algn="l">
              <a:buNone/>
              <a:defRPr sz="2175">
                <a:solidFill>
                  <a:srgbClr val="F9F8FD"/>
                </a:solidFill>
                <a:latin typeface="Consolas"/>
                <a:ea typeface="Consolas"/>
                <a:cs typeface="Consolas"/>
              </a:defRPr>
            </a:pPr>
            <a:r>
              <a:rPr sz="2175">
                <a:solidFill>
                  <a:srgbClr val="F9F8FD"/>
                </a:solidFill>
                <a:latin typeface="Consolas"/>
                <a:ea typeface="Consolas"/>
                <a:cs typeface="Consolas"/>
              </a:rPr>
              <a:t>Review calculateTotal([19, 23]); return the result.</a:t>
            </a:r>
          </a:p>
          <a:p xmlns:a="http://schemas.openxmlformats.org/drawingml/2006/main">
            <a:pPr algn="l">
              <a:buNone/>
              <a:defRPr sz="2175">
                <a:solidFill>
                  <a:srgbClr val="F9F8FD"/>
                </a:solidFill>
                <a:latin typeface="Consolas"/>
                <a:ea typeface="Consolas"/>
                <a:cs typeface="Consolas"/>
              </a:defRPr>
            </a:pPr>
            <a:r>
              <a:rPr sz="2175">
                <a:solidFill>
                  <a:srgbClr val="F9F8FD"/>
                </a:solidFill>
                <a:latin typeface="Consolas"/>
                <a:ea typeface="Consolas"/>
                <a:cs typeface="Consolas"/>
              </a:rPr>
              <a:t>===COMMANDER:END:&lt;cap-A&gt;===</a:t>
            </a:r>
          </a:p>
        </p:txBody>
      </p:sp>
      <p:sp>
        <p:nvSpPr>
          <p:cNvPr id="16" name="verb-rule">
            <a:extLst xmlns:a="http://schemas.openxmlformats.org/drawingml/2006/main">
              <a:ext uri="{FF2B5EF4-FFF2-40B4-BE49-F238E27FC236}">
                <a16:creationId xmlns:a16="http://schemas.microsoft.com/office/drawing/2014/main" id="{F46A5106-040E-46B5-9863-72D96253A270}"/>
              </a:ext>
            </a:extLst>
          </p:cNvPr>
          <p:cNvSpPr>
            <a:spLocks xmlns:a="http://schemas.openxmlformats.org/drawingml/2006/main" noGrp="1"/>
          </p:cNvSpPr>
          <p:nvPr/>
        </p:nvSpPr>
        <p:spPr>
          <a:xfrm xmlns:a="http://schemas.openxmlformats.org/drawingml/2006/main">
            <a:off x="742950" y="4600575"/>
            <a:ext cx="2286000" cy="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17" name="adapter-rule">
            <a:extLst xmlns:a="http://schemas.openxmlformats.org/drawingml/2006/main">
              <a:ext uri="{FF2B5EF4-FFF2-40B4-BE49-F238E27FC236}">
                <a16:creationId xmlns:a16="http://schemas.microsoft.com/office/drawing/2014/main" id="{DC02CD86-D9CB-4400-8D65-D434457B26CD}"/>
              </a:ext>
            </a:extLst>
          </p:cNvPr>
          <p:cNvSpPr>
            <a:spLocks xmlns:a="http://schemas.openxmlformats.org/drawingml/2006/main" noGrp="1"/>
          </p:cNvSpPr>
          <p:nvPr/>
        </p:nvSpPr>
        <p:spPr>
          <a:xfrm xmlns:a="http://schemas.openxmlformats.org/drawingml/2006/main">
            <a:off x="3409950" y="4600575"/>
            <a:ext cx="2381250" cy="0"/>
          </a:xfrm>
          <a:prstGeom xmlns:a="http://schemas.openxmlformats.org/drawingml/2006/main" prst="line">
            <a:avLst/>
          </a:prstGeom>
          <a:noFill xmlns:a="http://schemas.openxmlformats.org/drawingml/2006/main"/>
          <a:ln xmlns:a="http://schemas.openxmlformats.org/drawingml/2006/main" w="16193">
            <a:solidFill>
              <a:srgbClr val="72C6F9"/>
            </a:solidFill>
            <a:prstDash val="solid"/>
          </a:ln>
        </p:spPr>
      </p:sp>
      <p:sp>
        <p:nvSpPr>
          <p:cNvPr id="18" name="panel-rule">
            <a:extLst xmlns:a="http://schemas.openxmlformats.org/drawingml/2006/main">
              <a:ext uri="{FF2B5EF4-FFF2-40B4-BE49-F238E27FC236}">
                <a16:creationId xmlns:a16="http://schemas.microsoft.com/office/drawing/2014/main" id="{2F3D42DF-3592-4727-AC74-321A192237E4}"/>
              </a:ext>
            </a:extLst>
          </p:cNvPr>
          <p:cNvSpPr>
            <a:spLocks xmlns:a="http://schemas.openxmlformats.org/drawingml/2006/main" noGrp="1"/>
          </p:cNvSpPr>
          <p:nvPr/>
        </p:nvSpPr>
        <p:spPr>
          <a:xfrm xmlns:a="http://schemas.openxmlformats.org/drawingml/2006/main">
            <a:off x="6134100" y="4600575"/>
            <a:ext cx="2095500" cy="0"/>
          </a:xfrm>
          <a:prstGeom xmlns:a="http://schemas.openxmlformats.org/drawingml/2006/main" prst="line">
            <a:avLst/>
          </a:prstGeom>
          <a:noFill xmlns:a="http://schemas.openxmlformats.org/drawingml/2006/main"/>
          <a:ln xmlns:a="http://schemas.openxmlformats.org/drawingml/2006/main" w="16193">
            <a:solidFill>
              <a:srgbClr val="A6E34A"/>
            </a:solidFill>
            <a:prstDash val="solid"/>
          </a:ln>
        </p:spPr>
      </p:sp>
      <p:sp>
        <p:nvSpPr>
          <p:cNvPr id="19" name="key-rule">
            <a:extLst xmlns:a="http://schemas.openxmlformats.org/drawingml/2006/main">
              <a:ext uri="{FF2B5EF4-FFF2-40B4-BE49-F238E27FC236}">
                <a16:creationId xmlns:a16="http://schemas.microsoft.com/office/drawing/2014/main" id="{AC874111-DDB3-4D00-BC96-AFE6BC81F2B6}"/>
              </a:ext>
            </a:extLst>
          </p:cNvPr>
          <p:cNvSpPr>
            <a:spLocks xmlns:a="http://schemas.openxmlformats.org/drawingml/2006/main" noGrp="1"/>
          </p:cNvSpPr>
          <p:nvPr/>
        </p:nvSpPr>
        <p:spPr>
          <a:xfrm xmlns:a="http://schemas.openxmlformats.org/drawingml/2006/main">
            <a:off x="8572500" y="4600575"/>
            <a:ext cx="2790825" cy="0"/>
          </a:xfrm>
          <a:prstGeom xmlns:a="http://schemas.openxmlformats.org/drawingml/2006/main" prst="line">
            <a:avLst/>
          </a:prstGeom>
          <a:noFill xmlns:a="http://schemas.openxmlformats.org/drawingml/2006/main"/>
          <a:ln xmlns:a="http://schemas.openxmlformats.org/drawingml/2006/main" w="16193">
            <a:solidFill>
              <a:srgbClr val="6AE8CD"/>
            </a:solidFill>
            <a:prstDash val="solid"/>
          </a:ln>
        </p:spPr>
      </p:sp>
      <p:sp>
        <p:nvSpPr>
          <p:cNvPr id="20" name="verb-label">
            <a:extLst xmlns:a="http://schemas.openxmlformats.org/drawingml/2006/main">
              <a:ext uri="{FF2B5EF4-FFF2-40B4-BE49-F238E27FC236}">
                <a16:creationId xmlns:a16="http://schemas.microsoft.com/office/drawing/2014/main" id="{838BA884-105C-4393-BDC1-EAE57E8110C1}"/>
              </a:ext>
            </a:extLst>
          </p:cNvPr>
          <p:cNvSpPr>
            <a:spLocks xmlns:a="http://schemas.openxmlformats.org/drawingml/2006/main" noGrp="1"/>
          </p:cNvSpPr>
          <p:nvPr/>
        </p:nvSpPr>
        <p:spPr>
          <a:xfrm xmlns:a="http://schemas.openxmlformats.org/drawingml/2006/main">
            <a:off x="742950" y="47244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CBAAFF"/>
                </a:solidFill>
                <a:latin typeface="Consolas"/>
                <a:ea typeface="Consolas"/>
                <a:cs typeface="Consolas"/>
              </a:defRPr>
            </a:pPr>
            <a:r>
              <a:rPr sz="1950">
                <a:solidFill>
                  <a:srgbClr val="CBAAFF"/>
                </a:solidFill>
                <a:latin typeface="Consolas"/>
                <a:ea typeface="Consolas"/>
                <a:cs typeface="Consolas"/>
              </a:rPr>
              <a:t>SEND</a:t>
            </a:r>
          </a:p>
        </p:txBody>
      </p:sp>
      <p:sp>
        <p:nvSpPr>
          <p:cNvPr id="21" name="verb-desc">
            <a:extLst xmlns:a="http://schemas.openxmlformats.org/drawingml/2006/main">
              <a:ext uri="{FF2B5EF4-FFF2-40B4-BE49-F238E27FC236}">
                <a16:creationId xmlns:a16="http://schemas.microsoft.com/office/drawing/2014/main" id="{F7473826-93BB-4412-BE9A-FCA0090C66F1}"/>
              </a:ext>
            </a:extLst>
          </p:cNvPr>
          <p:cNvSpPr>
            <a:spLocks xmlns:a="http://schemas.openxmlformats.org/drawingml/2006/main" noGrp="1"/>
          </p:cNvSpPr>
          <p:nvPr/>
        </p:nvSpPr>
        <p:spPr>
          <a:xfrm xmlns:a="http://schemas.openxmlformats.org/drawingml/2006/main">
            <a:off x="742950" y="51816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Intent / verb</a:t>
            </a:r>
          </a:p>
        </p:txBody>
      </p:sp>
      <p:sp>
        <p:nvSpPr>
          <p:cNvPr id="22" name="adapter-label">
            <a:extLst xmlns:a="http://schemas.openxmlformats.org/drawingml/2006/main">
              <a:ext uri="{FF2B5EF4-FFF2-40B4-BE49-F238E27FC236}">
                <a16:creationId xmlns:a16="http://schemas.microsoft.com/office/drawing/2014/main" id="{307819D2-E92A-440C-ADE5-7A8C0D630E5D}"/>
              </a:ext>
            </a:extLst>
          </p:cNvPr>
          <p:cNvSpPr>
            <a:spLocks xmlns:a="http://schemas.openxmlformats.org/drawingml/2006/main" noGrp="1"/>
          </p:cNvSpPr>
          <p:nvPr/>
        </p:nvSpPr>
        <p:spPr>
          <a:xfrm xmlns:a="http://schemas.openxmlformats.org/drawingml/2006/main">
            <a:off x="3409950" y="47244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72C6F9"/>
                </a:solidFill>
                <a:latin typeface="Consolas"/>
                <a:ea typeface="Consolas"/>
                <a:cs typeface="Consolas"/>
              </a:defRPr>
            </a:pPr>
            <a:r>
              <a:rPr sz="1950">
                <a:solidFill>
                  <a:srgbClr val="72C6F9"/>
                </a:solidFill>
                <a:latin typeface="Consolas"/>
                <a:ea typeface="Consolas"/>
                <a:cs typeface="Consolas"/>
              </a:rPr>
              <a:t>claude</a:t>
            </a:r>
          </a:p>
        </p:txBody>
      </p:sp>
      <p:sp>
        <p:nvSpPr>
          <p:cNvPr id="23" name="adapter-desc">
            <a:extLst xmlns:a="http://schemas.openxmlformats.org/drawingml/2006/main">
              <a:ext uri="{FF2B5EF4-FFF2-40B4-BE49-F238E27FC236}">
                <a16:creationId xmlns:a16="http://schemas.microsoft.com/office/drawing/2014/main" id="{9E2E8161-F5E5-47CD-9F68-865F6111A3E9}"/>
              </a:ext>
            </a:extLst>
          </p:cNvPr>
          <p:cNvSpPr>
            <a:spLocks xmlns:a="http://schemas.openxmlformats.org/drawingml/2006/main" noGrp="1"/>
          </p:cNvSpPr>
          <p:nvPr/>
        </p:nvSpPr>
        <p:spPr>
          <a:xfrm xmlns:a="http://schemas.openxmlformats.org/drawingml/2006/main">
            <a:off x="3409950" y="5181600"/>
            <a:ext cx="2447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Expected adapter</a:t>
            </a:r>
          </a:p>
        </p:txBody>
      </p:sp>
      <p:sp>
        <p:nvSpPr>
          <p:cNvPr id="24" name="panel-label">
            <a:extLst xmlns:a="http://schemas.openxmlformats.org/drawingml/2006/main">
              <a:ext uri="{FF2B5EF4-FFF2-40B4-BE49-F238E27FC236}">
                <a16:creationId xmlns:a16="http://schemas.microsoft.com/office/drawing/2014/main" id="{0FC4DFFC-0548-4BBA-A08F-0FFA2E8E29FD}"/>
              </a:ext>
            </a:extLst>
          </p:cNvPr>
          <p:cNvSpPr>
            <a:spLocks xmlns:a="http://schemas.openxmlformats.org/drawingml/2006/main" noGrp="1"/>
          </p:cNvSpPr>
          <p:nvPr/>
        </p:nvSpPr>
        <p:spPr>
          <a:xfrm xmlns:a="http://schemas.openxmlformats.org/drawingml/2006/main">
            <a:off x="6134100" y="47244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A6E34A"/>
                </a:solidFill>
                <a:latin typeface="Consolas"/>
                <a:ea typeface="Consolas"/>
                <a:cs typeface="Consolas"/>
              </a:defRPr>
            </a:pPr>
            <a:r>
              <a:rPr sz="1950">
                <a:solidFill>
                  <a:srgbClr val="A6E34A"/>
                </a:solidFill>
                <a:latin typeface="Consolas"/>
                <a:ea typeface="Consolas"/>
                <a:cs typeface="Consolas"/>
              </a:rPr>
              <a:t>2</a:t>
            </a:r>
          </a:p>
        </p:txBody>
      </p:sp>
      <p:sp>
        <p:nvSpPr>
          <p:cNvPr id="25" name="panel-desc">
            <a:extLst xmlns:a="http://schemas.openxmlformats.org/drawingml/2006/main">
              <a:ext uri="{FF2B5EF4-FFF2-40B4-BE49-F238E27FC236}">
                <a16:creationId xmlns:a16="http://schemas.microsoft.com/office/drawing/2014/main" id="{F6A4A70C-4BAB-4B96-999C-AA9C10BDCBBF}"/>
              </a:ext>
            </a:extLst>
          </p:cNvPr>
          <p:cNvSpPr>
            <a:spLocks xmlns:a="http://schemas.openxmlformats.org/drawingml/2006/main" noGrp="1"/>
          </p:cNvSpPr>
          <p:nvPr/>
        </p:nvSpPr>
        <p:spPr>
          <a:xfrm xmlns:a="http://schemas.openxmlformats.org/drawingml/2006/main">
            <a:off x="6134100" y="51816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F9F8FD"/>
                </a:solidFill>
                <a:latin typeface="Switzer"/>
                <a:ea typeface="Switzer"/>
                <a:cs typeface="Switzer"/>
              </a:defRPr>
            </a:pPr>
            <a:r>
              <a:rPr sz="1650">
                <a:solidFill>
                  <a:srgbClr val="F9F8FD"/>
                </a:solidFill>
                <a:latin typeface="Switzer"/>
                <a:ea typeface="Switzer"/>
                <a:cs typeface="Switzer"/>
              </a:rPr>
              <a:t>Stable panel address</a:t>
            </a:r>
          </a:p>
        </p:txBody>
      </p:sp>
      <p:sp>
        <p:nvSpPr>
          <p:cNvPr id="26" name="key-label">
            <a:extLst xmlns:a="http://schemas.openxmlformats.org/drawingml/2006/main">
              <a:ext uri="{FF2B5EF4-FFF2-40B4-BE49-F238E27FC236}">
                <a16:creationId xmlns:a16="http://schemas.microsoft.com/office/drawing/2014/main" id="{FEEB263F-C810-48FB-A082-D38FF7A3805B}"/>
              </a:ext>
            </a:extLst>
          </p:cNvPr>
          <p:cNvSpPr>
            <a:spLocks xmlns:a="http://schemas.openxmlformats.org/drawingml/2006/main" noGrp="1"/>
          </p:cNvSpPr>
          <p:nvPr/>
        </p:nvSpPr>
        <p:spPr>
          <a:xfrm xmlns:a="http://schemas.openxmlformats.org/drawingml/2006/main">
            <a:off x="8572500" y="4724400"/>
            <a:ext cx="27908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6AE8CD"/>
                </a:solidFill>
                <a:latin typeface="Consolas"/>
                <a:ea typeface="Consolas"/>
                <a:cs typeface="Consolas"/>
              </a:defRPr>
            </a:pPr>
            <a:r>
              <a:rPr sz="1950">
                <a:solidFill>
                  <a:srgbClr val="6AE8CD"/>
                </a:solidFill>
                <a:latin typeface="Consolas"/>
                <a:ea typeface="Consolas"/>
                <a:cs typeface="Consolas"/>
              </a:rPr>
              <a:t>&lt;cap-A&gt;</a:t>
            </a:r>
          </a:p>
        </p:txBody>
      </p:sp>
      <p:sp>
        <p:nvSpPr>
          <p:cNvPr id="27" name="key-desc">
            <a:extLst xmlns:a="http://schemas.openxmlformats.org/drawingml/2006/main">
              <a:ext uri="{FF2B5EF4-FFF2-40B4-BE49-F238E27FC236}">
                <a16:creationId xmlns:a16="http://schemas.microsoft.com/office/drawing/2014/main" id="{05B35E0A-65C4-49F7-9D91-0E62F243E0A0}"/>
              </a:ext>
            </a:extLst>
          </p:cNvPr>
          <p:cNvSpPr>
            <a:spLocks xmlns:a="http://schemas.openxmlformats.org/drawingml/2006/main" noGrp="1"/>
          </p:cNvSpPr>
          <p:nvPr/>
        </p:nvSpPr>
        <p:spPr>
          <a:xfrm xmlns:a="http://schemas.openxmlformats.org/drawingml/2006/main">
            <a:off x="8572500" y="5181600"/>
            <a:ext cx="2905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F9F8FD"/>
                </a:solidFill>
                <a:latin typeface="Switzer"/>
                <a:ea typeface="Switzer"/>
                <a:cs typeface="Switzer"/>
              </a:defRPr>
            </a:pPr>
            <a:r>
              <a:rPr sz="1575">
                <a:solidFill>
                  <a:srgbClr val="F9F8FD"/>
                </a:solidFill>
                <a:latin typeface="Switzer"/>
                <a:ea typeface="Switzer"/>
                <a:cs typeface="Switzer"/>
              </a:rPr>
              <a:t>Source key, repeated at END</a:t>
            </a:r>
          </a:p>
        </p:txBody>
      </p:sp>
      <p:sp>
        <p:nvSpPr>
          <p:cNvPr id="28" name="frame-foot">
            <a:extLst xmlns:a="http://schemas.openxmlformats.org/drawingml/2006/main">
              <a:ext uri="{FF2B5EF4-FFF2-40B4-BE49-F238E27FC236}">
                <a16:creationId xmlns:a16="http://schemas.microsoft.com/office/drawing/2014/main" id="{EAF8F6F8-11A4-4FC6-93EA-6AB4D7A84222}"/>
              </a:ext>
            </a:extLst>
          </p:cNvPr>
          <p:cNvSpPr>
            <a:spLocks xmlns:a="http://schemas.openxmlformats.org/drawingml/2006/main" noGrp="1"/>
          </p:cNvSpPr>
          <p:nvPr/>
        </p:nvSpPr>
        <p:spPr>
          <a:xfrm xmlns:a="http://schemas.openxmlformats.org/drawingml/2006/main">
            <a:off x="742950" y="58578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BCBBC2"/>
                </a:solidFill>
                <a:latin typeface="Switzer"/>
                <a:ea typeface="Switzer"/>
                <a:cs typeface="Switzer"/>
              </a:defRPr>
            </a:pPr>
            <a:r>
              <a:rPr sz="1500">
                <a:solidFill>
                  <a:srgbClr val="BCBBC2"/>
                </a:solidFill>
                <a:latin typeface="Switzer"/>
                <a:ea typeface="Switzer"/>
                <a:cs typeface="Switzer"/>
              </a:rPr>
              <a:t>Schematic key only. Source = observed session. Message and thread IDs = assigned by Commander.</a:t>
            </a:r>
          </a:p>
        </p:txBody>
      </p:sp>
    </p:spTree>
    <p:extLst>
      <p:ext uri="{BB962C8B-B14F-4D97-AF65-F5344CB8AC3E}">
        <p14:creationId xmlns:p14="http://schemas.microsoft.com/office/powerpoint/2010/main" val="574963073"/>
      </p:ext>
    </p:extLst>
  </p:cSld>
</p:sld>
</file>

<file path=ppt/slides/slide6.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7BA366A-9237-4F8F-8986-15917BD6D207}"/>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STREAMING PARSER</a:t>
            </a:r>
          </a:p>
        </p:txBody>
      </p:sp>
      <p:sp>
        <p:nvSpPr>
          <p:cNvPr id="3" name="TextBox 2">
            <a:extLst xmlns:a="http://schemas.openxmlformats.org/drawingml/2006/main">
              <a:ext uri="{FF2B5EF4-FFF2-40B4-BE49-F238E27FC236}">
                <a16:creationId xmlns:a16="http://schemas.microsoft.com/office/drawing/2014/main" id="{D8202F8C-732C-4C98-9F82-3027BD53EF0A}"/>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Wait for the matching END.</a:t>
            </a:r>
          </a:p>
        </p:txBody>
      </p:sp>
      <p:sp>
        <p:nvSpPr>
          <p:cNvPr id="17" name="TextBox 16">
            <a:extLst xmlns:a="http://schemas.openxmlformats.org/drawingml/2006/main">
              <a:ext uri="{FF2B5EF4-FFF2-40B4-BE49-F238E27FC236}">
                <a16:creationId xmlns:a16="http://schemas.microsoft.com/office/drawing/2014/main" id="{C9D6A176-4572-4BB1-8164-1D95DC5CCB19}"/>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6/18</a:t>
            </a:r>
          </a:p>
        </p:txBody>
      </p:sp>
      <p:sp>
        <p:nvSpPr>
          <p:cNvPr id="18" name="Callstack accent rule">
            <a:extLst xmlns:a="http://schemas.openxmlformats.org/drawingml/2006/main">
              <a:ext uri="{FF2B5EF4-FFF2-40B4-BE49-F238E27FC236}">
                <a16:creationId xmlns:a16="http://schemas.microsoft.com/office/drawing/2014/main" id="{C6B95789-2123-4965-B52B-40FD36F4D7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9" name="start-edge">
            <a:extLst xmlns:a="http://schemas.openxmlformats.org/drawingml/2006/main">
              <a:ext uri="{FF2B5EF4-FFF2-40B4-BE49-F238E27FC236}">
                <a16:creationId xmlns:a16="http://schemas.microsoft.com/office/drawing/2014/main" id="{75C533AC-F1C0-4518-97DB-B625C1A27928}"/>
              </a:ext>
            </a:extLst>
          </p:cNvPr>
          <p:cNvSpPr>
            <a:spLocks xmlns:a="http://schemas.openxmlformats.org/drawingml/2006/main" noGrp="1"/>
          </p:cNvSpPr>
          <p:nvPr/>
        </p:nvSpPr>
        <p:spPr>
          <a:xfrm xmlns:a="http://schemas.openxmlformats.org/drawingml/2006/main">
            <a:off x="3086100" y="3238500"/>
            <a:ext cx="147637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0" name="end-edge">
            <a:extLst xmlns:a="http://schemas.openxmlformats.org/drawingml/2006/main">
              <a:ext uri="{FF2B5EF4-FFF2-40B4-BE49-F238E27FC236}">
                <a16:creationId xmlns:a16="http://schemas.microsoft.com/office/drawing/2014/main" id="{60AF547C-C104-42E9-A8F0-F4E270ADC00E}"/>
              </a:ext>
            </a:extLst>
          </p:cNvPr>
          <p:cNvSpPr>
            <a:spLocks xmlns:a="http://schemas.openxmlformats.org/drawingml/2006/main" noGrp="1"/>
          </p:cNvSpPr>
          <p:nvPr/>
        </p:nvSpPr>
        <p:spPr>
          <a:xfrm xmlns:a="http://schemas.openxmlformats.org/drawingml/2006/main">
            <a:off x="7610475" y="3238500"/>
            <a:ext cx="13335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21" name="idle-return-left">
            <a:extLst xmlns:a="http://schemas.openxmlformats.org/drawingml/2006/main">
              <a:ext uri="{FF2B5EF4-FFF2-40B4-BE49-F238E27FC236}">
                <a16:creationId xmlns:a16="http://schemas.microsoft.com/office/drawing/2014/main" id="{F1BF48F9-7279-4377-ABDD-62BAEFD9DA68}"/>
              </a:ext>
            </a:extLst>
          </p:cNvPr>
          <p:cNvSpPr>
            <a:spLocks xmlns:a="http://schemas.openxmlformats.org/drawingml/2006/main" noGrp="1"/>
          </p:cNvSpPr>
          <p:nvPr/>
        </p:nvSpPr>
        <p:spPr>
          <a:xfrm xmlns:a="http://schemas.openxmlformats.org/drawingml/2006/main">
            <a:off x="1885950" y="4543425"/>
            <a:ext cx="0" cy="523875"/>
          </a:xfrm>
          <a:prstGeom xmlns:a="http://schemas.openxmlformats.org/drawingml/2006/main" prst="line">
            <a:avLst/>
          </a:prstGeom>
          <a:noFill xmlns:a="http://schemas.openxmlformats.org/drawingml/2006/main"/>
          <a:ln xmlns:a="http://schemas.openxmlformats.org/drawingml/2006/main" w="16193">
            <a:solidFill>
              <a:srgbClr val="FA7171"/>
            </a:solidFill>
            <a:prstDash val="solid"/>
          </a:ln>
        </p:spPr>
      </p:sp>
      <p:sp>
        <p:nvSpPr>
          <p:cNvPr id="22" name="idle-return-bottom">
            <a:extLst xmlns:a="http://schemas.openxmlformats.org/drawingml/2006/main">
              <a:ext uri="{FF2B5EF4-FFF2-40B4-BE49-F238E27FC236}">
                <a16:creationId xmlns:a16="http://schemas.microsoft.com/office/drawing/2014/main" id="{FAC1D605-712D-4DF1-8C8C-235F0B4101D5}"/>
              </a:ext>
            </a:extLst>
          </p:cNvPr>
          <p:cNvSpPr>
            <a:spLocks xmlns:a="http://schemas.openxmlformats.org/drawingml/2006/main" noGrp="1"/>
          </p:cNvSpPr>
          <p:nvPr/>
        </p:nvSpPr>
        <p:spPr>
          <a:xfrm xmlns:a="http://schemas.openxmlformats.org/drawingml/2006/main">
            <a:off x="1885950" y="5067300"/>
            <a:ext cx="4210050" cy="0"/>
          </a:xfrm>
          <a:prstGeom xmlns:a="http://schemas.openxmlformats.org/drawingml/2006/main" prst="line">
            <a:avLst/>
          </a:prstGeom>
          <a:noFill xmlns:a="http://schemas.openxmlformats.org/drawingml/2006/main"/>
          <a:ln xmlns:a="http://schemas.openxmlformats.org/drawingml/2006/main" w="16193">
            <a:solidFill>
              <a:srgbClr val="FA7171"/>
            </a:solidFill>
            <a:prstDash val="solid"/>
          </a:ln>
        </p:spPr>
      </p:sp>
      <p:sp>
        <p:nvSpPr>
          <p:cNvPr id="23" name="collect-limit">
            <a:extLst xmlns:a="http://schemas.openxmlformats.org/drawingml/2006/main">
              <a:ext uri="{FF2B5EF4-FFF2-40B4-BE49-F238E27FC236}">
                <a16:creationId xmlns:a16="http://schemas.microsoft.com/office/drawing/2014/main" id="{3D308037-124F-4D24-B7A0-20C8494E9E4B}"/>
              </a:ext>
            </a:extLst>
          </p:cNvPr>
          <p:cNvSpPr>
            <a:spLocks xmlns:a="http://schemas.openxmlformats.org/drawingml/2006/main" noGrp="1"/>
          </p:cNvSpPr>
          <p:nvPr/>
        </p:nvSpPr>
        <p:spPr>
          <a:xfrm xmlns:a="http://schemas.openxmlformats.org/drawingml/2006/main">
            <a:off x="6038850" y="3914775"/>
            <a:ext cx="114300" cy="1057275"/>
          </a:xfrm>
          <a:prstGeom xmlns:a="http://schemas.openxmlformats.org/drawingml/2006/main" prst="downArrow">
            <a:avLst/>
          </a:prstGeom>
          <a:solidFill xmlns:a="http://schemas.openxmlformats.org/drawingml/2006/main">
            <a:srgbClr val="FA7171"/>
          </a:solidFill>
          <a:ln xmlns:a="http://schemas.openxmlformats.org/drawingml/2006/main" w="0">
            <a:noFill/>
            <a:prstDash val="solid"/>
          </a:ln>
        </p:spPr>
      </p:sp>
      <p:sp>
        <p:nvSpPr>
          <p:cNvPr id="24" name="discard-to-idle">
            <a:extLst xmlns:a="http://schemas.openxmlformats.org/drawingml/2006/main">
              <a:ext uri="{FF2B5EF4-FFF2-40B4-BE49-F238E27FC236}">
                <a16:creationId xmlns:a16="http://schemas.microsoft.com/office/drawing/2014/main" id="{B5136734-347B-4681-970B-7B19DEC1F277}"/>
              </a:ext>
            </a:extLst>
          </p:cNvPr>
          <p:cNvSpPr>
            <a:spLocks xmlns:a="http://schemas.openxmlformats.org/drawingml/2006/main" noGrp="1"/>
          </p:cNvSpPr>
          <p:nvPr/>
        </p:nvSpPr>
        <p:spPr>
          <a:xfrm xmlns:a="http://schemas.openxmlformats.org/drawingml/2006/main">
            <a:off x="1828800" y="3810000"/>
            <a:ext cx="114300" cy="733425"/>
          </a:xfrm>
          <a:prstGeom xmlns:a="http://schemas.openxmlformats.org/drawingml/2006/main" prst="upArrow">
            <a:avLst/>
          </a:prstGeom>
          <a:solidFill xmlns:a="http://schemas.openxmlformats.org/drawingml/2006/main">
            <a:srgbClr val="FA7171"/>
          </a:solidFill>
          <a:ln xmlns:a="http://schemas.openxmlformats.org/drawingml/2006/main" w="0">
            <a:noFill/>
            <a:prstDash val="solid"/>
          </a:ln>
        </p:spPr>
      </p:sp>
      <p:sp>
        <p:nvSpPr>
          <p:cNvPr id="25" name="idle">
            <a:extLst xmlns:a="http://schemas.openxmlformats.org/drawingml/2006/main">
              <a:ext uri="{FF2B5EF4-FFF2-40B4-BE49-F238E27FC236}">
                <a16:creationId xmlns:a16="http://schemas.microsoft.com/office/drawing/2014/main" id="{0E71CCBE-F49D-4AAD-8466-AAF4DFC27713}"/>
              </a:ext>
            </a:extLst>
          </p:cNvPr>
          <p:cNvSpPr>
            <a:spLocks xmlns:a="http://schemas.openxmlformats.org/drawingml/2006/main" noGrp="1"/>
          </p:cNvSpPr>
          <p:nvPr/>
        </p:nvSpPr>
        <p:spPr>
          <a:xfrm xmlns:a="http://schemas.openxmlformats.org/drawingml/2006/main">
            <a:off x="742950" y="2847975"/>
            <a:ext cx="2352675" cy="962025"/>
          </a:xfrm>
          <a:prstGeom xmlns:a="http://schemas.openxmlformats.org/drawingml/2006/main" prst="rect">
            <a:avLst/>
          </a:prstGeom>
          <a:solidFill xmlns:a="http://schemas.openxmlformats.org/drawingml/2006/main">
            <a:srgbClr val="27262B"/>
          </a:solidFill>
          <a:ln xmlns:a="http://schemas.openxmlformats.org/drawingml/2006/main" w="13335">
            <a:solidFill>
              <a:srgbClr val="BCBBC2"/>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550">
                <a:solidFill>
                  <a:srgbClr val="F9F8FD"/>
                </a:solidFill>
                <a:latin typeface="Switzer"/>
                <a:ea typeface="Switzer"/>
                <a:cs typeface="Switzer"/>
              </a:defRPr>
            </a:pPr>
            <a:r>
              <a:rPr sz="2550">
                <a:solidFill>
                  <a:srgbClr val="F9F8FD"/>
                </a:solidFill>
                <a:latin typeface="Switzer"/>
                <a:ea typeface="Switzer"/>
                <a:cs typeface="Switzer"/>
              </a:rPr>
              <a:t>IDLE</a:t>
            </a:r>
          </a:p>
        </p:txBody>
      </p:sp>
      <p:sp>
        <p:nvSpPr>
          <p:cNvPr id="26" name="collect">
            <a:extLst xmlns:a="http://schemas.openxmlformats.org/drawingml/2006/main">
              <a:ext uri="{FF2B5EF4-FFF2-40B4-BE49-F238E27FC236}">
                <a16:creationId xmlns:a16="http://schemas.microsoft.com/office/drawing/2014/main" id="{EA955EF4-C97C-468D-9782-489D3E9531A9}"/>
              </a:ext>
            </a:extLst>
          </p:cNvPr>
          <p:cNvSpPr>
            <a:spLocks xmlns:a="http://schemas.openxmlformats.org/drawingml/2006/main" noGrp="1"/>
          </p:cNvSpPr>
          <p:nvPr/>
        </p:nvSpPr>
        <p:spPr>
          <a:xfrm xmlns:a="http://schemas.openxmlformats.org/drawingml/2006/main">
            <a:off x="4562475" y="2686050"/>
            <a:ext cx="3038475" cy="123825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025">
                <a:solidFill>
                  <a:srgbClr val="F9F8FD"/>
                </a:solidFill>
                <a:latin typeface="Switzer"/>
                <a:ea typeface="Switzer"/>
                <a:cs typeface="Switzer"/>
              </a:defRPr>
            </a:pPr>
            <a:r>
              <a:rPr sz="2025">
                <a:solidFill>
                  <a:srgbClr val="F9F8FD"/>
                </a:solidFill>
                <a:latin typeface="Switzer"/>
                <a:ea typeface="Switzer"/>
                <a:cs typeface="Switzer"/>
              </a:rPr>
              <a:t>COLLECT</a:t>
            </a:r>
          </a:p>
          <a:p xmlns:a="http://schemas.openxmlformats.org/drawingml/2006/main">
            <a:pPr algn="ctr">
              <a:buNone/>
              <a:defRPr sz="2025">
                <a:solidFill>
                  <a:srgbClr val="F9F8FD"/>
                </a:solidFill>
                <a:latin typeface="Switzer"/>
                <a:ea typeface="Switzer"/>
                <a:cs typeface="Switzer"/>
              </a:defRPr>
            </a:pPr>
            <a:r>
              <a:rPr sz="2025">
                <a:solidFill>
                  <a:srgbClr val="F9F8FD"/>
                </a:solidFill>
                <a:latin typeface="Switzer"/>
                <a:ea typeface="Switzer"/>
                <a:cs typeface="Switzer"/>
              </a:rPr>
              <a:t>verb · destination · key</a:t>
            </a:r>
          </a:p>
        </p:txBody>
      </p:sp>
      <p:sp>
        <p:nvSpPr>
          <p:cNvPr id="27" name="emit">
            <a:extLst xmlns:a="http://schemas.openxmlformats.org/drawingml/2006/main">
              <a:ext uri="{FF2B5EF4-FFF2-40B4-BE49-F238E27FC236}">
                <a16:creationId xmlns:a16="http://schemas.microsoft.com/office/drawing/2014/main" id="{98D2FA2C-3743-4E37-9335-76ABB0A09524}"/>
              </a:ext>
            </a:extLst>
          </p:cNvPr>
          <p:cNvSpPr>
            <a:spLocks xmlns:a="http://schemas.openxmlformats.org/drawingml/2006/main" noGrp="1"/>
          </p:cNvSpPr>
          <p:nvPr/>
        </p:nvSpPr>
        <p:spPr>
          <a:xfrm xmlns:a="http://schemas.openxmlformats.org/drawingml/2006/main">
            <a:off x="8953500" y="2847975"/>
            <a:ext cx="2457450" cy="9620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EMIT</a:t>
            </a:r>
          </a:p>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CommanderMessage</a:t>
            </a:r>
          </a:p>
        </p:txBody>
      </p:sp>
      <p:sp>
        <p:nvSpPr>
          <p:cNvPr id="28" name="start-label">
            <a:extLst xmlns:a="http://schemas.openxmlformats.org/drawingml/2006/main">
              <a:ext uri="{FF2B5EF4-FFF2-40B4-BE49-F238E27FC236}">
                <a16:creationId xmlns:a16="http://schemas.microsoft.com/office/drawing/2014/main" id="{F28B3E63-A475-4610-9B95-3621A445A5CB}"/>
              </a:ext>
            </a:extLst>
          </p:cNvPr>
          <p:cNvSpPr>
            <a:spLocks xmlns:a="http://schemas.openxmlformats.org/drawingml/2006/main" noGrp="1"/>
          </p:cNvSpPr>
          <p:nvPr/>
        </p:nvSpPr>
        <p:spPr>
          <a:xfrm xmlns:a="http://schemas.openxmlformats.org/drawingml/2006/main">
            <a:off x="3152775" y="2600325"/>
            <a:ext cx="13620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CBAAFF"/>
                </a:solidFill>
                <a:latin typeface="Consolas"/>
                <a:ea typeface="Consolas"/>
                <a:cs typeface="Consolas"/>
              </a:defRPr>
            </a:pPr>
            <a:r>
              <a:rPr sz="1500">
                <a:solidFill>
                  <a:srgbClr val="CBAAFF"/>
                </a:solidFill>
                <a:latin typeface="Consolas"/>
                <a:ea typeface="Consolas"/>
                <a:cs typeface="Consolas"/>
              </a:rPr>
              <a:t>valid START</a:t>
            </a:r>
          </a:p>
        </p:txBody>
      </p:sp>
      <p:sp>
        <p:nvSpPr>
          <p:cNvPr id="29" name="end-label">
            <a:extLst xmlns:a="http://schemas.openxmlformats.org/drawingml/2006/main">
              <a:ext uri="{FF2B5EF4-FFF2-40B4-BE49-F238E27FC236}">
                <a16:creationId xmlns:a16="http://schemas.microsoft.com/office/drawing/2014/main" id="{F1028B8A-0ECC-4CA8-97BE-B90029E397C5}"/>
              </a:ext>
            </a:extLst>
          </p:cNvPr>
          <p:cNvSpPr>
            <a:spLocks xmlns:a="http://schemas.openxmlformats.org/drawingml/2006/main" noGrp="1"/>
          </p:cNvSpPr>
          <p:nvPr/>
        </p:nvSpPr>
        <p:spPr>
          <a:xfrm xmlns:a="http://schemas.openxmlformats.org/drawingml/2006/main">
            <a:off x="7629525" y="2600325"/>
            <a:ext cx="13239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425">
                <a:solidFill>
                  <a:srgbClr val="6AE8CD"/>
                </a:solidFill>
                <a:latin typeface="Consolas"/>
                <a:ea typeface="Consolas"/>
                <a:cs typeface="Consolas"/>
              </a:defRPr>
            </a:pPr>
            <a:r>
              <a:rPr sz="1425">
                <a:solidFill>
                  <a:srgbClr val="6AE8CD"/>
                </a:solidFill>
                <a:latin typeface="Consolas"/>
                <a:ea typeface="Consolas"/>
                <a:cs typeface="Consolas"/>
              </a:rPr>
              <a:t>matching END</a:t>
            </a:r>
          </a:p>
        </p:txBody>
      </p:sp>
      <p:sp>
        <p:nvSpPr>
          <p:cNvPr id="30" name="idle-loop">
            <a:extLst xmlns:a="http://schemas.openxmlformats.org/drawingml/2006/main">
              <a:ext uri="{FF2B5EF4-FFF2-40B4-BE49-F238E27FC236}">
                <a16:creationId xmlns:a16="http://schemas.microsoft.com/office/drawing/2014/main" id="{267BF843-510D-4018-8F40-3A6DEAFF690B}"/>
              </a:ext>
            </a:extLst>
          </p:cNvPr>
          <p:cNvSpPr>
            <a:spLocks xmlns:a="http://schemas.openxmlformats.org/drawingml/2006/main" noGrp="1"/>
          </p:cNvSpPr>
          <p:nvPr/>
        </p:nvSpPr>
        <p:spPr>
          <a:xfrm xmlns:a="http://schemas.openxmlformats.org/drawingml/2006/main">
            <a:off x="742950" y="2295525"/>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BCBBC2"/>
                </a:solidFill>
                <a:latin typeface="Switzer"/>
                <a:ea typeface="Switzer"/>
                <a:cs typeface="Switzer"/>
              </a:defRPr>
            </a:pPr>
            <a:r>
              <a:rPr sz="1650">
                <a:solidFill>
                  <a:srgbClr val="BCBBC2"/>
                </a:solidFill>
                <a:latin typeface="Switzer"/>
                <a:ea typeface="Switzer"/>
                <a:cs typeface="Switzer"/>
              </a:rPr>
              <a:t>ordinary text → ignore</a:t>
            </a:r>
          </a:p>
        </p:txBody>
      </p:sp>
      <p:sp>
        <p:nvSpPr>
          <p:cNvPr id="31" name="collect-loop">
            <a:extLst xmlns:a="http://schemas.openxmlformats.org/drawingml/2006/main">
              <a:ext uri="{FF2B5EF4-FFF2-40B4-BE49-F238E27FC236}">
                <a16:creationId xmlns:a16="http://schemas.microsoft.com/office/drawing/2014/main" id="{4C605D6E-7CAF-427C-9D53-F18DEAA9F57C}"/>
              </a:ext>
            </a:extLst>
          </p:cNvPr>
          <p:cNvSpPr>
            <a:spLocks xmlns:a="http://schemas.openxmlformats.org/drawingml/2006/main" noGrp="1"/>
          </p:cNvSpPr>
          <p:nvPr/>
        </p:nvSpPr>
        <p:spPr>
          <a:xfrm xmlns:a="http://schemas.openxmlformats.org/drawingml/2006/main">
            <a:off x="4572000" y="1885950"/>
            <a:ext cx="3952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body, nested START,</a:t>
            </a:r>
          </a:p>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wrong END → append</a:t>
            </a:r>
          </a:p>
        </p:txBody>
      </p:sp>
      <p:sp>
        <p:nvSpPr>
          <p:cNvPr id="32" name="discard-label">
            <a:extLst xmlns:a="http://schemas.openxmlformats.org/drawingml/2006/main">
              <a:ext uri="{FF2B5EF4-FFF2-40B4-BE49-F238E27FC236}">
                <a16:creationId xmlns:a16="http://schemas.microsoft.com/office/drawing/2014/main" id="{35AE454F-1F56-4F21-815A-5090F9BB2DD1}"/>
              </a:ext>
            </a:extLst>
          </p:cNvPr>
          <p:cNvSpPr>
            <a:spLocks xmlns:a="http://schemas.openxmlformats.org/drawingml/2006/main" noGrp="1"/>
          </p:cNvSpPr>
          <p:nvPr/>
        </p:nvSpPr>
        <p:spPr>
          <a:xfrm xmlns:a="http://schemas.openxmlformats.org/drawingml/2006/main">
            <a:off x="2505075" y="5172075"/>
            <a:ext cx="7419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FA7171"/>
                </a:solidFill>
                <a:latin typeface="Switzer"/>
                <a:ea typeface="Switzer"/>
                <a:cs typeface="Switzer"/>
              </a:defRPr>
            </a:pPr>
            <a:r>
              <a:rPr sz="2025">
                <a:solidFill>
                  <a:srgbClr val="FA7171"/>
                </a:solidFill>
                <a:latin typeface="Switzer"/>
                <a:ea typeface="Switzer"/>
                <a:cs typeface="Switzer"/>
              </a:rPr>
              <a:t>&gt;500 lines OR &gt;256 KiB → discard → IDLE</a:t>
            </a:r>
          </a:p>
        </p:txBody>
      </p:sp>
      <p:sp>
        <p:nvSpPr>
          <p:cNvPr id="33" name="emit-reset">
            <a:extLst xmlns:a="http://schemas.openxmlformats.org/drawingml/2006/main">
              <a:ext uri="{FF2B5EF4-FFF2-40B4-BE49-F238E27FC236}">
                <a16:creationId xmlns:a16="http://schemas.microsoft.com/office/drawing/2014/main" id="{15EE99DC-98C0-4F59-B629-2171CD47D590}"/>
              </a:ext>
            </a:extLst>
          </p:cNvPr>
          <p:cNvSpPr>
            <a:spLocks xmlns:a="http://schemas.openxmlformats.org/drawingml/2006/main" noGrp="1"/>
          </p:cNvSpPr>
          <p:nvPr/>
        </p:nvSpPr>
        <p:spPr>
          <a:xfrm xmlns:a="http://schemas.openxmlformats.org/drawingml/2006/main">
            <a:off x="8953500" y="4048125"/>
            <a:ext cx="2457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a:solidFill>
                  <a:srgbClr val="6AE8CD"/>
                </a:solidFill>
                <a:latin typeface="Switzer"/>
                <a:ea typeface="Switzer"/>
                <a:cs typeface="Switzer"/>
              </a:defRPr>
            </a:pPr>
            <a:r>
              <a:rPr sz="1650">
                <a:solidFill>
                  <a:srgbClr val="6AE8CD"/>
                </a:solidFill>
                <a:latin typeface="Switzer"/>
                <a:ea typeface="Switzer"/>
                <a:cs typeface="Switzer"/>
              </a:rPr>
              <a:t>then → IDLE</a:t>
            </a:r>
          </a:p>
        </p:txBody>
      </p:sp>
      <p:sp>
        <p:nvSpPr>
          <p:cNvPr id="34" name="parser-caveat">
            <a:extLst xmlns:a="http://schemas.openxmlformats.org/drawingml/2006/main">
              <a:ext uri="{FF2B5EF4-FFF2-40B4-BE49-F238E27FC236}">
                <a16:creationId xmlns:a16="http://schemas.microsoft.com/office/drawing/2014/main" id="{EE7B8A96-11C2-4AB5-AD0D-F327DF52C15E}"/>
              </a:ext>
            </a:extLst>
          </p:cNvPr>
          <p:cNvSpPr>
            <a:spLocks xmlns:a="http://schemas.openxmlformats.org/drawingml/2006/main" noGrp="1"/>
          </p:cNvSpPr>
          <p:nvPr/>
        </p:nvSpPr>
        <p:spPr>
          <a:xfrm xmlns:a="http://schemas.openxmlformats.org/drawingml/2006/main">
            <a:off x="742950" y="5867400"/>
            <a:ext cx="10610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BCBBC2"/>
                </a:solidFill>
                <a:latin typeface="Switzer"/>
                <a:ea typeface="Switzer"/>
                <a:cs typeface="Switzer"/>
              </a:defRPr>
            </a:pPr>
            <a:r>
              <a:rPr sz="1575">
                <a:solidFill>
                  <a:srgbClr val="BCBBC2"/>
                </a:solidFill>
                <a:latin typeface="Switzer"/>
                <a:ea typeface="Switzer"/>
                <a:cs typeface="Switzer"/>
              </a:rPr>
              <a:t>These limits apply to the streaming collector; grid and tail scans are separate paths.</a:t>
            </a:r>
          </a:p>
        </p:txBody>
      </p:sp>
    </p:spTree>
    <p:extLst>
      <p:ext uri="{BB962C8B-B14F-4D97-AF65-F5344CB8AC3E}">
        <p14:creationId xmlns:p14="http://schemas.microsoft.com/office/powerpoint/2010/main" val="2090962750"/>
      </p:ext>
    </p:extLst>
  </p:cSld>
</p:sld>
</file>

<file path=ppt/slides/slide7.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D4F931B-3CEF-428C-BDDD-1E469E282935}"/>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COMMAND EFFECTS</a:t>
            </a:r>
          </a:p>
        </p:txBody>
      </p:sp>
      <p:sp>
        <p:nvSpPr>
          <p:cNvPr id="3" name="TextBox 2">
            <a:extLst xmlns:a="http://schemas.openxmlformats.org/drawingml/2006/main">
              <a:ext uri="{FF2B5EF4-FFF2-40B4-BE49-F238E27FC236}">
                <a16:creationId xmlns:a16="http://schemas.microsoft.com/office/drawing/2014/main" id="{0392EC51-FF0C-4F64-AA85-4771C7D692F3}"/>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Five verbs. Two kinds of effect.</a:t>
            </a:r>
          </a:p>
        </p:txBody>
      </p:sp>
      <p:sp>
        <p:nvSpPr>
          <p:cNvPr id="17" name="TextBox 16">
            <a:extLst xmlns:a="http://schemas.openxmlformats.org/drawingml/2006/main">
              <a:ext uri="{FF2B5EF4-FFF2-40B4-BE49-F238E27FC236}">
                <a16:creationId xmlns:a16="http://schemas.microsoft.com/office/drawing/2014/main" id="{F2B74B2A-E1EC-4C33-BF64-34105BEEE0CB}"/>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7/18</a:t>
            </a:r>
          </a:p>
        </p:txBody>
      </p:sp>
      <p:sp>
        <p:nvSpPr>
          <p:cNvPr id="18" name="Callstack accent rule">
            <a:extLst xmlns:a="http://schemas.openxmlformats.org/drawingml/2006/main">
              <a:ext uri="{FF2B5EF4-FFF2-40B4-BE49-F238E27FC236}">
                <a16:creationId xmlns:a16="http://schemas.microsoft.com/office/drawing/2014/main" id="{BCAFB515-4394-49A6-BDCF-BF3937215B8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9" name="routed-heading">
            <a:extLst xmlns:a="http://schemas.openxmlformats.org/drawingml/2006/main">
              <a:ext uri="{FF2B5EF4-FFF2-40B4-BE49-F238E27FC236}">
                <a16:creationId xmlns:a16="http://schemas.microsoft.com/office/drawing/2014/main" id="{E6D6D4FC-4812-4DF4-94D7-2F35615AEDC0}"/>
              </a:ext>
            </a:extLst>
          </p:cNvPr>
          <p:cNvSpPr>
            <a:spLocks xmlns:a="http://schemas.openxmlformats.org/drawingml/2006/main" noGrp="1"/>
          </p:cNvSpPr>
          <p:nvPr/>
        </p:nvSpPr>
        <p:spPr>
          <a:xfrm xmlns:a="http://schemas.openxmlformats.org/drawingml/2006/main">
            <a:off x="742950" y="1895475"/>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CBAAFF"/>
                </a:solidFill>
                <a:latin typeface="Consolas"/>
                <a:ea typeface="Consolas"/>
                <a:cs typeface="Consolas"/>
              </a:defRPr>
            </a:pPr>
            <a:r>
              <a:rPr sz="1575">
                <a:solidFill>
                  <a:srgbClr val="CBAAFF"/>
                </a:solidFill>
                <a:latin typeface="Consolas"/>
                <a:ea typeface="Consolas"/>
                <a:cs typeface="Consolas"/>
              </a:rPr>
              <a:t>ROUTED TO SESSIONS</a:t>
            </a:r>
          </a:p>
        </p:txBody>
      </p:sp>
      <p:sp>
        <p:nvSpPr>
          <p:cNvPr id="20" name="local-heading">
            <a:extLst xmlns:a="http://schemas.openxmlformats.org/drawingml/2006/main">
              <a:ext uri="{FF2B5EF4-FFF2-40B4-BE49-F238E27FC236}">
                <a16:creationId xmlns:a16="http://schemas.microsoft.com/office/drawing/2014/main" id="{454B0B2E-D7CD-4D61-AEEA-EAD2CB40C9A9}"/>
              </a:ext>
            </a:extLst>
          </p:cNvPr>
          <p:cNvSpPr>
            <a:spLocks xmlns:a="http://schemas.openxmlformats.org/drawingml/2006/main" noGrp="1"/>
          </p:cNvSpPr>
          <p:nvPr/>
        </p:nvSpPr>
        <p:spPr>
          <a:xfrm xmlns:a="http://schemas.openxmlformats.org/drawingml/2006/main">
            <a:off x="8096250" y="18954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6AE8CD"/>
                </a:solidFill>
                <a:latin typeface="Consolas"/>
                <a:ea typeface="Consolas"/>
                <a:cs typeface="Consolas"/>
              </a:defRPr>
            </a:pPr>
            <a:r>
              <a:rPr sz="1575">
                <a:solidFill>
                  <a:srgbClr val="6AE8CD"/>
                </a:solidFill>
                <a:latin typeface="Consolas"/>
                <a:ea typeface="Consolas"/>
                <a:cs typeface="Consolas"/>
              </a:rPr>
              <a:t>LOCAL TO COMMANDER</a:t>
            </a:r>
          </a:p>
        </p:txBody>
      </p:sp>
      <p:sp>
        <p:nvSpPr>
          <p:cNvPr id="21" name="effect-divider">
            <a:extLst xmlns:a="http://schemas.openxmlformats.org/drawingml/2006/main">
              <a:ext uri="{FF2B5EF4-FFF2-40B4-BE49-F238E27FC236}">
                <a16:creationId xmlns:a16="http://schemas.microsoft.com/office/drawing/2014/main" id="{9C3C9CCE-1339-49FA-A398-19E61B335AB7}"/>
              </a:ext>
            </a:extLst>
          </p:cNvPr>
          <p:cNvSpPr>
            <a:spLocks xmlns:a="http://schemas.openxmlformats.org/drawingml/2006/main" noGrp="1"/>
          </p:cNvSpPr>
          <p:nvPr/>
        </p:nvSpPr>
        <p:spPr>
          <a:xfrm xmlns:a="http://schemas.openxmlformats.org/drawingml/2006/main">
            <a:off x="7762875" y="2000250"/>
            <a:ext cx="0" cy="3867150"/>
          </a:xfrm>
          <a:prstGeom xmlns:a="http://schemas.openxmlformats.org/drawingml/2006/main" prst="line">
            <a:avLst/>
          </a:prstGeom>
          <a:noFill xmlns:a="http://schemas.openxmlformats.org/drawingml/2006/main"/>
          <a:ln xmlns:a="http://schemas.openxmlformats.org/drawingml/2006/main" w="16193">
            <a:solidFill>
              <a:srgbClr val="838289"/>
            </a:solidFill>
            <a:prstDash val="solid"/>
          </a:ln>
        </p:spPr>
      </p:sp>
      <p:sp>
        <p:nvSpPr>
          <p:cNvPr id="22" name="send-one">
            <a:extLst xmlns:a="http://schemas.openxmlformats.org/drawingml/2006/main">
              <a:ext uri="{FF2B5EF4-FFF2-40B4-BE49-F238E27FC236}">
                <a16:creationId xmlns:a16="http://schemas.microsoft.com/office/drawing/2014/main" id="{A9185877-CD49-480E-AFED-65BE177BD754}"/>
              </a:ext>
            </a:extLst>
          </p:cNvPr>
          <p:cNvSpPr>
            <a:spLocks xmlns:a="http://schemas.openxmlformats.org/drawingml/2006/main" noGrp="1"/>
          </p:cNvSpPr>
          <p:nvPr/>
        </p:nvSpPr>
        <p:spPr>
          <a:xfrm xmlns:a="http://schemas.openxmlformats.org/drawingml/2006/main">
            <a:off x="2314575" y="2943225"/>
            <a:ext cx="79057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3" name="reply-back">
            <a:extLst xmlns:a="http://schemas.openxmlformats.org/drawingml/2006/main">
              <a:ext uri="{FF2B5EF4-FFF2-40B4-BE49-F238E27FC236}">
                <a16:creationId xmlns:a16="http://schemas.microsoft.com/office/drawing/2014/main" id="{A20197A1-E4D9-4F2C-BC6D-49BB3D40D1D7}"/>
              </a:ext>
            </a:extLst>
          </p:cNvPr>
          <p:cNvSpPr>
            <a:spLocks xmlns:a="http://schemas.openxmlformats.org/drawingml/2006/main" noGrp="1"/>
          </p:cNvSpPr>
          <p:nvPr/>
        </p:nvSpPr>
        <p:spPr>
          <a:xfrm xmlns:a="http://schemas.openxmlformats.org/drawingml/2006/main">
            <a:off x="2314575" y="4010025"/>
            <a:ext cx="790575" cy="114300"/>
          </a:xfrm>
          <a:prstGeom xmlns:a="http://schemas.openxmlformats.org/drawingml/2006/main" prst="leftArrow">
            <a:avLst/>
          </a:prstGeom>
          <a:solidFill xmlns:a="http://schemas.openxmlformats.org/drawingml/2006/main">
            <a:srgbClr val="CBAAFF"/>
          </a:solidFill>
          <a:ln xmlns:a="http://schemas.openxmlformats.org/drawingml/2006/main" w="0">
            <a:noFill/>
            <a:prstDash val="solid"/>
          </a:ln>
        </p:spPr>
      </p:sp>
      <p:sp>
        <p:nvSpPr>
          <p:cNvPr id="24" name="broadcast-fan1">
            <a:extLst xmlns:a="http://schemas.openxmlformats.org/drawingml/2006/main">
              <a:ext uri="{FF2B5EF4-FFF2-40B4-BE49-F238E27FC236}">
                <a16:creationId xmlns:a16="http://schemas.microsoft.com/office/drawing/2014/main" id="{3119B641-0E6D-4DFF-8AEA-BECEE49EB73D}"/>
              </a:ext>
            </a:extLst>
          </p:cNvPr>
          <p:cNvSpPr>
            <a:spLocks xmlns:a="http://schemas.openxmlformats.org/drawingml/2006/main" noGrp="1"/>
          </p:cNvSpPr>
          <p:nvPr/>
        </p:nvSpPr>
        <p:spPr>
          <a:xfrm xmlns:a="http://schemas.openxmlformats.org/drawingml/2006/main">
            <a:off x="4638675" y="5095875"/>
            <a:ext cx="75247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5" name="broadcast-fan2">
            <a:extLst xmlns:a="http://schemas.openxmlformats.org/drawingml/2006/main">
              <a:ext uri="{FF2B5EF4-FFF2-40B4-BE49-F238E27FC236}">
                <a16:creationId xmlns:a16="http://schemas.microsoft.com/office/drawing/2014/main" id="{33CD1EE0-E1B1-4EB7-99FD-0F244E48006E}"/>
              </a:ext>
            </a:extLst>
          </p:cNvPr>
          <p:cNvSpPr>
            <a:spLocks xmlns:a="http://schemas.openxmlformats.org/drawingml/2006/main" noGrp="1"/>
          </p:cNvSpPr>
          <p:nvPr/>
        </p:nvSpPr>
        <p:spPr>
          <a:xfrm xmlns:a="http://schemas.openxmlformats.org/drawingml/2006/main">
            <a:off x="4638675" y="5753100"/>
            <a:ext cx="75247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6" name="send-a">
            <a:extLst xmlns:a="http://schemas.openxmlformats.org/drawingml/2006/main">
              <a:ext uri="{FF2B5EF4-FFF2-40B4-BE49-F238E27FC236}">
                <a16:creationId xmlns:a16="http://schemas.microsoft.com/office/drawing/2014/main" id="{37E87275-82E4-41B3-86D8-6166976BB8AE}"/>
              </a:ext>
            </a:extLst>
          </p:cNvPr>
          <p:cNvSpPr>
            <a:spLocks xmlns:a="http://schemas.openxmlformats.org/drawingml/2006/main" noGrp="1"/>
          </p:cNvSpPr>
          <p:nvPr/>
        </p:nvSpPr>
        <p:spPr>
          <a:xfrm xmlns:a="http://schemas.openxmlformats.org/drawingml/2006/main">
            <a:off x="742950" y="2705100"/>
            <a:ext cx="1571625" cy="5905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F9F8FD"/>
                </a:solidFill>
                <a:latin typeface="Switzer"/>
                <a:ea typeface="Switzer"/>
                <a:cs typeface="Switzer"/>
              </a:defRPr>
            </a:pPr>
            <a:r>
              <a:rPr sz="2100">
                <a:solidFill>
                  <a:srgbClr val="F9F8FD"/>
                </a:solidFill>
                <a:latin typeface="Switzer"/>
                <a:ea typeface="Switzer"/>
                <a:cs typeface="Switzer"/>
              </a:rPr>
              <a:t>A</a:t>
            </a:r>
          </a:p>
        </p:txBody>
      </p:sp>
      <p:sp>
        <p:nvSpPr>
          <p:cNvPr id="27" name="send-b">
            <a:extLst xmlns:a="http://schemas.openxmlformats.org/drawingml/2006/main">
              <a:ext uri="{FF2B5EF4-FFF2-40B4-BE49-F238E27FC236}">
                <a16:creationId xmlns:a16="http://schemas.microsoft.com/office/drawing/2014/main" id="{88D1B86A-4E1E-4521-818F-360C2FF07595}"/>
              </a:ext>
            </a:extLst>
          </p:cNvPr>
          <p:cNvSpPr>
            <a:spLocks xmlns:a="http://schemas.openxmlformats.org/drawingml/2006/main" noGrp="1"/>
          </p:cNvSpPr>
          <p:nvPr/>
        </p:nvSpPr>
        <p:spPr>
          <a:xfrm xmlns:a="http://schemas.openxmlformats.org/drawingml/2006/main">
            <a:off x="3114675" y="2705100"/>
            <a:ext cx="1571625" cy="5905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F9F8FD"/>
                </a:solidFill>
                <a:latin typeface="Switzer"/>
                <a:ea typeface="Switzer"/>
                <a:cs typeface="Switzer"/>
              </a:defRPr>
            </a:pPr>
            <a:r>
              <a:rPr sz="2100">
                <a:solidFill>
                  <a:srgbClr val="F9F8FD"/>
                </a:solidFill>
                <a:latin typeface="Switzer"/>
                <a:ea typeface="Switzer"/>
                <a:cs typeface="Switzer"/>
              </a:rPr>
              <a:t>B</a:t>
            </a:r>
          </a:p>
        </p:txBody>
      </p:sp>
      <p:sp>
        <p:nvSpPr>
          <p:cNvPr id="28" name="send-desc">
            <a:extLst xmlns:a="http://schemas.openxmlformats.org/drawingml/2006/main">
              <a:ext uri="{FF2B5EF4-FFF2-40B4-BE49-F238E27FC236}">
                <a16:creationId xmlns:a16="http://schemas.microsoft.com/office/drawing/2014/main" id="{2D46CECE-3E61-421A-97A8-6C58F4FE1433}"/>
              </a:ext>
            </a:extLst>
          </p:cNvPr>
          <p:cNvSpPr>
            <a:spLocks xmlns:a="http://schemas.openxmlformats.org/drawingml/2006/main" noGrp="1"/>
          </p:cNvSpPr>
          <p:nvPr/>
        </p:nvSpPr>
        <p:spPr>
          <a:xfrm xmlns:a="http://schemas.openxmlformats.org/drawingml/2006/main">
            <a:off x="4962525" y="2714625"/>
            <a:ext cx="2428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SEND · one target</a:t>
            </a:r>
          </a:p>
        </p:txBody>
      </p:sp>
      <p:sp>
        <p:nvSpPr>
          <p:cNvPr id="29" name="reply-a">
            <a:extLst xmlns:a="http://schemas.openxmlformats.org/drawingml/2006/main">
              <a:ext uri="{FF2B5EF4-FFF2-40B4-BE49-F238E27FC236}">
                <a16:creationId xmlns:a16="http://schemas.microsoft.com/office/drawing/2014/main" id="{20880357-554F-475A-B71D-2D267D683029}"/>
              </a:ext>
            </a:extLst>
          </p:cNvPr>
          <p:cNvSpPr>
            <a:spLocks xmlns:a="http://schemas.openxmlformats.org/drawingml/2006/main" noGrp="1"/>
          </p:cNvSpPr>
          <p:nvPr/>
        </p:nvSpPr>
        <p:spPr>
          <a:xfrm xmlns:a="http://schemas.openxmlformats.org/drawingml/2006/main">
            <a:off x="742950" y="3771900"/>
            <a:ext cx="1571625" cy="5905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F9F8FD"/>
                </a:solidFill>
                <a:latin typeface="Switzer"/>
                <a:ea typeface="Switzer"/>
                <a:cs typeface="Switzer"/>
              </a:defRPr>
            </a:pPr>
            <a:r>
              <a:rPr sz="2100">
                <a:solidFill>
                  <a:srgbClr val="F9F8FD"/>
                </a:solidFill>
                <a:latin typeface="Switzer"/>
                <a:ea typeface="Switzer"/>
                <a:cs typeface="Switzer"/>
              </a:rPr>
              <a:t>A</a:t>
            </a:r>
          </a:p>
        </p:txBody>
      </p:sp>
      <p:sp>
        <p:nvSpPr>
          <p:cNvPr id="30" name="reply-b">
            <a:extLst xmlns:a="http://schemas.openxmlformats.org/drawingml/2006/main">
              <a:ext uri="{FF2B5EF4-FFF2-40B4-BE49-F238E27FC236}">
                <a16:creationId xmlns:a16="http://schemas.microsoft.com/office/drawing/2014/main" id="{B5818976-3468-4AA9-8532-534A5BA96DA3}"/>
              </a:ext>
            </a:extLst>
          </p:cNvPr>
          <p:cNvSpPr>
            <a:spLocks xmlns:a="http://schemas.openxmlformats.org/drawingml/2006/main" noGrp="1"/>
          </p:cNvSpPr>
          <p:nvPr/>
        </p:nvSpPr>
        <p:spPr>
          <a:xfrm xmlns:a="http://schemas.openxmlformats.org/drawingml/2006/main">
            <a:off x="3114675" y="3771900"/>
            <a:ext cx="1571625" cy="5905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00">
                <a:solidFill>
                  <a:srgbClr val="F9F8FD"/>
                </a:solidFill>
                <a:latin typeface="Switzer"/>
                <a:ea typeface="Switzer"/>
                <a:cs typeface="Switzer"/>
              </a:defRPr>
            </a:pPr>
            <a:r>
              <a:rPr sz="2100">
                <a:solidFill>
                  <a:srgbClr val="F9F8FD"/>
                </a:solidFill>
                <a:latin typeface="Switzer"/>
                <a:ea typeface="Switzer"/>
                <a:cs typeface="Switzer"/>
              </a:rPr>
              <a:t>B</a:t>
            </a:r>
          </a:p>
        </p:txBody>
      </p:sp>
      <p:sp>
        <p:nvSpPr>
          <p:cNvPr id="31" name="reply-desc">
            <a:extLst xmlns:a="http://schemas.openxmlformats.org/drawingml/2006/main">
              <a:ext uri="{FF2B5EF4-FFF2-40B4-BE49-F238E27FC236}">
                <a16:creationId xmlns:a16="http://schemas.microsoft.com/office/drawing/2014/main" id="{61DAEDF2-57CB-45C4-B11A-39CC3F3BB594}"/>
              </a:ext>
            </a:extLst>
          </p:cNvPr>
          <p:cNvSpPr>
            <a:spLocks xmlns:a="http://schemas.openxmlformats.org/drawingml/2006/main" noGrp="1"/>
          </p:cNvSpPr>
          <p:nvPr/>
        </p:nvSpPr>
        <p:spPr>
          <a:xfrm xmlns:a="http://schemas.openxmlformats.org/drawingml/2006/main">
            <a:off x="4962525" y="3781425"/>
            <a:ext cx="2638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F9F8FD"/>
                </a:solidFill>
                <a:latin typeface="Switzer"/>
                <a:ea typeface="Switzer"/>
                <a:cs typeface="Switzer"/>
              </a:defRPr>
            </a:pPr>
            <a:r>
              <a:rPr sz="1800">
                <a:solidFill>
                  <a:srgbClr val="F9F8FD"/>
                </a:solidFill>
                <a:latin typeface="Switzer"/>
                <a:ea typeface="Switzer"/>
                <a:cs typeface="Switzer"/>
              </a:rPr>
              <a:t>REPLY · newest route</a:t>
            </a:r>
          </a:p>
        </p:txBody>
      </p:sp>
      <p:sp>
        <p:nvSpPr>
          <p:cNvPr id="32" name="bcast-a">
            <a:extLst xmlns:a="http://schemas.openxmlformats.org/drawingml/2006/main">
              <a:ext uri="{FF2B5EF4-FFF2-40B4-BE49-F238E27FC236}">
                <a16:creationId xmlns:a16="http://schemas.microsoft.com/office/drawing/2014/main" id="{51367922-3DF3-4DFE-9C82-7F84DC5E0475}"/>
              </a:ext>
            </a:extLst>
          </p:cNvPr>
          <p:cNvSpPr>
            <a:spLocks xmlns:a="http://schemas.openxmlformats.org/drawingml/2006/main" noGrp="1"/>
          </p:cNvSpPr>
          <p:nvPr/>
        </p:nvSpPr>
        <p:spPr>
          <a:xfrm xmlns:a="http://schemas.openxmlformats.org/drawingml/2006/main">
            <a:off x="742950" y="5067300"/>
            <a:ext cx="2333625" cy="81915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BROADCAST</a:t>
            </a:r>
          </a:p>
        </p:txBody>
      </p:sp>
      <p:sp>
        <p:nvSpPr>
          <p:cNvPr id="33" name="bcast-line">
            <a:extLst xmlns:a="http://schemas.openxmlformats.org/drawingml/2006/main">
              <a:ext uri="{FF2B5EF4-FFF2-40B4-BE49-F238E27FC236}">
                <a16:creationId xmlns:a16="http://schemas.microsoft.com/office/drawing/2014/main" id="{697C6BEC-26D6-4C0F-8394-E341E063BD22}"/>
              </a:ext>
            </a:extLst>
          </p:cNvPr>
          <p:cNvSpPr>
            <a:spLocks xmlns:a="http://schemas.openxmlformats.org/drawingml/2006/main" noGrp="1"/>
          </p:cNvSpPr>
          <p:nvPr/>
        </p:nvSpPr>
        <p:spPr>
          <a:xfrm xmlns:a="http://schemas.openxmlformats.org/drawingml/2006/main">
            <a:off x="3076575" y="5448300"/>
            <a:ext cx="1562100" cy="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34" name="bcast-spine">
            <a:extLst xmlns:a="http://schemas.openxmlformats.org/drawingml/2006/main">
              <a:ext uri="{FF2B5EF4-FFF2-40B4-BE49-F238E27FC236}">
                <a16:creationId xmlns:a16="http://schemas.microsoft.com/office/drawing/2014/main" id="{A4320B77-0A5D-478C-A090-F2371F300E64}"/>
              </a:ext>
            </a:extLst>
          </p:cNvPr>
          <p:cNvSpPr>
            <a:spLocks xmlns:a="http://schemas.openxmlformats.org/drawingml/2006/main" noGrp="1"/>
          </p:cNvSpPr>
          <p:nvPr/>
        </p:nvSpPr>
        <p:spPr>
          <a:xfrm xmlns:a="http://schemas.openxmlformats.org/drawingml/2006/main">
            <a:off x="4638675" y="5153025"/>
            <a:ext cx="0" cy="64770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35" name="bcast-b">
            <a:extLst xmlns:a="http://schemas.openxmlformats.org/drawingml/2006/main">
              <a:ext uri="{FF2B5EF4-FFF2-40B4-BE49-F238E27FC236}">
                <a16:creationId xmlns:a16="http://schemas.microsoft.com/office/drawing/2014/main" id="{64A1A294-86F8-47D8-8874-C81FD3E3EFD7}"/>
              </a:ext>
            </a:extLst>
          </p:cNvPr>
          <p:cNvSpPr>
            <a:spLocks xmlns:a="http://schemas.openxmlformats.org/drawingml/2006/main" noGrp="1"/>
          </p:cNvSpPr>
          <p:nvPr/>
        </p:nvSpPr>
        <p:spPr>
          <a:xfrm xmlns:a="http://schemas.openxmlformats.org/drawingml/2006/main">
            <a:off x="5410200" y="4905375"/>
            <a:ext cx="1171575" cy="4762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B</a:t>
            </a:r>
          </a:p>
        </p:txBody>
      </p:sp>
      <p:sp>
        <p:nvSpPr>
          <p:cNvPr id="36" name="bcast-c">
            <a:extLst xmlns:a="http://schemas.openxmlformats.org/drawingml/2006/main">
              <a:ext uri="{FF2B5EF4-FFF2-40B4-BE49-F238E27FC236}">
                <a16:creationId xmlns:a16="http://schemas.microsoft.com/office/drawing/2014/main" id="{E2FCDF16-A7BE-4908-89EB-D1AAAD6BF9FD}"/>
              </a:ext>
            </a:extLst>
          </p:cNvPr>
          <p:cNvSpPr>
            <a:spLocks xmlns:a="http://schemas.openxmlformats.org/drawingml/2006/main" noGrp="1"/>
          </p:cNvSpPr>
          <p:nvPr/>
        </p:nvSpPr>
        <p:spPr>
          <a:xfrm xmlns:a="http://schemas.openxmlformats.org/drawingml/2006/main">
            <a:off x="5410200" y="5562600"/>
            <a:ext cx="1171575" cy="47625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C</a:t>
            </a:r>
          </a:p>
        </p:txBody>
      </p:sp>
      <p:sp>
        <p:nvSpPr>
          <p:cNvPr id="37" name="bcast-note">
            <a:extLst xmlns:a="http://schemas.openxmlformats.org/drawingml/2006/main">
              <a:ext uri="{FF2B5EF4-FFF2-40B4-BE49-F238E27FC236}">
                <a16:creationId xmlns:a16="http://schemas.microsoft.com/office/drawing/2014/main" id="{82CE394D-636A-413E-9F0B-A4A1034DF870}"/>
              </a:ext>
            </a:extLst>
          </p:cNvPr>
          <p:cNvSpPr>
            <a:spLocks xmlns:a="http://schemas.openxmlformats.org/drawingml/2006/main" noGrp="1"/>
          </p:cNvSpPr>
          <p:nvPr/>
        </p:nvSpPr>
        <p:spPr>
          <a:xfrm xmlns:a="http://schemas.openxmlformats.org/drawingml/2006/main">
            <a:off x="742950" y="6038850"/>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350">
                <a:solidFill>
                  <a:srgbClr val="BCBBC2"/>
                </a:solidFill>
                <a:latin typeface="Switzer"/>
                <a:ea typeface="Switzer"/>
                <a:cs typeface="Switzer"/>
              </a:defRPr>
            </a:pPr>
            <a:r>
              <a:rPr sz="1350">
                <a:solidFill>
                  <a:srgbClr val="BCBBC2"/>
                </a:solidFill>
                <a:latin typeface="Switzer"/>
                <a:ea typeface="Switzer"/>
                <a:cs typeface="Switzer"/>
              </a:rPr>
              <a:t>Separate recipient records</a:t>
            </a:r>
          </a:p>
        </p:txBody>
      </p:sp>
      <p:sp>
        <p:nvSpPr>
          <p:cNvPr id="38" name="status">
            <a:extLst xmlns:a="http://schemas.openxmlformats.org/drawingml/2006/main">
              <a:ext uri="{FF2B5EF4-FFF2-40B4-BE49-F238E27FC236}">
                <a16:creationId xmlns:a16="http://schemas.microsoft.com/office/drawing/2014/main" id="{D5DA4D46-30BC-4898-A565-43101C2E18A9}"/>
              </a:ext>
            </a:extLst>
          </p:cNvPr>
          <p:cNvSpPr>
            <a:spLocks xmlns:a="http://schemas.openxmlformats.org/drawingml/2006/main" noGrp="1"/>
          </p:cNvSpPr>
          <p:nvPr/>
        </p:nvSpPr>
        <p:spPr>
          <a:xfrm xmlns:a="http://schemas.openxmlformats.org/drawingml/2006/main">
            <a:off x="8096250" y="2647950"/>
            <a:ext cx="3257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325">
                <a:solidFill>
                  <a:srgbClr val="6AE8CD"/>
                </a:solidFill>
                <a:latin typeface="Consolas"/>
                <a:ea typeface="Consolas"/>
                <a:cs typeface="Consolas"/>
              </a:defRPr>
            </a:pPr>
            <a:r>
              <a:rPr sz="2325">
                <a:solidFill>
                  <a:srgbClr val="6AE8CD"/>
                </a:solidFill>
                <a:latin typeface="Consolas"/>
                <a:ea typeface="Consolas"/>
                <a:cs typeface="Consolas"/>
              </a:rPr>
              <a:t>STATUS</a:t>
            </a:r>
          </a:p>
        </p:txBody>
      </p:sp>
      <p:sp>
        <p:nvSpPr>
          <p:cNvPr id="39" name="status-effect">
            <a:extLst xmlns:a="http://schemas.openxmlformats.org/drawingml/2006/main">
              <a:ext uri="{FF2B5EF4-FFF2-40B4-BE49-F238E27FC236}">
                <a16:creationId xmlns:a16="http://schemas.microsoft.com/office/drawing/2014/main" id="{9CF96E3E-672F-4975-8D79-ECC514FF2AB8}"/>
              </a:ext>
            </a:extLst>
          </p:cNvPr>
          <p:cNvSpPr>
            <a:spLocks xmlns:a="http://schemas.openxmlformats.org/drawingml/2006/main" noGrp="1"/>
          </p:cNvSpPr>
          <p:nvPr/>
        </p:nvSpPr>
        <p:spPr>
          <a:xfrm xmlns:a="http://schemas.openxmlformats.org/drawingml/2006/main">
            <a:off x="8096250" y="3238500"/>
            <a:ext cx="32670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F9F8FD"/>
                </a:solidFill>
                <a:latin typeface="Switzer"/>
                <a:ea typeface="Switzer"/>
                <a:cs typeface="Switzer"/>
              </a:defRPr>
            </a:pPr>
            <a:r>
              <a:rPr sz="1800">
                <a:solidFill>
                  <a:srgbClr val="F9F8FD"/>
                </a:solidFill>
                <a:latin typeface="Switzer"/>
                <a:ea typeface="Switzer"/>
                <a:cs typeface="Switzer"/>
              </a:rPr>
              <a:t>Progress + local ACK</a:t>
            </a:r>
          </a:p>
        </p:txBody>
      </p:sp>
      <p:sp>
        <p:nvSpPr>
          <p:cNvPr id="40" name="query">
            <a:extLst xmlns:a="http://schemas.openxmlformats.org/drawingml/2006/main">
              <a:ext uri="{FF2B5EF4-FFF2-40B4-BE49-F238E27FC236}">
                <a16:creationId xmlns:a16="http://schemas.microsoft.com/office/drawing/2014/main" id="{18455510-5658-4AFB-A774-9976DE504BE7}"/>
              </a:ext>
            </a:extLst>
          </p:cNvPr>
          <p:cNvSpPr>
            <a:spLocks xmlns:a="http://schemas.openxmlformats.org/drawingml/2006/main" noGrp="1"/>
          </p:cNvSpPr>
          <p:nvPr/>
        </p:nvSpPr>
        <p:spPr>
          <a:xfrm xmlns:a="http://schemas.openxmlformats.org/drawingml/2006/main">
            <a:off x="8096250" y="4038600"/>
            <a:ext cx="3257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325">
                <a:solidFill>
                  <a:srgbClr val="6AE8CD"/>
                </a:solidFill>
                <a:latin typeface="Consolas"/>
                <a:ea typeface="Consolas"/>
                <a:cs typeface="Consolas"/>
              </a:defRPr>
            </a:pPr>
            <a:r>
              <a:rPr sz="2325">
                <a:solidFill>
                  <a:srgbClr val="6AE8CD"/>
                </a:solidFill>
                <a:latin typeface="Consolas"/>
                <a:ea typeface="Consolas"/>
                <a:cs typeface="Consolas"/>
              </a:rPr>
              <a:t>QUERY</a:t>
            </a:r>
          </a:p>
        </p:txBody>
      </p:sp>
      <p:sp>
        <p:nvSpPr>
          <p:cNvPr id="41" name="query-effect">
            <a:extLst xmlns:a="http://schemas.openxmlformats.org/drawingml/2006/main">
              <a:ext uri="{FF2B5EF4-FFF2-40B4-BE49-F238E27FC236}">
                <a16:creationId xmlns:a16="http://schemas.microsoft.com/office/drawing/2014/main" id="{D03E125F-8FED-441D-AD6D-61FAD6483F15}"/>
              </a:ext>
            </a:extLst>
          </p:cNvPr>
          <p:cNvSpPr>
            <a:spLocks xmlns:a="http://schemas.openxmlformats.org/drawingml/2006/main" noGrp="1"/>
          </p:cNvSpPr>
          <p:nvPr/>
        </p:nvSpPr>
        <p:spPr>
          <a:xfrm xmlns:a="http://schemas.openxmlformats.org/drawingml/2006/main">
            <a:off x="8096250" y="4629150"/>
            <a:ext cx="32670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F9F8FD"/>
                </a:solidFill>
                <a:latin typeface="Switzer"/>
                <a:ea typeface="Switzer"/>
                <a:cs typeface="Switzer"/>
              </a:defRPr>
            </a:pPr>
            <a:r>
              <a:rPr sz="1800">
                <a:solidFill>
                  <a:srgbClr val="F9F8FD"/>
                </a:solidFill>
                <a:latin typeface="Switzer"/>
                <a:ea typeface="Switzer"/>
                <a:cs typeface="Switzer"/>
              </a:rPr>
              <a:t>Information response</a:t>
            </a:r>
          </a:p>
        </p:txBody>
      </p:sp>
      <p:sp>
        <p:nvSpPr>
          <p:cNvPr id="42" name="local-caveat">
            <a:extLst xmlns:a="http://schemas.openxmlformats.org/drawingml/2006/main">
              <a:ext uri="{FF2B5EF4-FFF2-40B4-BE49-F238E27FC236}">
                <a16:creationId xmlns:a16="http://schemas.microsoft.com/office/drawing/2014/main" id="{74272FBC-E86D-498B-B284-BC6562A151B0}"/>
              </a:ext>
            </a:extLst>
          </p:cNvPr>
          <p:cNvSpPr>
            <a:spLocks xmlns:a="http://schemas.openxmlformats.org/drawingml/2006/main" noGrp="1"/>
          </p:cNvSpPr>
          <p:nvPr/>
        </p:nvSpPr>
        <p:spPr>
          <a:xfrm xmlns:a="http://schemas.openxmlformats.org/drawingml/2006/main">
            <a:off x="8096250" y="5657850"/>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BCBBC2"/>
                </a:solidFill>
                <a:latin typeface="Switzer"/>
                <a:ea typeface="Switzer"/>
                <a:cs typeface="Switzer"/>
              </a:defRPr>
            </a:pPr>
            <a:r>
              <a:rPr sz="1650">
                <a:solidFill>
                  <a:srgbClr val="BCBBC2"/>
                </a:solidFill>
                <a:latin typeface="Switzer"/>
                <a:ea typeface="Switzer"/>
                <a:cs typeface="Switzer"/>
              </a:rPr>
              <a:t>Not stored in F12 Activity</a:t>
            </a:r>
          </a:p>
        </p:txBody>
      </p:sp>
    </p:spTree>
    <p:extLst>
      <p:ext uri="{BB962C8B-B14F-4D97-AF65-F5344CB8AC3E}">
        <p14:creationId xmlns:p14="http://schemas.microsoft.com/office/powerpoint/2010/main" val="503360568"/>
      </p:ext>
    </p:extLst>
  </p:cSld>
</p:sld>
</file>

<file path=ppt/slides/slide8.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EB8AD4E-AD27-4024-A9EE-917726B61BD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ROUTING SEQUENCE</a:t>
            </a:r>
          </a:p>
        </p:txBody>
      </p:sp>
      <p:sp>
        <p:nvSpPr>
          <p:cNvPr id="3" name="TextBox 2">
            <a:extLst xmlns:a="http://schemas.openxmlformats.org/drawingml/2006/main">
              <a:ext uri="{FF2B5EF4-FFF2-40B4-BE49-F238E27FC236}">
                <a16:creationId xmlns:a16="http://schemas.microsoft.com/office/drawing/2014/main" id="{DDF33651-B9E8-4515-B26B-EF9D9863635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Delivery opens a route—not a result.</a:t>
            </a:r>
          </a:p>
        </p:txBody>
      </p:sp>
      <p:sp>
        <p:nvSpPr>
          <p:cNvPr id="18" name="TextBox 17">
            <a:extLst xmlns:a="http://schemas.openxmlformats.org/drawingml/2006/main">
              <a:ext uri="{FF2B5EF4-FFF2-40B4-BE49-F238E27FC236}">
                <a16:creationId xmlns:a16="http://schemas.microsoft.com/office/drawing/2014/main" id="{477D95A0-5390-49EC-8A72-2F18560257CF}"/>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8/18</a:t>
            </a:r>
          </a:p>
        </p:txBody>
      </p:sp>
      <p:sp>
        <p:nvSpPr>
          <p:cNvPr id="19" name="Callstack accent rule">
            <a:extLst xmlns:a="http://schemas.openxmlformats.org/drawingml/2006/main">
              <a:ext uri="{FF2B5EF4-FFF2-40B4-BE49-F238E27FC236}">
                <a16:creationId xmlns:a16="http://schemas.microsoft.com/office/drawing/2014/main" id="{982DCEE5-8D57-444F-AB5E-218829D4B56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20" name="lifeline-0">
            <a:extLst xmlns:a="http://schemas.openxmlformats.org/drawingml/2006/main">
              <a:ext uri="{FF2B5EF4-FFF2-40B4-BE49-F238E27FC236}">
                <a16:creationId xmlns:a16="http://schemas.microsoft.com/office/drawing/2014/main" id="{CEC3E5A9-4680-4370-B785-1D4004A8FC49}"/>
              </a:ext>
            </a:extLst>
          </p:cNvPr>
          <p:cNvSpPr>
            <a:spLocks xmlns:a="http://schemas.openxmlformats.org/drawingml/2006/main" noGrp="1"/>
          </p:cNvSpPr>
          <p:nvPr/>
        </p:nvSpPr>
        <p:spPr>
          <a:xfrm xmlns:a="http://schemas.openxmlformats.org/drawingml/2006/main">
            <a:off x="1600200" y="2438400"/>
            <a:ext cx="0" cy="3152775"/>
          </a:xfrm>
          <a:prstGeom xmlns:a="http://schemas.openxmlformats.org/drawingml/2006/main" prst="line">
            <a:avLst/>
          </a:prstGeom>
          <a:noFill xmlns:a="http://schemas.openxmlformats.org/drawingml/2006/main"/>
          <a:ln xmlns:a="http://schemas.openxmlformats.org/drawingml/2006/main" w="16193">
            <a:solidFill>
              <a:srgbClr val="838289"/>
            </a:solidFill>
            <a:prstDash val="dash"/>
          </a:ln>
        </p:spPr>
      </p:sp>
      <p:sp>
        <p:nvSpPr>
          <p:cNvPr id="21" name="lifeline-1">
            <a:extLst xmlns:a="http://schemas.openxmlformats.org/drawingml/2006/main">
              <a:ext uri="{FF2B5EF4-FFF2-40B4-BE49-F238E27FC236}">
                <a16:creationId xmlns:a16="http://schemas.microsoft.com/office/drawing/2014/main" id="{D40182D8-953B-4E02-BFE0-B35AB4847E91}"/>
              </a:ext>
            </a:extLst>
          </p:cNvPr>
          <p:cNvSpPr>
            <a:spLocks xmlns:a="http://schemas.openxmlformats.org/drawingml/2006/main" noGrp="1"/>
          </p:cNvSpPr>
          <p:nvPr/>
        </p:nvSpPr>
        <p:spPr>
          <a:xfrm xmlns:a="http://schemas.openxmlformats.org/drawingml/2006/main">
            <a:off x="5943600" y="2438400"/>
            <a:ext cx="0" cy="3152775"/>
          </a:xfrm>
          <a:prstGeom xmlns:a="http://schemas.openxmlformats.org/drawingml/2006/main" prst="line">
            <a:avLst/>
          </a:prstGeom>
          <a:noFill xmlns:a="http://schemas.openxmlformats.org/drawingml/2006/main"/>
          <a:ln xmlns:a="http://schemas.openxmlformats.org/drawingml/2006/main" w="16193">
            <a:solidFill>
              <a:srgbClr val="838289"/>
            </a:solidFill>
            <a:prstDash val="dash"/>
          </a:ln>
        </p:spPr>
      </p:sp>
      <p:sp>
        <p:nvSpPr>
          <p:cNvPr id="22" name="lifeline-2">
            <a:extLst xmlns:a="http://schemas.openxmlformats.org/drawingml/2006/main">
              <a:ext uri="{FF2B5EF4-FFF2-40B4-BE49-F238E27FC236}">
                <a16:creationId xmlns:a16="http://schemas.microsoft.com/office/drawing/2014/main" id="{91D2FF67-1245-47D8-B23A-D9F86ED73B2B}"/>
              </a:ext>
            </a:extLst>
          </p:cNvPr>
          <p:cNvSpPr>
            <a:spLocks xmlns:a="http://schemas.openxmlformats.org/drawingml/2006/main" noGrp="1"/>
          </p:cNvSpPr>
          <p:nvPr/>
        </p:nvSpPr>
        <p:spPr>
          <a:xfrm xmlns:a="http://schemas.openxmlformats.org/drawingml/2006/main">
            <a:off x="10553700" y="2438400"/>
            <a:ext cx="0" cy="3152775"/>
          </a:xfrm>
          <a:prstGeom xmlns:a="http://schemas.openxmlformats.org/drawingml/2006/main" prst="line">
            <a:avLst/>
          </a:prstGeom>
          <a:noFill xmlns:a="http://schemas.openxmlformats.org/drawingml/2006/main"/>
          <a:ln xmlns:a="http://schemas.openxmlformats.org/drawingml/2006/main" w="16193">
            <a:solidFill>
              <a:srgbClr val="838289"/>
            </a:solidFill>
            <a:prstDash val="dash"/>
          </a:ln>
        </p:spPr>
      </p:sp>
      <p:sp>
        <p:nvSpPr>
          <p:cNvPr id="23" name="seq-send">
            <a:extLst xmlns:a="http://schemas.openxmlformats.org/drawingml/2006/main">
              <a:ext uri="{FF2B5EF4-FFF2-40B4-BE49-F238E27FC236}">
                <a16:creationId xmlns:a16="http://schemas.microsoft.com/office/drawing/2014/main" id="{17103BD3-718C-45EC-B2A6-DDFBDDE8671B}"/>
              </a:ext>
            </a:extLst>
          </p:cNvPr>
          <p:cNvSpPr>
            <a:spLocks xmlns:a="http://schemas.openxmlformats.org/drawingml/2006/main" noGrp="1"/>
          </p:cNvSpPr>
          <p:nvPr/>
        </p:nvSpPr>
        <p:spPr>
          <a:xfrm xmlns:a="http://schemas.openxmlformats.org/drawingml/2006/main">
            <a:off x="1600200" y="2952750"/>
            <a:ext cx="434340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4" name="seq-inject">
            <a:extLst xmlns:a="http://schemas.openxmlformats.org/drawingml/2006/main">
              <a:ext uri="{FF2B5EF4-FFF2-40B4-BE49-F238E27FC236}">
                <a16:creationId xmlns:a16="http://schemas.microsoft.com/office/drawing/2014/main" id="{7D62C5DB-A902-42D9-9BAE-FF5AB5E1C92F}"/>
              </a:ext>
            </a:extLst>
          </p:cNvPr>
          <p:cNvSpPr>
            <a:spLocks xmlns:a="http://schemas.openxmlformats.org/drawingml/2006/main" noGrp="1"/>
          </p:cNvSpPr>
          <p:nvPr/>
        </p:nvSpPr>
        <p:spPr>
          <a:xfrm xmlns:a="http://schemas.openxmlformats.org/drawingml/2006/main">
            <a:off x="5943600" y="3571875"/>
            <a:ext cx="46101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25" name="seq-ack">
            <a:extLst xmlns:a="http://schemas.openxmlformats.org/drawingml/2006/main">
              <a:ext uri="{FF2B5EF4-FFF2-40B4-BE49-F238E27FC236}">
                <a16:creationId xmlns:a16="http://schemas.microsoft.com/office/drawing/2014/main" id="{F762D6CF-5A94-4BFF-BCBF-BD31E3B02A79}"/>
              </a:ext>
            </a:extLst>
          </p:cNvPr>
          <p:cNvSpPr>
            <a:spLocks xmlns:a="http://schemas.openxmlformats.org/drawingml/2006/main" noGrp="1"/>
          </p:cNvSpPr>
          <p:nvPr/>
        </p:nvSpPr>
        <p:spPr>
          <a:xfrm xmlns:a="http://schemas.openxmlformats.org/drawingml/2006/main">
            <a:off x="1600200" y="4191000"/>
            <a:ext cx="4343400" cy="114300"/>
          </a:xfrm>
          <a:prstGeom xmlns:a="http://schemas.openxmlformats.org/drawingml/2006/main" prst="leftArrow">
            <a:avLst/>
          </a:prstGeom>
          <a:solidFill xmlns:a="http://schemas.openxmlformats.org/drawingml/2006/main">
            <a:srgbClr val="A6E34A"/>
          </a:solidFill>
          <a:ln xmlns:a="http://schemas.openxmlformats.org/drawingml/2006/main" w="0">
            <a:noFill/>
            <a:prstDash val="solid"/>
          </a:ln>
        </p:spPr>
      </p:sp>
      <p:sp>
        <p:nvSpPr>
          <p:cNvPr id="26" name="seq-reply">
            <a:extLst xmlns:a="http://schemas.openxmlformats.org/drawingml/2006/main">
              <a:ext uri="{FF2B5EF4-FFF2-40B4-BE49-F238E27FC236}">
                <a16:creationId xmlns:a16="http://schemas.microsoft.com/office/drawing/2014/main" id="{BF67ED6E-63BF-471F-89AD-C81CDFAB5D49}"/>
              </a:ext>
            </a:extLst>
          </p:cNvPr>
          <p:cNvSpPr>
            <a:spLocks xmlns:a="http://schemas.openxmlformats.org/drawingml/2006/main" noGrp="1"/>
          </p:cNvSpPr>
          <p:nvPr/>
        </p:nvSpPr>
        <p:spPr>
          <a:xfrm xmlns:a="http://schemas.openxmlformats.org/drawingml/2006/main">
            <a:off x="5943600" y="4810125"/>
            <a:ext cx="4610100" cy="114300"/>
          </a:xfrm>
          <a:prstGeom xmlns:a="http://schemas.openxmlformats.org/drawingml/2006/main" prst="leftArrow">
            <a:avLst/>
          </a:prstGeom>
          <a:solidFill xmlns:a="http://schemas.openxmlformats.org/drawingml/2006/main">
            <a:srgbClr val="CBAAFF"/>
          </a:solidFill>
          <a:ln xmlns:a="http://schemas.openxmlformats.org/drawingml/2006/main" w="0">
            <a:noFill/>
            <a:prstDash val="solid"/>
          </a:ln>
        </p:spPr>
      </p:sp>
      <p:sp>
        <p:nvSpPr>
          <p:cNvPr id="27" name="seq-return">
            <a:extLst xmlns:a="http://schemas.openxmlformats.org/drawingml/2006/main">
              <a:ext uri="{FF2B5EF4-FFF2-40B4-BE49-F238E27FC236}">
                <a16:creationId xmlns:a16="http://schemas.microsoft.com/office/drawing/2014/main" id="{320EF2B1-AB41-4247-81B6-CB387015B5C7}"/>
              </a:ext>
            </a:extLst>
          </p:cNvPr>
          <p:cNvSpPr>
            <a:spLocks xmlns:a="http://schemas.openxmlformats.org/drawingml/2006/main" noGrp="1"/>
          </p:cNvSpPr>
          <p:nvPr/>
        </p:nvSpPr>
        <p:spPr>
          <a:xfrm xmlns:a="http://schemas.openxmlformats.org/drawingml/2006/main">
            <a:off x="1600200" y="5429250"/>
            <a:ext cx="4343400" cy="114300"/>
          </a:xfrm>
          <a:prstGeom xmlns:a="http://schemas.openxmlformats.org/drawingml/2006/main" prst="leftArrow">
            <a:avLst/>
          </a:prstGeom>
          <a:solidFill xmlns:a="http://schemas.openxmlformats.org/drawingml/2006/main">
            <a:srgbClr val="6AE8CD"/>
          </a:solidFill>
          <a:ln xmlns:a="http://schemas.openxmlformats.org/drawingml/2006/main" w="0">
            <a:noFill/>
            <a:prstDash val="solid"/>
          </a:ln>
        </p:spPr>
      </p:sp>
      <p:sp>
        <p:nvSpPr>
          <p:cNvPr id="28" name="seq-a">
            <a:extLst xmlns:a="http://schemas.openxmlformats.org/drawingml/2006/main">
              <a:ext uri="{FF2B5EF4-FFF2-40B4-BE49-F238E27FC236}">
                <a16:creationId xmlns:a16="http://schemas.microsoft.com/office/drawing/2014/main" id="{E372B906-2283-4A0C-A298-5A7EFF92F983}"/>
              </a:ext>
            </a:extLst>
          </p:cNvPr>
          <p:cNvSpPr>
            <a:spLocks xmlns:a="http://schemas.openxmlformats.org/drawingml/2006/main" noGrp="1"/>
          </p:cNvSpPr>
          <p:nvPr/>
        </p:nvSpPr>
        <p:spPr>
          <a:xfrm xmlns:a="http://schemas.openxmlformats.org/drawingml/2006/main">
            <a:off x="742950" y="1905000"/>
            <a:ext cx="1724025" cy="5334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Agent A</a:t>
            </a:r>
          </a:p>
        </p:txBody>
      </p:sp>
      <p:sp>
        <p:nvSpPr>
          <p:cNvPr id="29" name="seq-router">
            <a:extLst xmlns:a="http://schemas.openxmlformats.org/drawingml/2006/main">
              <a:ext uri="{FF2B5EF4-FFF2-40B4-BE49-F238E27FC236}">
                <a16:creationId xmlns:a16="http://schemas.microsoft.com/office/drawing/2014/main" id="{326D9CDB-0512-4F55-82D2-D75B8257724C}"/>
              </a:ext>
            </a:extLst>
          </p:cNvPr>
          <p:cNvSpPr>
            <a:spLocks xmlns:a="http://schemas.openxmlformats.org/drawingml/2006/main" noGrp="1"/>
          </p:cNvSpPr>
          <p:nvPr/>
        </p:nvSpPr>
        <p:spPr>
          <a:xfrm xmlns:a="http://schemas.openxmlformats.org/drawingml/2006/main">
            <a:off x="4857750" y="1905000"/>
            <a:ext cx="2190750" cy="5334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Commander</a:t>
            </a:r>
          </a:p>
        </p:txBody>
      </p:sp>
      <p:sp>
        <p:nvSpPr>
          <p:cNvPr id="30" name="seq-b">
            <a:extLst xmlns:a="http://schemas.openxmlformats.org/drawingml/2006/main">
              <a:ext uri="{FF2B5EF4-FFF2-40B4-BE49-F238E27FC236}">
                <a16:creationId xmlns:a16="http://schemas.microsoft.com/office/drawing/2014/main" id="{C48C7802-49F3-4B7D-884C-8F8404F63B4D}"/>
              </a:ext>
            </a:extLst>
          </p:cNvPr>
          <p:cNvSpPr>
            <a:spLocks xmlns:a="http://schemas.openxmlformats.org/drawingml/2006/main" noGrp="1"/>
          </p:cNvSpPr>
          <p:nvPr/>
        </p:nvSpPr>
        <p:spPr>
          <a:xfrm xmlns:a="http://schemas.openxmlformats.org/drawingml/2006/main">
            <a:off x="9696450" y="1905000"/>
            <a:ext cx="1724025" cy="5334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Agent B</a:t>
            </a:r>
          </a:p>
        </p:txBody>
      </p:sp>
      <p:sp>
        <p:nvSpPr>
          <p:cNvPr id="31" name="send-label">
            <a:extLst xmlns:a="http://schemas.openxmlformats.org/drawingml/2006/main">
              <a:ext uri="{FF2B5EF4-FFF2-40B4-BE49-F238E27FC236}">
                <a16:creationId xmlns:a16="http://schemas.microsoft.com/office/drawing/2014/main" id="{0EEFC6B6-F3BE-4BDF-AA09-7FFD2622F60C}"/>
              </a:ext>
            </a:extLst>
          </p:cNvPr>
          <p:cNvSpPr>
            <a:spLocks xmlns:a="http://schemas.openxmlformats.org/drawingml/2006/main" noGrp="1"/>
          </p:cNvSpPr>
          <p:nvPr/>
        </p:nvSpPr>
        <p:spPr>
          <a:xfrm xmlns:a="http://schemas.openxmlformats.org/drawingml/2006/main">
            <a:off x="1914525" y="2590800"/>
            <a:ext cx="3771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CBAAFF"/>
                </a:solidFill>
                <a:latin typeface="Consolas"/>
                <a:ea typeface="Consolas"/>
                <a:cs typeface="Consolas"/>
              </a:defRPr>
            </a:pPr>
            <a:r>
              <a:rPr sz="1725">
                <a:solidFill>
                  <a:srgbClr val="CBAAFF"/>
                </a:solidFill>
                <a:latin typeface="Consolas"/>
                <a:ea typeface="Consolas"/>
                <a:cs typeface="Consolas"/>
              </a:rPr>
              <a:t>1  SEND · A’s key</a:t>
            </a:r>
          </a:p>
        </p:txBody>
      </p:sp>
      <p:sp>
        <p:nvSpPr>
          <p:cNvPr id="32" name="inject-label">
            <a:extLst xmlns:a="http://schemas.openxmlformats.org/drawingml/2006/main">
              <a:ext uri="{FF2B5EF4-FFF2-40B4-BE49-F238E27FC236}">
                <a16:creationId xmlns:a16="http://schemas.microsoft.com/office/drawing/2014/main" id="{809DE03E-4B6E-448F-AA0A-B426042ED6F2}"/>
              </a:ext>
            </a:extLst>
          </p:cNvPr>
          <p:cNvSpPr>
            <a:spLocks xmlns:a="http://schemas.openxmlformats.org/drawingml/2006/main" noGrp="1"/>
          </p:cNvSpPr>
          <p:nvPr/>
        </p:nvSpPr>
        <p:spPr>
          <a:xfrm xmlns:a="http://schemas.openxmlformats.org/drawingml/2006/main">
            <a:off x="6200775" y="3209925"/>
            <a:ext cx="50768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6AE8CD"/>
                </a:solidFill>
                <a:latin typeface="Consolas"/>
                <a:ea typeface="Consolas"/>
                <a:cs typeface="Consolas"/>
              </a:defRPr>
            </a:pPr>
            <a:r>
              <a:rPr sz="1575">
                <a:solidFill>
                  <a:srgbClr val="6AE8CD"/>
                </a:solidFill>
                <a:latin typeface="Consolas"/>
                <a:ea typeface="Consolas"/>
                <a:cs typeface="Consolas"/>
              </a:rPr>
              <a:t>2  submit text + msg/thread IDs</a:t>
            </a:r>
          </a:p>
        </p:txBody>
      </p:sp>
      <p:sp>
        <p:nvSpPr>
          <p:cNvPr id="33" name="ack-label">
            <a:extLst xmlns:a="http://schemas.openxmlformats.org/drawingml/2006/main">
              <a:ext uri="{FF2B5EF4-FFF2-40B4-BE49-F238E27FC236}">
                <a16:creationId xmlns:a16="http://schemas.microsoft.com/office/drawing/2014/main" id="{CF7D284C-4EC5-4E9B-8FD6-CA7ED79C0641}"/>
              </a:ext>
            </a:extLst>
          </p:cNvPr>
          <p:cNvSpPr>
            <a:spLocks xmlns:a="http://schemas.openxmlformats.org/drawingml/2006/main" noGrp="1"/>
          </p:cNvSpPr>
          <p:nvPr/>
        </p:nvSpPr>
        <p:spPr>
          <a:xfrm xmlns:a="http://schemas.openxmlformats.org/drawingml/2006/main">
            <a:off x="1905000" y="3829050"/>
            <a:ext cx="38004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A6E34A"/>
                </a:solidFill>
                <a:latin typeface="Consolas"/>
                <a:ea typeface="Consolas"/>
                <a:cs typeface="Consolas"/>
              </a:defRPr>
            </a:pPr>
            <a:r>
              <a:rPr sz="1725">
                <a:solidFill>
                  <a:srgbClr val="A6E34A"/>
                </a:solidFill>
                <a:latin typeface="Consolas"/>
                <a:ea typeface="Consolas"/>
                <a:cs typeface="Consolas"/>
              </a:rPr>
              <a:t>3  ACK: delivered</a:t>
            </a:r>
          </a:p>
        </p:txBody>
      </p:sp>
      <p:sp>
        <p:nvSpPr>
          <p:cNvPr id="34" name="route-open">
            <a:extLst xmlns:a="http://schemas.openxmlformats.org/drawingml/2006/main">
              <a:ext uri="{FF2B5EF4-FFF2-40B4-BE49-F238E27FC236}">
                <a16:creationId xmlns:a16="http://schemas.microsoft.com/office/drawing/2014/main" id="{7B08643F-2DB3-47D5-B94C-0F8B5B871E73}"/>
              </a:ext>
            </a:extLst>
          </p:cNvPr>
          <p:cNvSpPr>
            <a:spLocks xmlns:a="http://schemas.openxmlformats.org/drawingml/2006/main" noGrp="1"/>
          </p:cNvSpPr>
          <p:nvPr/>
        </p:nvSpPr>
        <p:spPr>
          <a:xfrm xmlns:a="http://schemas.openxmlformats.org/drawingml/2006/main">
            <a:off x="6457950" y="3743325"/>
            <a:ext cx="4819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BCBBC2"/>
                </a:solidFill>
                <a:latin typeface="Switzer"/>
                <a:ea typeface="Switzer"/>
                <a:cs typeface="Switzer"/>
              </a:defRPr>
            </a:pPr>
            <a:r>
              <a:rPr sz="1575">
                <a:solidFill>
                  <a:srgbClr val="BCBBC2"/>
                </a:solidFill>
                <a:latin typeface="Switzer"/>
                <a:ea typeface="Switzer"/>
                <a:cs typeface="Switzer"/>
              </a:rPr>
              <a:t>Open B’s reply route → then ACK</a:t>
            </a:r>
          </a:p>
        </p:txBody>
      </p:sp>
      <p:sp>
        <p:nvSpPr>
          <p:cNvPr id="35" name="reply-label">
            <a:extLst xmlns:a="http://schemas.openxmlformats.org/drawingml/2006/main">
              <a:ext uri="{FF2B5EF4-FFF2-40B4-BE49-F238E27FC236}">
                <a16:creationId xmlns:a16="http://schemas.microsoft.com/office/drawing/2014/main" id="{ED17AC2B-C509-4461-93CB-1432835A0A3F}"/>
              </a:ext>
            </a:extLst>
          </p:cNvPr>
          <p:cNvSpPr>
            <a:spLocks xmlns:a="http://schemas.openxmlformats.org/drawingml/2006/main" noGrp="1"/>
          </p:cNvSpPr>
          <p:nvPr/>
        </p:nvSpPr>
        <p:spPr>
          <a:xfrm xmlns:a="http://schemas.openxmlformats.org/drawingml/2006/main">
            <a:off x="6296025" y="4448175"/>
            <a:ext cx="49434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CBAAFF"/>
                </a:solidFill>
                <a:latin typeface="Consolas"/>
                <a:ea typeface="Consolas"/>
                <a:cs typeface="Consolas"/>
              </a:defRPr>
            </a:pPr>
            <a:r>
              <a:rPr sz="1725">
                <a:solidFill>
                  <a:srgbClr val="CBAAFF"/>
                </a:solidFill>
                <a:latin typeface="Consolas"/>
                <a:ea typeface="Consolas"/>
                <a:cs typeface="Consolas"/>
              </a:rPr>
              <a:t>4  REPLY · B’s key</a:t>
            </a:r>
          </a:p>
        </p:txBody>
      </p:sp>
      <p:sp>
        <p:nvSpPr>
          <p:cNvPr id="36" name="return-label">
            <a:extLst xmlns:a="http://schemas.openxmlformats.org/drawingml/2006/main">
              <a:ext uri="{FF2B5EF4-FFF2-40B4-BE49-F238E27FC236}">
                <a16:creationId xmlns:a16="http://schemas.microsoft.com/office/drawing/2014/main" id="{2339E1EC-2D51-44CD-843F-64EADC92942C}"/>
              </a:ext>
            </a:extLst>
          </p:cNvPr>
          <p:cNvSpPr>
            <a:spLocks xmlns:a="http://schemas.openxmlformats.org/drawingml/2006/main" noGrp="1"/>
          </p:cNvSpPr>
          <p:nvPr/>
        </p:nvSpPr>
        <p:spPr>
          <a:xfrm xmlns:a="http://schemas.openxmlformats.org/drawingml/2006/main">
            <a:off x="1905000" y="5067300"/>
            <a:ext cx="49434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6AE8CD"/>
                </a:solidFill>
                <a:latin typeface="Consolas"/>
                <a:ea typeface="Consolas"/>
                <a:cs typeface="Consolas"/>
              </a:defRPr>
            </a:pPr>
            <a:r>
              <a:rPr sz="1575">
                <a:solidFill>
                  <a:srgbClr val="6AE8CD"/>
                </a:solidFill>
                <a:latin typeface="Consolas"/>
                <a:ea typeface="Consolas"/>
                <a:cs typeface="Consolas"/>
              </a:rPr>
              <a:t>5  same thread · new message</a:t>
            </a:r>
          </a:p>
        </p:txBody>
      </p:sp>
      <p:sp>
        <p:nvSpPr>
          <p:cNvPr id="37" name="ack-truth">
            <a:extLst xmlns:a="http://schemas.openxmlformats.org/drawingml/2006/main">
              <a:ext uri="{FF2B5EF4-FFF2-40B4-BE49-F238E27FC236}">
                <a16:creationId xmlns:a16="http://schemas.microsoft.com/office/drawing/2014/main" id="{D080C4B4-DE72-4967-9310-4424BDD1CD4A}"/>
              </a:ext>
            </a:extLst>
          </p:cNvPr>
          <p:cNvSpPr>
            <a:spLocks xmlns:a="http://schemas.openxmlformats.org/drawingml/2006/main" noGrp="1"/>
          </p:cNvSpPr>
          <p:nvPr/>
        </p:nvSpPr>
        <p:spPr>
          <a:xfrm xmlns:a="http://schemas.openxmlformats.org/drawingml/2006/main">
            <a:off x="752475" y="58578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A6E34A"/>
                </a:solidFill>
                <a:latin typeface="Switzer"/>
                <a:ea typeface="Switzer"/>
                <a:cs typeface="Switzer"/>
              </a:defRPr>
            </a:pPr>
            <a:r>
              <a:rPr sz="2025">
                <a:solidFill>
                  <a:srgbClr val="A6E34A"/>
                </a:solidFill>
                <a:latin typeface="Switzer"/>
                <a:ea typeface="Switzer"/>
                <a:cs typeface="Switzer"/>
              </a:rPr>
              <a:t>ACK = terminal input submitted.  It does not mean “task complete.”</a:t>
            </a:r>
          </a:p>
        </p:txBody>
      </p:sp>
    </p:spTree>
    <p:extLst>
      <p:ext uri="{BB962C8B-B14F-4D97-AF65-F5344CB8AC3E}">
        <p14:creationId xmlns:p14="http://schemas.microsoft.com/office/powerpoint/2010/main" val="1960374928"/>
      </p:ext>
    </p:extLst>
  </p:cSld>
</p:sld>
</file>

<file path=ppt/slides/slide9.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7BA366A-9237-4F8F-8986-15917BD6D207}"/>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SESSION IDENTITY</a:t>
            </a:r>
          </a:p>
        </p:txBody>
      </p:sp>
      <p:sp>
        <p:nvSpPr>
          <p:cNvPr id="3" name="TextBox 2">
            <a:extLst xmlns:a="http://schemas.openxmlformats.org/drawingml/2006/main">
              <a:ext uri="{FF2B5EF4-FFF2-40B4-BE49-F238E27FC236}">
                <a16:creationId xmlns:a16="http://schemas.microsoft.com/office/drawing/2014/main" id="{D8202F8C-732C-4C98-9F82-3027BD53EF0A}"/>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Panel identity outlives a session.</a:t>
            </a:r>
          </a:p>
        </p:txBody>
      </p:sp>
      <p:sp>
        <p:nvSpPr>
          <p:cNvPr id="17" name="TextBox 16">
            <a:extLst xmlns:a="http://schemas.openxmlformats.org/drawingml/2006/main">
              <a:ext uri="{FF2B5EF4-FFF2-40B4-BE49-F238E27FC236}">
                <a16:creationId xmlns:a16="http://schemas.microsoft.com/office/drawing/2014/main" id="{C9D6A176-4572-4BB1-8164-1D95DC5CCB19}"/>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9/18</a:t>
            </a:r>
          </a:p>
        </p:txBody>
      </p:sp>
      <p:sp>
        <p:nvSpPr>
          <p:cNvPr id="18" name="Callstack accent rule">
            <a:extLst xmlns:a="http://schemas.openxmlformats.org/drawingml/2006/main">
              <a:ext uri="{FF2B5EF4-FFF2-40B4-BE49-F238E27FC236}">
                <a16:creationId xmlns:a16="http://schemas.microsoft.com/office/drawing/2014/main" id="{C6B95789-2123-4965-B52B-40FD36F4D7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9" name="identity-heading">
            <a:extLst xmlns:a="http://schemas.openxmlformats.org/drawingml/2006/main">
              <a:ext uri="{FF2B5EF4-FFF2-40B4-BE49-F238E27FC236}">
                <a16:creationId xmlns:a16="http://schemas.microsoft.com/office/drawing/2014/main" id="{AC9F270D-2C85-4E47-991D-475B153DBDAB}"/>
              </a:ext>
            </a:extLst>
          </p:cNvPr>
          <p:cNvSpPr>
            <a:spLocks xmlns:a="http://schemas.openxmlformats.org/drawingml/2006/main" noGrp="1"/>
          </p:cNvSpPr>
          <p:nvPr/>
        </p:nvSpPr>
        <p:spPr>
          <a:xfrm xmlns:a="http://schemas.openxmlformats.org/drawingml/2006/main">
            <a:off x="742950" y="1885950"/>
            <a:ext cx="51530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CBAAFF"/>
                </a:solidFill>
                <a:latin typeface="Consolas"/>
                <a:ea typeface="Consolas"/>
                <a:cs typeface="Consolas"/>
              </a:defRPr>
            </a:pPr>
            <a:r>
              <a:rPr sz="1575">
                <a:solidFill>
                  <a:srgbClr val="CBAAFF"/>
                </a:solidFill>
                <a:latin typeface="Consolas"/>
                <a:ea typeface="Consolas"/>
                <a:cs typeface="Consolas"/>
              </a:rPr>
              <a:t>THE ADDRESS STAYS</a:t>
            </a:r>
          </a:p>
        </p:txBody>
      </p:sp>
      <p:sp>
        <p:nvSpPr>
          <p:cNvPr id="20" name="reply-heading">
            <a:extLst xmlns:a="http://schemas.openxmlformats.org/drawingml/2006/main">
              <a:ext uri="{FF2B5EF4-FFF2-40B4-BE49-F238E27FC236}">
                <a16:creationId xmlns:a16="http://schemas.microsoft.com/office/drawing/2014/main" id="{30647812-2B93-4F20-9ABE-9CF34E087890}"/>
              </a:ext>
            </a:extLst>
          </p:cNvPr>
          <p:cNvSpPr>
            <a:spLocks xmlns:a="http://schemas.openxmlformats.org/drawingml/2006/main" noGrp="1"/>
          </p:cNvSpPr>
          <p:nvPr/>
        </p:nvSpPr>
        <p:spPr>
          <a:xfrm xmlns:a="http://schemas.openxmlformats.org/drawingml/2006/main">
            <a:off x="6943725" y="1885950"/>
            <a:ext cx="44672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6AE8CD"/>
                </a:solidFill>
                <a:latin typeface="Consolas"/>
                <a:ea typeface="Consolas"/>
                <a:cs typeface="Consolas"/>
              </a:defRPr>
            </a:pPr>
            <a:r>
              <a:rPr sz="1500">
                <a:solidFill>
                  <a:srgbClr val="6AE8CD"/>
                </a:solidFill>
                <a:latin typeface="Consolas"/>
                <a:ea typeface="Consolas"/>
                <a:cs typeface="Consolas"/>
              </a:rPr>
              <a:t>REPLY IS A STACK, NOT A SELECTOR</a:t>
            </a:r>
          </a:p>
        </p:txBody>
      </p:sp>
      <p:sp>
        <p:nvSpPr>
          <p:cNvPr id="21" name="identity-divider">
            <a:extLst xmlns:a="http://schemas.openxmlformats.org/drawingml/2006/main">
              <a:ext uri="{FF2B5EF4-FFF2-40B4-BE49-F238E27FC236}">
                <a16:creationId xmlns:a16="http://schemas.microsoft.com/office/drawing/2014/main" id="{69492C68-236A-4F34-ACF0-03169887EA72}"/>
              </a:ext>
            </a:extLst>
          </p:cNvPr>
          <p:cNvSpPr>
            <a:spLocks xmlns:a="http://schemas.openxmlformats.org/drawingml/2006/main" noGrp="1"/>
          </p:cNvSpPr>
          <p:nvPr/>
        </p:nvSpPr>
        <p:spPr>
          <a:xfrm xmlns:a="http://schemas.openxmlformats.org/drawingml/2006/main">
            <a:off x="6419850" y="1962150"/>
            <a:ext cx="0" cy="3943350"/>
          </a:xfrm>
          <a:prstGeom xmlns:a="http://schemas.openxmlformats.org/drawingml/2006/main" prst="line">
            <a:avLst/>
          </a:prstGeom>
          <a:noFill xmlns:a="http://schemas.openxmlformats.org/drawingml/2006/main"/>
          <a:ln xmlns:a="http://schemas.openxmlformats.org/drawingml/2006/main" w="16193">
            <a:solidFill>
              <a:srgbClr val="838289"/>
            </a:solidFill>
            <a:prstDash val="solid"/>
          </a:ln>
        </p:spPr>
      </p:sp>
      <p:sp>
        <p:nvSpPr>
          <p:cNvPr id="22" name="restart-arrow">
            <a:extLst xmlns:a="http://schemas.openxmlformats.org/drawingml/2006/main">
              <a:ext uri="{FF2B5EF4-FFF2-40B4-BE49-F238E27FC236}">
                <a16:creationId xmlns:a16="http://schemas.microsoft.com/office/drawing/2014/main" id="{0D5F64D1-58DD-4FF6-A540-729940EFB354}"/>
              </a:ext>
            </a:extLst>
          </p:cNvPr>
          <p:cNvSpPr>
            <a:spLocks xmlns:a="http://schemas.openxmlformats.org/drawingml/2006/main" noGrp="1"/>
          </p:cNvSpPr>
          <p:nvPr/>
        </p:nvSpPr>
        <p:spPr>
          <a:xfrm xmlns:a="http://schemas.openxmlformats.org/drawingml/2006/main">
            <a:off x="2714625" y="3314700"/>
            <a:ext cx="914400" cy="114300"/>
          </a:xfrm>
          <a:prstGeom xmlns:a="http://schemas.openxmlformats.org/drawingml/2006/main" prst="rightArrow">
            <a:avLst/>
          </a:prstGeom>
          <a:solidFill xmlns:a="http://schemas.openxmlformats.org/drawingml/2006/main">
            <a:srgbClr val="FA7171"/>
          </a:solidFill>
          <a:ln xmlns:a="http://schemas.openxmlformats.org/drawingml/2006/main" w="0">
            <a:noFill/>
            <a:prstDash val="solid"/>
          </a:ln>
        </p:spPr>
      </p:sp>
      <p:sp>
        <p:nvSpPr>
          <p:cNvPr id="23" name="old-session">
            <a:extLst xmlns:a="http://schemas.openxmlformats.org/drawingml/2006/main">
              <a:ext uri="{FF2B5EF4-FFF2-40B4-BE49-F238E27FC236}">
                <a16:creationId xmlns:a16="http://schemas.microsoft.com/office/drawing/2014/main" id="{A934E0AB-F733-4701-8856-880C276558B5}"/>
              </a:ext>
            </a:extLst>
          </p:cNvPr>
          <p:cNvSpPr>
            <a:spLocks xmlns:a="http://schemas.openxmlformats.org/drawingml/2006/main" noGrp="1"/>
          </p:cNvSpPr>
          <p:nvPr/>
        </p:nvSpPr>
        <p:spPr>
          <a:xfrm xmlns:a="http://schemas.openxmlformats.org/drawingml/2006/main">
            <a:off x="742950" y="2667000"/>
            <a:ext cx="1971675" cy="11811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Panel 2</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S1 · key K1</a:t>
            </a:r>
          </a:p>
        </p:txBody>
      </p:sp>
      <p:sp>
        <p:nvSpPr>
          <p:cNvPr id="24" name="new-session">
            <a:extLst xmlns:a="http://schemas.openxmlformats.org/drawingml/2006/main">
              <a:ext uri="{FF2B5EF4-FFF2-40B4-BE49-F238E27FC236}">
                <a16:creationId xmlns:a16="http://schemas.microsoft.com/office/drawing/2014/main" id="{719E7E26-886C-45A3-A64B-4640E6357DB0}"/>
              </a:ext>
            </a:extLst>
          </p:cNvPr>
          <p:cNvSpPr>
            <a:spLocks xmlns:a="http://schemas.openxmlformats.org/drawingml/2006/main" noGrp="1"/>
          </p:cNvSpPr>
          <p:nvPr/>
        </p:nvSpPr>
        <p:spPr>
          <a:xfrm xmlns:a="http://schemas.openxmlformats.org/drawingml/2006/main">
            <a:off x="3638550" y="2667000"/>
            <a:ext cx="2266950" cy="118110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Panel 2</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S2 · unarmed</a:t>
            </a:r>
          </a:p>
        </p:txBody>
      </p:sp>
      <p:sp>
        <p:nvSpPr>
          <p:cNvPr id="25" name="restart-label">
            <a:extLst xmlns:a="http://schemas.openxmlformats.org/drawingml/2006/main">
              <a:ext uri="{FF2B5EF4-FFF2-40B4-BE49-F238E27FC236}">
                <a16:creationId xmlns:a16="http://schemas.microsoft.com/office/drawing/2014/main" id="{AB32129C-2F60-49DD-AD8B-3440F8903B2E}"/>
              </a:ext>
            </a:extLst>
          </p:cNvPr>
          <p:cNvSpPr>
            <a:spLocks xmlns:a="http://schemas.openxmlformats.org/drawingml/2006/main" noGrp="1"/>
          </p:cNvSpPr>
          <p:nvPr/>
        </p:nvSpPr>
        <p:spPr>
          <a:xfrm xmlns:a="http://schemas.openxmlformats.org/drawingml/2006/main">
            <a:off x="2781300" y="2743200"/>
            <a:ext cx="83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FA7171"/>
                </a:solidFill>
                <a:latin typeface="Switzer"/>
                <a:ea typeface="Switzer"/>
                <a:cs typeface="Switzer"/>
              </a:defRPr>
            </a:pPr>
            <a:r>
              <a:rPr sz="1575">
                <a:solidFill>
                  <a:srgbClr val="FA7171"/>
                </a:solidFill>
                <a:latin typeface="Switzer"/>
                <a:ea typeface="Switzer"/>
                <a:cs typeface="Switzer"/>
              </a:rPr>
              <a:t>restart</a:t>
            </a:r>
          </a:p>
        </p:txBody>
      </p:sp>
      <p:sp>
        <p:nvSpPr>
          <p:cNvPr id="26" name="retire-key">
            <a:extLst xmlns:a="http://schemas.openxmlformats.org/drawingml/2006/main">
              <a:ext uri="{FF2B5EF4-FFF2-40B4-BE49-F238E27FC236}">
                <a16:creationId xmlns:a16="http://schemas.microsoft.com/office/drawing/2014/main" id="{8FCCB24C-91C0-4578-804B-B7374B51B000}"/>
              </a:ext>
            </a:extLst>
          </p:cNvPr>
          <p:cNvSpPr>
            <a:spLocks xmlns:a="http://schemas.openxmlformats.org/drawingml/2006/main" noGrp="1"/>
          </p:cNvSpPr>
          <p:nvPr/>
        </p:nvSpPr>
        <p:spPr>
          <a:xfrm xmlns:a="http://schemas.openxmlformats.org/drawingml/2006/main">
            <a:off x="742950" y="4333875"/>
            <a:ext cx="5181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00">
                <a:solidFill>
                  <a:srgbClr val="F9F8FD"/>
                </a:solidFill>
                <a:latin typeface="Switzer"/>
                <a:ea typeface="Switzer"/>
                <a:cs typeface="Switzer"/>
              </a:defRPr>
            </a:pPr>
            <a:r>
              <a:rPr sz="2100">
                <a:solidFill>
                  <a:srgbClr val="F9F8FD"/>
                </a:solidFill>
                <a:latin typeface="Switzer"/>
                <a:ea typeface="Switzer"/>
                <a:cs typeface="Switzer"/>
              </a:rPr>
              <a:t>Ctrl+P → fresh K2 in S2.</a:t>
            </a:r>
          </a:p>
          <a:p xmlns:a="http://schemas.openxmlformats.org/drawingml/2006/main">
            <a:pPr algn="l">
              <a:buNone/>
              <a:defRPr sz="2100">
                <a:solidFill>
                  <a:srgbClr val="F9F8FD"/>
                </a:solidFill>
                <a:latin typeface="Switzer"/>
                <a:ea typeface="Switzer"/>
                <a:cs typeface="Switzer"/>
              </a:defRPr>
            </a:pPr>
            <a:r>
              <a:rPr sz="2100">
                <a:solidFill>
                  <a:srgbClr val="F9F8FD"/>
                </a:solidFill>
                <a:latin typeface="Switzer"/>
                <a:ea typeface="Switzer"/>
                <a:cs typeface="Switzer"/>
              </a:rPr>
              <a:t>K1 cannot authorize S2; queued</a:t>
            </a:r>
          </a:p>
          <a:p xmlns:a="http://schemas.openxmlformats.org/drawingml/2006/main">
            <a:pPr algn="l">
              <a:buNone/>
              <a:defRPr sz="2100">
                <a:solidFill>
                  <a:srgbClr val="F9F8FD"/>
                </a:solidFill>
                <a:latin typeface="Switzer"/>
                <a:ea typeface="Switzer"/>
                <a:cs typeface="Switzer"/>
              </a:defRPr>
            </a:pPr>
            <a:r>
              <a:rPr sz="2100">
                <a:solidFill>
                  <a:srgbClr val="F9F8FD"/>
                </a:solidFill>
                <a:latin typeface="Switzer"/>
                <a:ea typeface="Switzer"/>
                <a:cs typeface="Switzer"/>
              </a:rPr>
              <a:t>deliveries cannot silently follow.</a:t>
            </a:r>
          </a:p>
        </p:txBody>
      </p:sp>
      <p:sp>
        <p:nvSpPr>
          <p:cNvPr id="27" name="new-route">
            <a:extLst xmlns:a="http://schemas.openxmlformats.org/drawingml/2006/main">
              <a:ext uri="{FF2B5EF4-FFF2-40B4-BE49-F238E27FC236}">
                <a16:creationId xmlns:a16="http://schemas.microsoft.com/office/drawing/2014/main" id="{1F08864D-23D7-46F0-9C2B-77166A771730}"/>
              </a:ext>
            </a:extLst>
          </p:cNvPr>
          <p:cNvSpPr>
            <a:spLocks xmlns:a="http://schemas.openxmlformats.org/drawingml/2006/main" noGrp="1"/>
          </p:cNvSpPr>
          <p:nvPr/>
        </p:nvSpPr>
        <p:spPr>
          <a:xfrm xmlns:a="http://schemas.openxmlformats.org/drawingml/2006/main">
            <a:off x="6972300" y="2809875"/>
            <a:ext cx="4410075" cy="71437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Newest route → original sender</a:t>
            </a:r>
          </a:p>
        </p:txBody>
      </p:sp>
      <p:sp>
        <p:nvSpPr>
          <p:cNvPr id="28" name="older-route">
            <a:extLst xmlns:a="http://schemas.openxmlformats.org/drawingml/2006/main">
              <a:ext uri="{FF2B5EF4-FFF2-40B4-BE49-F238E27FC236}">
                <a16:creationId xmlns:a16="http://schemas.microsoft.com/office/drawing/2014/main" id="{48551AE0-0E22-4F98-A87E-314CF80B6C6F}"/>
              </a:ext>
            </a:extLst>
          </p:cNvPr>
          <p:cNvSpPr>
            <a:spLocks xmlns:a="http://schemas.openxmlformats.org/drawingml/2006/main" noGrp="1"/>
          </p:cNvSpPr>
          <p:nvPr/>
        </p:nvSpPr>
        <p:spPr>
          <a:xfrm xmlns:a="http://schemas.openxmlformats.org/drawingml/2006/main">
            <a:off x="6972300" y="3705225"/>
            <a:ext cx="4410075" cy="628650"/>
          </a:xfrm>
          <a:prstGeom xmlns:a="http://schemas.openxmlformats.org/drawingml/2006/main" prst="rect">
            <a:avLst/>
          </a:prstGeom>
          <a:solidFill xmlns:a="http://schemas.openxmlformats.org/drawingml/2006/main">
            <a:srgbClr val="27262B"/>
          </a:solidFill>
          <a:ln xmlns:a="http://schemas.openxmlformats.org/drawingml/2006/main" w="13335">
            <a:solidFill>
              <a:srgbClr val="BCBBC2"/>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Older pending route</a:t>
            </a:r>
          </a:p>
        </p:txBody>
      </p:sp>
      <p:sp>
        <p:nvSpPr>
          <p:cNvPr id="29" name="pop-rule">
            <a:extLst xmlns:a="http://schemas.openxmlformats.org/drawingml/2006/main">
              <a:ext uri="{FF2B5EF4-FFF2-40B4-BE49-F238E27FC236}">
                <a16:creationId xmlns:a16="http://schemas.microsoft.com/office/drawing/2014/main" id="{AA826B14-7ABC-4DC7-A78D-E217FCC4A424}"/>
              </a:ext>
            </a:extLst>
          </p:cNvPr>
          <p:cNvSpPr>
            <a:spLocks xmlns:a="http://schemas.openxmlformats.org/drawingml/2006/main" noGrp="1"/>
          </p:cNvSpPr>
          <p:nvPr/>
        </p:nvSpPr>
        <p:spPr>
          <a:xfrm xmlns:a="http://schemas.openxmlformats.org/drawingml/2006/main">
            <a:off x="6972300" y="4676775"/>
            <a:ext cx="4448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6AE8CD"/>
                </a:solidFill>
                <a:latin typeface="Switzer"/>
                <a:ea typeface="Switzer"/>
                <a:cs typeface="Switzer"/>
              </a:defRPr>
            </a:pPr>
            <a:r>
              <a:rPr sz="1875">
                <a:solidFill>
                  <a:srgbClr val="6AE8CD"/>
                </a:solidFill>
                <a:latin typeface="Switzer"/>
                <a:ea typeface="Switzer"/>
                <a:cs typeface="Switzer"/>
              </a:rPr>
              <a:t>REPLY claims the newest open route.</a:t>
            </a:r>
          </a:p>
        </p:txBody>
      </p:sp>
      <p:sp>
        <p:nvSpPr>
          <p:cNvPr id="30" name="close-rule">
            <a:extLst xmlns:a="http://schemas.openxmlformats.org/drawingml/2006/main">
              <a:ext uri="{FF2B5EF4-FFF2-40B4-BE49-F238E27FC236}">
                <a16:creationId xmlns:a16="http://schemas.microsoft.com/office/drawing/2014/main" id="{2513860A-9490-412C-A19F-14A8E4EAD4F7}"/>
              </a:ext>
            </a:extLst>
          </p:cNvPr>
          <p:cNvSpPr>
            <a:spLocks xmlns:a="http://schemas.openxmlformats.org/drawingml/2006/main" noGrp="1"/>
          </p:cNvSpPr>
          <p:nvPr/>
        </p:nvSpPr>
        <p:spPr>
          <a:xfrm xmlns:a="http://schemas.openxmlformats.org/drawingml/2006/main">
            <a:off x="6972300" y="5353050"/>
            <a:ext cx="4448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Restart closes session-bound routes.</a:t>
            </a:r>
          </a:p>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Delivered SEND opens the return path.</a:t>
            </a:r>
          </a:p>
        </p:txBody>
      </p:sp>
    </p:spTree>
    <p:extLst>
      <p:ext uri="{BB962C8B-B14F-4D97-AF65-F5344CB8AC3E}">
        <p14:creationId xmlns:p14="http://schemas.microsoft.com/office/powerpoint/2010/main" val="2090962750"/>
      </p:ext>
    </p:extLst>
  </p:cSld>
</p:sld>
</file>

<file path=ppt/slides/slide10.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7141995-C002-488C-8F2B-E515FB545E84}"/>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GUARDRAILS</a:t>
            </a:r>
          </a:p>
        </p:txBody>
      </p:sp>
      <p:sp>
        <p:nvSpPr>
          <p:cNvPr id="3" name="TextBox 2">
            <a:extLst xmlns:a="http://schemas.openxmlformats.org/drawingml/2006/main">
              <a:ext uri="{FF2B5EF4-FFF2-40B4-BE49-F238E27FC236}">
                <a16:creationId xmlns:a16="http://schemas.microsoft.com/office/drawing/2014/main" id="{A126BAEC-F6D3-4875-A4AC-25DD6C136B70}"/>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Bound the route. Revalidate the target.</a:t>
            </a:r>
          </a:p>
        </p:txBody>
      </p:sp>
      <p:sp>
        <p:nvSpPr>
          <p:cNvPr id="49" name="TextBox 48">
            <a:extLst xmlns:a="http://schemas.openxmlformats.org/drawingml/2006/main">
              <a:ext uri="{FF2B5EF4-FFF2-40B4-BE49-F238E27FC236}">
                <a16:creationId xmlns:a16="http://schemas.microsoft.com/office/drawing/2014/main" id="{55083C4D-8CCA-4EA1-B774-DBE100BF8F62}"/>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10/18</a:t>
            </a:r>
          </a:p>
        </p:txBody>
      </p:sp>
      <p:sp>
        <p:nvSpPr>
          <p:cNvPr id="50" name="Callstack accent rule">
            <a:extLst xmlns:a="http://schemas.openxmlformats.org/drawingml/2006/main">
              <a:ext uri="{FF2B5EF4-FFF2-40B4-BE49-F238E27FC236}">
                <a16:creationId xmlns:a16="http://schemas.microsoft.com/office/drawing/2014/main" id="{B8DAE6AA-7B94-4D91-9F2C-8316CB9480F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51" name="guard-272">
            <a:extLst xmlns:a="http://schemas.openxmlformats.org/drawingml/2006/main">
              <a:ext uri="{FF2B5EF4-FFF2-40B4-BE49-F238E27FC236}">
                <a16:creationId xmlns:a16="http://schemas.microsoft.com/office/drawing/2014/main" id="{5B33431B-A35A-4B5F-BB47-84F22ADED5C2}"/>
              </a:ext>
            </a:extLst>
          </p:cNvPr>
          <p:cNvSpPr>
            <a:spLocks xmlns:a="http://schemas.openxmlformats.org/drawingml/2006/main" noGrp="1"/>
          </p:cNvSpPr>
          <p:nvPr/>
        </p:nvSpPr>
        <p:spPr>
          <a:xfrm xmlns:a="http://schemas.openxmlformats.org/drawingml/2006/main">
            <a:off x="2590800" y="2800350"/>
            <a:ext cx="50482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52" name="guard-565">
            <a:extLst xmlns:a="http://schemas.openxmlformats.org/drawingml/2006/main">
              <a:ext uri="{FF2B5EF4-FFF2-40B4-BE49-F238E27FC236}">
                <a16:creationId xmlns:a16="http://schemas.microsoft.com/office/drawing/2014/main" id="{CF583F7B-6C4F-4C8E-A510-51E0023DB06F}"/>
              </a:ext>
            </a:extLst>
          </p:cNvPr>
          <p:cNvSpPr>
            <a:spLocks xmlns:a="http://schemas.openxmlformats.org/drawingml/2006/main" noGrp="1"/>
          </p:cNvSpPr>
          <p:nvPr/>
        </p:nvSpPr>
        <p:spPr>
          <a:xfrm xmlns:a="http://schemas.openxmlformats.org/drawingml/2006/main">
            <a:off x="5381625" y="2800350"/>
            <a:ext cx="51435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53" name="guard-858">
            <a:extLst xmlns:a="http://schemas.openxmlformats.org/drawingml/2006/main">
              <a:ext uri="{FF2B5EF4-FFF2-40B4-BE49-F238E27FC236}">
                <a16:creationId xmlns:a16="http://schemas.microsoft.com/office/drawing/2014/main" id="{E3470387-7060-49C7-88EC-3C9F3110E647}"/>
              </a:ext>
            </a:extLst>
          </p:cNvPr>
          <p:cNvSpPr>
            <a:spLocks xmlns:a="http://schemas.openxmlformats.org/drawingml/2006/main" noGrp="1"/>
          </p:cNvSpPr>
          <p:nvPr/>
        </p:nvSpPr>
        <p:spPr>
          <a:xfrm xmlns:a="http://schemas.openxmlformats.org/drawingml/2006/main">
            <a:off x="8172450" y="2800350"/>
            <a:ext cx="51435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54" name="source-guard">
            <a:extLst xmlns:a="http://schemas.openxmlformats.org/drawingml/2006/main">
              <a:ext uri="{FF2B5EF4-FFF2-40B4-BE49-F238E27FC236}">
                <a16:creationId xmlns:a16="http://schemas.microsoft.com/office/drawing/2014/main" id="{5D4EEF9F-97C2-4672-A52C-23A9B83956B4}"/>
              </a:ext>
            </a:extLst>
          </p:cNvPr>
          <p:cNvSpPr>
            <a:spLocks xmlns:a="http://schemas.openxmlformats.org/drawingml/2006/main" noGrp="1"/>
          </p:cNvSpPr>
          <p:nvPr/>
        </p:nvSpPr>
        <p:spPr>
          <a:xfrm xmlns:a="http://schemas.openxmlformats.org/drawingml/2006/main">
            <a:off x="742950" y="2362200"/>
            <a:ext cx="1847850"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Current source</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 armed key</a:t>
            </a:r>
          </a:p>
        </p:txBody>
      </p:sp>
      <p:sp>
        <p:nvSpPr>
          <p:cNvPr id="55" name="queue-guard">
            <a:extLst xmlns:a="http://schemas.openxmlformats.org/drawingml/2006/main">
              <a:ext uri="{FF2B5EF4-FFF2-40B4-BE49-F238E27FC236}">
                <a16:creationId xmlns:a16="http://schemas.microsoft.com/office/drawing/2014/main" id="{C16706AD-4485-4B32-8EB3-FAD08C586C33}"/>
              </a:ext>
            </a:extLst>
          </p:cNvPr>
          <p:cNvSpPr>
            <a:spLocks xmlns:a="http://schemas.openxmlformats.org/drawingml/2006/main" noGrp="1"/>
          </p:cNvSpPr>
          <p:nvPr/>
        </p:nvSpPr>
        <p:spPr>
          <a:xfrm xmlns:a="http://schemas.openxmlformats.org/drawingml/2006/main">
            <a:off x="3095625" y="2362200"/>
            <a:ext cx="2286000"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Bounded queue</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 safe payload</a:t>
            </a:r>
          </a:p>
        </p:txBody>
      </p:sp>
      <p:sp>
        <p:nvSpPr>
          <p:cNvPr id="56" name="target-guard">
            <a:extLst xmlns:a="http://schemas.openxmlformats.org/drawingml/2006/main">
              <a:ext uri="{FF2B5EF4-FFF2-40B4-BE49-F238E27FC236}">
                <a16:creationId xmlns:a16="http://schemas.microsoft.com/office/drawing/2014/main" id="{F080771C-DFFF-4AFB-BD58-0BB682726209}"/>
              </a:ext>
            </a:extLst>
          </p:cNvPr>
          <p:cNvSpPr>
            <a:spLocks xmlns:a="http://schemas.openxmlformats.org/drawingml/2006/main" noGrp="1"/>
          </p:cNvSpPr>
          <p:nvPr/>
        </p:nvSpPr>
        <p:spPr>
          <a:xfrm xmlns:a="http://schemas.openxmlformats.org/drawingml/2006/main">
            <a:off x="5895975" y="2362200"/>
            <a:ext cx="2276475"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Same adapter</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 session</a:t>
            </a:r>
          </a:p>
        </p:txBody>
      </p:sp>
      <p:sp>
        <p:nvSpPr>
          <p:cNvPr id="57" name="submit-guard">
            <a:extLst xmlns:a="http://schemas.openxmlformats.org/drawingml/2006/main">
              <a:ext uri="{FF2B5EF4-FFF2-40B4-BE49-F238E27FC236}">
                <a16:creationId xmlns:a16="http://schemas.microsoft.com/office/drawing/2014/main" id="{8F101783-9F0B-4881-8E4B-AEB692F74B10}"/>
              </a:ext>
            </a:extLst>
          </p:cNvPr>
          <p:cNvSpPr>
            <a:spLocks xmlns:a="http://schemas.openxmlformats.org/drawingml/2006/main" noGrp="1"/>
          </p:cNvSpPr>
          <p:nvPr/>
        </p:nvSpPr>
        <p:spPr>
          <a:xfrm xmlns:a="http://schemas.openxmlformats.org/drawingml/2006/main">
            <a:off x="8686800" y="2362200"/>
            <a:ext cx="2714625" cy="10001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Serialized input</a:t>
            </a:r>
          </a:p>
          <a:p xmlns:a="http://schemas.openxmlformats.org/drawingml/2006/main">
            <a:pPr algn="ctr">
              <a:buNone/>
              <a:defRPr sz="1725">
                <a:solidFill>
                  <a:srgbClr val="F9F8FD"/>
                </a:solidFill>
                <a:latin typeface="Switzer"/>
                <a:ea typeface="Switzer"/>
                <a:cs typeface="Switzer"/>
              </a:defRPr>
            </a:pPr>
            <a:r>
              <a:rPr sz="1725">
                <a:solidFill>
                  <a:srgbClr val="F9F8FD"/>
                </a:solidFill>
                <a:latin typeface="Switzer"/>
                <a:ea typeface="Switzer"/>
                <a:cs typeface="Switzer"/>
              </a:rPr>
              <a:t>+ revalidation</a:t>
            </a:r>
          </a:p>
        </p:txBody>
      </p:sp>
      <p:sp>
        <p:nvSpPr>
          <p:cNvPr id="58" name="capacity-label">
            <a:extLst xmlns:a="http://schemas.openxmlformats.org/drawingml/2006/main">
              <a:ext uri="{FF2B5EF4-FFF2-40B4-BE49-F238E27FC236}">
                <a16:creationId xmlns:a16="http://schemas.microsoft.com/office/drawing/2014/main" id="{8D8C2023-E138-4063-847E-6B9C9CEDB863}"/>
              </a:ext>
            </a:extLst>
          </p:cNvPr>
          <p:cNvSpPr>
            <a:spLocks xmlns:a="http://schemas.openxmlformats.org/drawingml/2006/main" noGrp="1"/>
          </p:cNvSpPr>
          <p:nvPr/>
        </p:nvSpPr>
        <p:spPr>
          <a:xfrm xmlns:a="http://schemas.openxmlformats.org/drawingml/2006/main">
            <a:off x="742950" y="3771900"/>
            <a:ext cx="1062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a:solidFill>
                  <a:srgbClr val="BCBBC2"/>
                </a:solidFill>
                <a:latin typeface="Consolas"/>
                <a:ea typeface="Consolas"/>
                <a:cs typeface="Consolas"/>
              </a:defRPr>
            </a:pPr>
            <a:r>
              <a:rPr sz="1500">
                <a:solidFill>
                  <a:srgbClr val="BCBBC2"/>
                </a:solidFill>
                <a:latin typeface="Consolas"/>
                <a:ea typeface="Consolas"/>
                <a:cs typeface="Consolas"/>
              </a:rPr>
              <a:t>QUEUE CAPACITY · INCLUDING IN-FLIGHT</a:t>
            </a:r>
          </a:p>
        </p:txBody>
      </p:sp>
      <p:sp>
        <p:nvSpPr>
          <p:cNvPr id="59" name="panel-cap">
            <a:extLst xmlns:a="http://schemas.openxmlformats.org/drawingml/2006/main">
              <a:ext uri="{FF2B5EF4-FFF2-40B4-BE49-F238E27FC236}">
                <a16:creationId xmlns:a16="http://schemas.microsoft.com/office/drawing/2014/main" id="{B3E36E69-0CC3-4DCB-90FD-7E13212D9B63}"/>
              </a:ext>
            </a:extLst>
          </p:cNvPr>
          <p:cNvSpPr>
            <a:spLocks xmlns:a="http://schemas.openxmlformats.org/drawingml/2006/main" noGrp="1"/>
          </p:cNvSpPr>
          <p:nvPr/>
        </p:nvSpPr>
        <p:spPr>
          <a:xfrm xmlns:a="http://schemas.openxmlformats.org/drawingml/2006/main">
            <a:off x="742950" y="4276725"/>
            <a:ext cx="4676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775">
                <a:solidFill>
                  <a:srgbClr val="CBAAFF"/>
                </a:solidFill>
                <a:latin typeface="Alliance No.2"/>
                <a:ea typeface="Alliance No.2"/>
                <a:cs typeface="Alliance No.2"/>
              </a:defRPr>
            </a:pPr>
            <a:r>
              <a:rPr sz="2775">
                <a:solidFill>
                  <a:srgbClr val="CBAAFF"/>
                </a:solidFill>
                <a:latin typeface="Alliance No.2"/>
                <a:ea typeface="Alliance No.2"/>
                <a:cs typeface="Alliance No.2"/>
              </a:rPr>
              <a:t>64 tasks / 512 KiB</a:t>
            </a:r>
          </a:p>
        </p:txBody>
      </p:sp>
      <p:sp>
        <p:nvSpPr>
          <p:cNvPr id="60" name="panel-cap-label">
            <a:extLst xmlns:a="http://schemas.openxmlformats.org/drawingml/2006/main">
              <a:ext uri="{FF2B5EF4-FFF2-40B4-BE49-F238E27FC236}">
                <a16:creationId xmlns:a16="http://schemas.microsoft.com/office/drawing/2014/main" id="{61790DCE-DF1C-4820-B630-C077678DB3A1}"/>
              </a:ext>
            </a:extLst>
          </p:cNvPr>
          <p:cNvSpPr>
            <a:spLocks xmlns:a="http://schemas.openxmlformats.org/drawingml/2006/main" noGrp="1"/>
          </p:cNvSpPr>
          <p:nvPr/>
        </p:nvSpPr>
        <p:spPr>
          <a:xfrm xmlns:a="http://schemas.openxmlformats.org/drawingml/2006/main">
            <a:off x="742950" y="4867275"/>
            <a:ext cx="46767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per panel</a:t>
            </a:r>
          </a:p>
        </p:txBody>
      </p:sp>
      <p:sp>
        <p:nvSpPr>
          <p:cNvPr id="61" name="global-cap">
            <a:extLst xmlns:a="http://schemas.openxmlformats.org/drawingml/2006/main">
              <a:ext uri="{FF2B5EF4-FFF2-40B4-BE49-F238E27FC236}">
                <a16:creationId xmlns:a16="http://schemas.microsoft.com/office/drawing/2014/main" id="{D1B973D0-9EDB-4E4D-BE68-B5088A4760D8}"/>
              </a:ext>
            </a:extLst>
          </p:cNvPr>
          <p:cNvSpPr>
            <a:spLocks xmlns:a="http://schemas.openxmlformats.org/drawingml/2006/main" noGrp="1"/>
          </p:cNvSpPr>
          <p:nvPr/>
        </p:nvSpPr>
        <p:spPr>
          <a:xfrm xmlns:a="http://schemas.openxmlformats.org/drawingml/2006/main">
            <a:off x="6315075" y="4276725"/>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775">
                <a:solidFill>
                  <a:srgbClr val="6AE8CD"/>
                </a:solidFill>
                <a:latin typeface="Alliance No.2"/>
                <a:ea typeface="Alliance No.2"/>
                <a:cs typeface="Alliance No.2"/>
              </a:defRPr>
            </a:pPr>
            <a:r>
              <a:rPr sz="2775">
                <a:solidFill>
                  <a:srgbClr val="6AE8CD"/>
                </a:solidFill>
                <a:latin typeface="Alliance No.2"/>
                <a:ea typeface="Alliance No.2"/>
                <a:cs typeface="Alliance No.2"/>
              </a:rPr>
              <a:t>512 tasks / 4 MiB</a:t>
            </a:r>
          </a:p>
        </p:txBody>
      </p:sp>
      <p:sp>
        <p:nvSpPr>
          <p:cNvPr id="62" name="global-cap-label">
            <a:extLst xmlns:a="http://schemas.openxmlformats.org/drawingml/2006/main">
              <a:ext uri="{FF2B5EF4-FFF2-40B4-BE49-F238E27FC236}">
                <a16:creationId xmlns:a16="http://schemas.microsoft.com/office/drawing/2014/main" id="{552E0489-325C-426E-826D-1E7EE30ABA47}"/>
              </a:ext>
            </a:extLst>
          </p:cNvPr>
          <p:cNvSpPr>
            <a:spLocks xmlns:a="http://schemas.openxmlformats.org/drawingml/2006/main" noGrp="1"/>
          </p:cNvSpPr>
          <p:nvPr/>
        </p:nvSpPr>
        <p:spPr>
          <a:xfrm xmlns:a="http://schemas.openxmlformats.org/drawingml/2006/main">
            <a:off x="6315075" y="4867275"/>
            <a:ext cx="504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a:solidFill>
                  <a:srgbClr val="BCBBC2"/>
                </a:solidFill>
                <a:latin typeface="Switzer"/>
                <a:ea typeface="Switzer"/>
                <a:cs typeface="Switzer"/>
              </a:defRPr>
            </a:pPr>
            <a:r>
              <a:rPr sz="1800">
                <a:solidFill>
                  <a:srgbClr val="BCBBC2"/>
                </a:solidFill>
                <a:latin typeface="Switzer"/>
                <a:ea typeface="Switzer"/>
                <a:cs typeface="Switzer"/>
              </a:rPr>
              <a:t>across the application</a:t>
            </a:r>
          </a:p>
        </p:txBody>
      </p:sp>
      <p:sp>
        <p:nvSpPr>
          <p:cNvPr id="63" name="cap-divider">
            <a:extLst xmlns:a="http://schemas.openxmlformats.org/drawingml/2006/main">
              <a:ext uri="{FF2B5EF4-FFF2-40B4-BE49-F238E27FC236}">
                <a16:creationId xmlns:a16="http://schemas.microsoft.com/office/drawing/2014/main" id="{B7B5CE8F-7949-4D63-9DE3-364604C54DA5}"/>
              </a:ext>
            </a:extLst>
          </p:cNvPr>
          <p:cNvSpPr>
            <a:spLocks xmlns:a="http://schemas.openxmlformats.org/drawingml/2006/main" noGrp="1"/>
          </p:cNvSpPr>
          <p:nvPr/>
        </p:nvSpPr>
        <p:spPr>
          <a:xfrm xmlns:a="http://schemas.openxmlformats.org/drawingml/2006/main">
            <a:off x="742950" y="5476875"/>
            <a:ext cx="10620375" cy="0"/>
          </a:xfrm>
          <a:prstGeom xmlns:a="http://schemas.openxmlformats.org/drawingml/2006/main" prst="line">
            <a:avLst/>
          </a:prstGeom>
          <a:noFill xmlns:a="http://schemas.openxmlformats.org/drawingml/2006/main"/>
          <a:ln xmlns:a="http://schemas.openxmlformats.org/drawingml/2006/main" w="16193">
            <a:solidFill>
              <a:srgbClr val="838289"/>
            </a:solidFill>
            <a:prstDash val="solid"/>
          </a:ln>
        </p:spPr>
      </p:sp>
      <p:sp>
        <p:nvSpPr>
          <p:cNvPr id="64" name="limits">
            <a:extLst xmlns:a="http://schemas.openxmlformats.org/drawingml/2006/main">
              <a:ext uri="{FF2B5EF4-FFF2-40B4-BE49-F238E27FC236}">
                <a16:creationId xmlns:a16="http://schemas.microsoft.com/office/drawing/2014/main" id="{BDD94E20-CF17-4DF5-AB23-BB97C4CB1F44}"/>
              </a:ext>
            </a:extLst>
          </p:cNvPr>
          <p:cNvSpPr>
            <a:spLocks xmlns:a="http://schemas.openxmlformats.org/drawingml/2006/main" noGrp="1"/>
          </p:cNvSpPr>
          <p:nvPr/>
        </p:nvSpPr>
        <p:spPr>
          <a:xfrm xmlns:a="http://schemas.openxmlformats.org/drawingml/2006/main">
            <a:off x="742950" y="5676900"/>
            <a:ext cx="10668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Protocol routes never launch or replace agents. No durable / exactly-once queue.</a:t>
            </a:r>
          </a:p>
          <a:p xmlns:a="http://schemas.openxmlformats.org/drawingml/2006/main">
            <a:pPr algn="l">
              <a:buNone/>
              <a:defRPr sz="1725">
                <a:solidFill>
                  <a:srgbClr val="F9F8FD"/>
                </a:solidFill>
                <a:latin typeface="Switzer"/>
                <a:ea typeface="Switzer"/>
                <a:cs typeface="Switzer"/>
              </a:defRPr>
            </a:pPr>
            <a:r>
              <a:rPr sz="1725">
                <a:solidFill>
                  <a:srgbClr val="F9F8FD"/>
                </a:solidFill>
                <a:latin typeface="Switzer"/>
                <a:ea typeface="Switzer"/>
                <a:cs typeface="Switzer"/>
              </a:rPr>
              <a:t>A visible capability is opt-in—not complete prompt-injection protection.</a:t>
            </a:r>
          </a:p>
        </p:txBody>
      </p:sp>
    </p:spTree>
    <p:extLst>
      <p:ext uri="{BB962C8B-B14F-4D97-AF65-F5344CB8AC3E}">
        <p14:creationId xmlns:p14="http://schemas.microsoft.com/office/powerpoint/2010/main" val="107637514"/>
      </p:ext>
    </p:extLst>
  </p:cSld>
</p:sld>
</file>

<file path=ppt/slides/slide11.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7BA366A-9237-4F8F-8986-15917BD6D207}"/>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COMMERCIAL LANDSCAPE</a:t>
            </a:r>
          </a:p>
        </p:txBody>
      </p:sp>
      <p:sp>
        <p:nvSpPr>
          <p:cNvPr id="3" name="TextBox 2">
            <a:extLst xmlns:a="http://schemas.openxmlformats.org/drawingml/2006/main">
              <a:ext uri="{FF2B5EF4-FFF2-40B4-BE49-F238E27FC236}">
                <a16:creationId xmlns:a16="http://schemas.microsoft.com/office/drawing/2014/main" id="{D8202F8C-732C-4C98-9F82-3027BD53EF0A}"/>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BAND / Jam: a different coordination layer.</a:t>
            </a:r>
          </a:p>
        </p:txBody>
      </p:sp>
      <p:sp>
        <p:nvSpPr>
          <p:cNvPr id="17" name="TextBox 16">
            <a:extLst xmlns:a="http://schemas.openxmlformats.org/drawingml/2006/main">
              <a:ext uri="{FF2B5EF4-FFF2-40B4-BE49-F238E27FC236}">
                <a16:creationId xmlns:a16="http://schemas.microsoft.com/office/drawing/2014/main" id="{C9D6A176-4572-4BB1-8164-1D95DC5CCB19}"/>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11/18</a:t>
            </a:r>
          </a:p>
        </p:txBody>
      </p:sp>
      <p:sp>
        <p:nvSpPr>
          <p:cNvPr id="18" name="Callstack accent rule">
            <a:extLst xmlns:a="http://schemas.openxmlformats.org/drawingml/2006/main">
              <a:ext uri="{FF2B5EF4-FFF2-40B4-BE49-F238E27FC236}">
                <a16:creationId xmlns:a16="http://schemas.microsoft.com/office/drawing/2014/main" id="{C6B95789-2123-4965-B52B-40FD36F4D74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graphicFrame>
        <p:nvGraphicFramePr>
          <p:cNvPr id="28" name=""/>
          <p:cNvGraphicFramePr/>
          <p:nvPr/>
        </p:nvGraphicFramePr>
        <p:xfrm>
          <a:off xmlns:a="http://schemas.openxmlformats.org/drawingml/2006/main" x="742950" y="2076450"/>
          <a:ext xmlns:a="http://schemas.openxmlformats.org/drawingml/2006/main" cx="10629900" cy="2857500"/>
        </p:xfrm>
        <a:graphic xmlns:a="http://schemas.openxmlformats.org/drawingml/2006/main">
          <a:graphicData uri="http://schemas.openxmlformats.org/drawingml/2006/table">
            <a:tbl>
              <a:tblPr firstRow="0" bandRow="0" bandCol="0"/>
              <a:tblGrid>
                <a:gridCol w="1828800"/>
                <a:gridCol w="4229100"/>
                <a:gridCol w="4572000"/>
              </a:tblGrid>
              <a:tr h="552450">
                <a:tc>
                  <a:txBody>
                    <a:bodyPr wrap="square" lIns="142875" tIns="76200" rIns="114300" bIns="76200">
                      <a:noAutofit/>
                    </a:bodyPr>
                    <a:lstStyle/>
                    <a:p>
                      <a:pPr algn="l">
                        <a:buNone/>
                      </a:pPr>
                      <a:r>
                        <a:rPr sz="1800">
                          <a:solidFill>
                            <a:srgbClr val="BCBBC2"/>
                          </a:solidFill>
                          <a:latin typeface="Switzer"/>
                          <a:ea typeface="Switzer"/>
                          <a:cs typeface="Switzer"/>
                        </a:rPr>
                        <a:t>Boundary</a:t>
                      </a:r>
                    </a:p>
                  </a:txBody>
                  <a:tcPr marL="91440" marR="91440" marT="45720" marB="45720" anchor="ctr">
                    <a:solidFill>
                      <a:srgbClr val="27262B"/>
                    </a:solidFill>
                  </a:tcPr>
                </a:tc>
                <a:tc>
                  <a:txBody>
                    <a:bodyPr wrap="square" lIns="142875" tIns="76200" rIns="114300" bIns="76200">
                      <a:noAutofit/>
                    </a:bodyPr>
                    <a:lstStyle/>
                    <a:p>
                      <a:pPr algn="l">
                        <a:buNone/>
                      </a:pPr>
                      <a:r>
                        <a:rPr sz="1800">
                          <a:solidFill>
                            <a:srgbClr val="CBAAFF"/>
                          </a:solidFill>
                          <a:latin typeface="Switzer"/>
                          <a:ea typeface="Switzer"/>
                          <a:cs typeface="Switzer"/>
                        </a:rPr>
                        <a:t>Agents Commander</a:t>
                      </a:r>
                    </a:p>
                  </a:txBody>
                  <a:tcPr marL="91440" marR="91440" marT="45720" marB="45720" anchor="ctr">
                    <a:solidFill>
                      <a:srgbClr val="27262B"/>
                    </a:solidFill>
                  </a:tcPr>
                </a:tc>
                <a:tc>
                  <a:txBody>
                    <a:bodyPr wrap="square" lIns="142875" tIns="76200" rIns="114300" bIns="76200">
                      <a:noAutofit/>
                    </a:bodyPr>
                    <a:lstStyle/>
                    <a:p>
                      <a:pPr algn="l">
                        <a:buNone/>
                      </a:pPr>
                      <a:r>
                        <a:rPr sz="1800">
                          <a:solidFill>
                            <a:srgbClr val="6AE8CD"/>
                          </a:solidFill>
                          <a:latin typeface="Switzer"/>
                          <a:ea typeface="Switzer"/>
                          <a:cs typeface="Switzer"/>
                        </a:rPr>
                        <a:t>BAND / Jam</a:t>
                      </a:r>
                    </a:p>
                  </a:txBody>
                  <a:tcPr marL="91440" marR="91440" marT="45720" marB="45720" anchor="ctr">
                    <a:solidFill>
                      <a:srgbClr val="27262B"/>
                    </a:solidFill>
                  </a:tcPr>
                </a:tc>
              </a:tr>
              <a:tr h="771525">
                <a:tc>
                  <a:txBody>
                    <a:bodyPr wrap="square" lIns="142875" tIns="76200" rIns="114300" bIns="76200">
                      <a:noAutofit/>
                    </a:bodyPr>
                    <a:lstStyle/>
                    <a:p>
                      <a:pPr algn="l">
                        <a:buNone/>
                      </a:pPr>
                      <a:r>
                        <a:rPr sz="1800">
                          <a:solidFill>
                            <a:srgbClr val="BCBBC2"/>
                          </a:solidFill>
                          <a:latin typeface="Switzer"/>
                          <a:ea typeface="Switzer"/>
                          <a:cs typeface="Switzer"/>
                        </a:rPr>
                        <a:t>Interface</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Local terminal panels</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Jam Desktop workspace</a:t>
                      </a:r>
                    </a:p>
                  </a:txBody>
                  <a:tcPr marL="91440" marR="91440" marT="45720" marB="45720" anchor="ctr">
                    <a:solidFill>
                      <a:srgbClr val="201F24"/>
                    </a:solidFill>
                  </a:tcPr>
                </a:tc>
              </a:tr>
              <a:tr h="771525">
                <a:tc>
                  <a:txBody>
                    <a:bodyPr wrap="square" lIns="142875" tIns="76200" rIns="114300" bIns="76200">
                      <a:noAutofit/>
                    </a:bodyPr>
                    <a:lstStyle/>
                    <a:p>
                      <a:pPr algn="l">
                        <a:buNone/>
                      </a:pPr>
                      <a:r>
                        <a:rPr sz="1800">
                          <a:solidFill>
                            <a:srgbClr val="BCBBC2"/>
                          </a:solidFill>
                          <a:latin typeface="Switzer"/>
                          <a:ea typeface="Switzer"/>
                          <a:cs typeface="Switzer"/>
                        </a:rPr>
                        <a:t>Coordination</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Output frames → local PTY input</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jamd → BAND rooms</a:t>
                      </a:r>
                    </a:p>
                    <a:p>
                      <a:pPr algn="l">
                        <a:buNone/>
                      </a:pPr>
                      <a:r>
                        <a:rPr sz="1800">
                          <a:solidFill>
                            <a:srgbClr val="F9F8FD"/>
                          </a:solidFill>
                          <a:latin typeface="Switzer"/>
                          <a:ea typeface="Switzer"/>
                          <a:cs typeface="Switzer"/>
                        </a:rPr>
                        <a:t>Networked coordination</a:t>
                      </a:r>
                    </a:p>
                  </a:txBody>
                  <a:tcPr marL="91440" marR="91440" marT="45720" marB="45720" anchor="ctr">
                    <a:solidFill>
                      <a:srgbClr val="201F24"/>
                    </a:solidFill>
                  </a:tcPr>
                </a:tc>
              </a:tr>
              <a:tr h="771525">
                <a:tc>
                  <a:txBody>
                    <a:bodyPr wrap="square" lIns="142875" tIns="76200" rIns="114300" bIns="76200">
                      <a:noAutofit/>
                    </a:bodyPr>
                    <a:lstStyle/>
                    <a:p>
                      <a:pPr algn="l">
                        <a:buNone/>
                      </a:pPr>
                      <a:r>
                        <a:rPr sz="1800">
                          <a:solidFill>
                            <a:srgbClr val="BCBBC2"/>
                          </a:solidFill>
                          <a:latin typeface="Switzer"/>
                          <a:ea typeface="Switzer"/>
                          <a:cs typeface="Switzer"/>
                        </a:rPr>
                        <a:t>Visibility</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Live terminals + F12 Activity</a:t>
                      </a:r>
                    </a:p>
                  </a:txBody>
                  <a:tcPr marL="91440" marR="91440" marT="45720" marB="45720" anchor="ctr">
                    <a:solidFill>
                      <a:srgbClr val="201F24"/>
                    </a:solidFill>
                  </a:tcPr>
                </a:tc>
                <a:tc>
                  <a:txBody>
                    <a:bodyPr wrap="square" lIns="142875" tIns="76200" rIns="114300" bIns="76200">
                      <a:noAutofit/>
                    </a:bodyPr>
                    <a:lstStyle/>
                    <a:p>
                      <a:pPr algn="l">
                        <a:buNone/>
                      </a:pPr>
                      <a:r>
                        <a:rPr sz="1800">
                          <a:solidFill>
                            <a:srgbClr val="F9F8FD"/>
                          </a:solidFill>
                          <a:latin typeface="Switzer"/>
                          <a:ea typeface="Switzer"/>
                          <a:cs typeface="Switzer"/>
                        </a:rPr>
                        <a:t>Work board, ownership,</a:t>
                      </a:r>
                    </a:p>
                    <a:p>
                      <a:pPr algn="l">
                        <a:buNone/>
                      </a:pPr>
                      <a:r>
                        <a:rPr sz="1800">
                          <a:solidFill>
                            <a:srgbClr val="F9F8FD"/>
                          </a:solidFill>
                          <a:latin typeface="Switzer"/>
                          <a:ea typeface="Switzer"/>
                          <a:cs typeface="Switzer"/>
                        </a:rPr>
                        <a:t>activity + human decisions</a:t>
                      </a:r>
                    </a:p>
                  </a:txBody>
                  <a:tcPr marL="91440" marR="91440" marT="45720" marB="45720" anchor="ctr">
                    <a:solidFill>
                      <a:srgbClr val="201F24"/>
                    </a:solidFill>
                  </a:tcPr>
                </a:tc>
              </a:tr>
            </a:tbl>
          </a:graphicData>
        </a:graphic>
      </p:graphicFrame>
      <p:sp>
        <p:nvSpPr>
          <p:cNvPr id="20" name="band-commercial-plans">
            <a:extLst xmlns:a="http://schemas.openxmlformats.org/drawingml/2006/main">
              <a:ext uri="{FF2B5EF4-FFF2-40B4-BE49-F238E27FC236}">
                <a16:creationId xmlns:a16="http://schemas.microsoft.com/office/drawing/2014/main" id="{E23E09A0-5BB6-4FAA-91CF-5B26BA3F9A42}"/>
              </a:ext>
            </a:extLst>
          </p:cNvPr>
          <p:cNvSpPr>
            <a:spLocks xmlns:a="http://schemas.openxmlformats.org/drawingml/2006/main" noGrp="1"/>
          </p:cNvSpPr>
          <p:nvPr/>
        </p:nvSpPr>
        <p:spPr>
          <a:xfrm xmlns:a="http://schemas.openxmlformats.org/drawingml/2006/main">
            <a:off x="742950" y="5143500"/>
            <a:ext cx="10639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buNone/>
              <a:defRPr sz="2175">
                <a:solidFill>
                  <a:srgbClr val="A6E34A"/>
                </a:solidFill>
                <a:latin typeface="Switzer"/>
                <a:ea typeface="Switzer"/>
                <a:cs typeface="Switzer"/>
              </a:defRPr>
            </a:pPr>
            <a:r>
              <a:rPr sz="2175">
                <a:solidFill>
                  <a:srgbClr val="A6E34A"/>
                </a:solidFill>
                <a:latin typeface="Switzer"/>
                <a:ea typeface="Switzer"/>
                <a:cs typeface="Switzer"/>
              </a:rPr>
              <a:t>BAND plans: Free · Pro $17.99/mo · Enterprise by quote</a:t>
            </a:r>
          </a:p>
        </p:txBody>
      </p:sp>
      <p:sp>
        <p:nvSpPr>
          <p:cNvPr id="21" name="plan-scope">
            <a:extLst xmlns:a="http://schemas.openxmlformats.org/drawingml/2006/main">
              <a:ext uri="{FF2B5EF4-FFF2-40B4-BE49-F238E27FC236}">
                <a16:creationId xmlns:a16="http://schemas.microsoft.com/office/drawing/2014/main" id="{218C1FC7-D576-4AC9-A8DF-2DF7404051BA}"/>
              </a:ext>
            </a:extLst>
          </p:cNvPr>
          <p:cNvSpPr>
            <a:spLocks xmlns:a="http://schemas.openxmlformats.org/drawingml/2006/main" noGrp="1"/>
          </p:cNvSpPr>
          <p:nvPr/>
        </p:nvSpPr>
        <p:spPr>
          <a:xfrm xmlns:a="http://schemas.openxmlformats.org/drawingml/2006/main">
            <a:off x="742950" y="5591175"/>
            <a:ext cx="10639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buNone/>
              <a:defRPr sz="1500">
                <a:solidFill>
                  <a:srgbClr val="BCBBC2"/>
                </a:solidFill>
                <a:latin typeface="Switzer"/>
                <a:ea typeface="Switzer"/>
                <a:cs typeface="Switzer"/>
              </a:defRPr>
            </a:pPr>
            <a:r>
              <a:rPr sz="1500">
                <a:solidFill>
                  <a:srgbClr val="BCBBC2"/>
                </a:solidFill>
                <a:latin typeface="Switzer"/>
                <a:ea typeface="Switzer"/>
                <a:cs typeface="Switzer"/>
              </a:rPr>
              <a:t>Platform pricing; Jam-specific billing not verified. Commander source: CC-BY-NC-4.0.</a:t>
            </a:r>
          </a:p>
        </p:txBody>
      </p:sp>
      <p:sp>
        <p:nvSpPr>
          <p:cNvPr id="22" name="documentary-sources">
            <a:extLst xmlns:a="http://schemas.openxmlformats.org/drawingml/2006/main">
              <a:ext uri="{FF2B5EF4-FFF2-40B4-BE49-F238E27FC236}">
                <a16:creationId xmlns:a16="http://schemas.microsoft.com/office/drawing/2014/main" id="{43DF86AE-90BF-44D1-AF7B-B551A2738457}"/>
              </a:ext>
            </a:extLst>
          </p:cNvPr>
          <p:cNvSpPr>
            <a:spLocks xmlns:a="http://schemas.openxmlformats.org/drawingml/2006/main" noGrp="1"/>
          </p:cNvSpPr>
          <p:nvPr/>
        </p:nvSpPr>
        <p:spPr>
          <a:xfrm xmlns:a="http://schemas.openxmlformats.org/drawingml/2006/main">
            <a:off x="742950" y="6000750"/>
            <a:ext cx="1063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buNone/>
              <a:defRPr sz="1275">
                <a:solidFill>
                  <a:srgbClr val="BCBBC2"/>
                </a:solidFill>
                <a:latin typeface="Switzer"/>
                <a:ea typeface="Switzer"/>
                <a:cs typeface="Switzer"/>
              </a:defRPr>
            </a:pPr>
            <a:r>
              <a:rPr sz="1275">
                <a:solidFill>
                  <a:srgbClr val="BCBBC2"/>
                </a:solidFill>
                <a:latin typeface="Switzer"/>
                <a:ea typeface="Switzer"/>
                <a:cs typeface="Switzer"/>
              </a:rPr>
              <a:t>Vendor-documented, not a benchmark · band.ai/pricing · docs.band.ai/jam · 02 Sep 2026</a:t>
            </a:r>
          </a:p>
        </p:txBody>
      </p:sp>
    </p:spTree>
    <p:extLst>
      <p:ext uri="{BB962C8B-B14F-4D97-AF65-F5344CB8AC3E}">
        <p14:creationId xmlns:p14="http://schemas.microsoft.com/office/powerpoint/2010/main" val="2090962750"/>
      </p:ext>
    </p:extLst>
  </p:cSld>
</p:sld>
</file>

<file path=ppt/slides/slide12.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EB8AD4E-AD27-4024-A9EE-917726B61BD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OFFLINE PROOF</a:t>
            </a:r>
          </a:p>
        </p:txBody>
      </p:sp>
      <p:sp>
        <p:nvSpPr>
          <p:cNvPr id="3" name="TextBox 2">
            <a:extLst xmlns:a="http://schemas.openxmlformats.org/drawingml/2006/main">
              <a:ext uri="{FF2B5EF4-FFF2-40B4-BE49-F238E27FC236}">
                <a16:creationId xmlns:a16="http://schemas.microsoft.com/office/drawing/2014/main" id="{DDF33651-B9E8-4515-B26B-EF9D9863635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Prove transport without an LLM.</a:t>
            </a:r>
          </a:p>
        </p:txBody>
      </p:sp>
      <p:sp>
        <p:nvSpPr>
          <p:cNvPr id="18" name="TextBox 17">
            <a:extLst xmlns:a="http://schemas.openxmlformats.org/drawingml/2006/main">
              <a:ext uri="{FF2B5EF4-FFF2-40B4-BE49-F238E27FC236}">
                <a16:creationId xmlns:a16="http://schemas.microsoft.com/office/drawing/2014/main" id="{477D95A0-5390-49EC-8A72-2F18560257CF}"/>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12/18</a:t>
            </a:r>
          </a:p>
        </p:txBody>
      </p:sp>
      <p:sp>
        <p:nvSpPr>
          <p:cNvPr id="19" name="Callstack accent rule">
            <a:extLst xmlns:a="http://schemas.openxmlformats.org/drawingml/2006/main">
              <a:ext uri="{FF2B5EF4-FFF2-40B4-BE49-F238E27FC236}">
                <a16:creationId xmlns:a16="http://schemas.microsoft.com/office/drawing/2014/main" id="{982DCEE5-8D57-444F-AB5E-218829D4B56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20" name="offline-command">
            <a:extLst xmlns:a="http://schemas.openxmlformats.org/drawingml/2006/main">
              <a:ext uri="{FF2B5EF4-FFF2-40B4-BE49-F238E27FC236}">
                <a16:creationId xmlns:a16="http://schemas.microsoft.com/office/drawing/2014/main" id="{4BAAABC0-02CE-4988-80D7-8048B83AEB04}"/>
              </a:ext>
            </a:extLst>
          </p:cNvPr>
          <p:cNvSpPr>
            <a:spLocks xmlns:a="http://schemas.openxmlformats.org/drawingml/2006/main" noGrp="1"/>
          </p:cNvSpPr>
          <p:nvPr/>
        </p:nvSpPr>
        <p:spPr>
          <a:xfrm xmlns:a="http://schemas.openxmlformats.org/drawingml/2006/main">
            <a:off x="742950" y="1885950"/>
            <a:ext cx="10610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75">
                <a:solidFill>
                  <a:srgbClr val="CBAAFF"/>
                </a:solidFill>
                <a:latin typeface="Consolas"/>
                <a:ea typeface="Consolas"/>
                <a:cs typeface="Consolas"/>
              </a:defRPr>
            </a:pPr>
            <a:r>
              <a:rPr sz="2175">
                <a:solidFill>
                  <a:srgbClr val="CBAAFF"/>
                </a:solidFill>
                <a:latin typeface="Consolas"/>
                <a:ea typeface="Consolas"/>
                <a:cs typeface="Consolas"/>
              </a:rPr>
              <a:t>node dist/bin/agents-commander.js --demo</a:t>
            </a:r>
          </a:p>
        </p:txBody>
      </p:sp>
      <p:sp>
        <p:nvSpPr>
          <p:cNvPr id="21" name="offline-send">
            <a:extLst xmlns:a="http://schemas.openxmlformats.org/drawingml/2006/main">
              <a:ext uri="{FF2B5EF4-FFF2-40B4-BE49-F238E27FC236}">
                <a16:creationId xmlns:a16="http://schemas.microsoft.com/office/drawing/2014/main" id="{6A2754E9-CD04-43A5-8183-1A829413EEC9}"/>
              </a:ext>
            </a:extLst>
          </p:cNvPr>
          <p:cNvSpPr>
            <a:spLocks xmlns:a="http://schemas.openxmlformats.org/drawingml/2006/main" noGrp="1"/>
          </p:cNvSpPr>
          <p:nvPr/>
        </p:nvSpPr>
        <p:spPr>
          <a:xfrm xmlns:a="http://schemas.openxmlformats.org/drawingml/2006/main">
            <a:off x="3495675" y="3257550"/>
            <a:ext cx="5114925"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22" name="offline-reply">
            <a:extLst xmlns:a="http://schemas.openxmlformats.org/drawingml/2006/main">
              <a:ext uri="{FF2B5EF4-FFF2-40B4-BE49-F238E27FC236}">
                <a16:creationId xmlns:a16="http://schemas.microsoft.com/office/drawing/2014/main" id="{68B82B29-A871-48DF-8373-7E1D3BA45995}"/>
              </a:ext>
            </a:extLst>
          </p:cNvPr>
          <p:cNvSpPr>
            <a:spLocks xmlns:a="http://schemas.openxmlformats.org/drawingml/2006/main" noGrp="1"/>
          </p:cNvSpPr>
          <p:nvPr/>
        </p:nvSpPr>
        <p:spPr>
          <a:xfrm xmlns:a="http://schemas.openxmlformats.org/drawingml/2006/main">
            <a:off x="3495675" y="4505325"/>
            <a:ext cx="5114925" cy="114300"/>
          </a:xfrm>
          <a:prstGeom xmlns:a="http://schemas.openxmlformats.org/drawingml/2006/main" prst="leftArrow">
            <a:avLst/>
          </a:prstGeom>
          <a:solidFill xmlns:a="http://schemas.openxmlformats.org/drawingml/2006/main">
            <a:srgbClr val="6AE8CD"/>
          </a:solidFill>
          <a:ln xmlns:a="http://schemas.openxmlformats.org/drawingml/2006/main" w="0">
            <a:noFill/>
            <a:prstDash val="solid"/>
          </a:ln>
        </p:spPr>
      </p:sp>
      <p:sp>
        <p:nvSpPr>
          <p:cNvPr id="23" name="coordinator">
            <a:extLst xmlns:a="http://schemas.openxmlformats.org/drawingml/2006/main">
              <a:ext uri="{FF2B5EF4-FFF2-40B4-BE49-F238E27FC236}">
                <a16:creationId xmlns:a16="http://schemas.microsoft.com/office/drawing/2014/main" id="{3C3162BE-D09D-4C62-9347-7055171A299F}"/>
              </a:ext>
            </a:extLst>
          </p:cNvPr>
          <p:cNvSpPr>
            <a:spLocks xmlns:a="http://schemas.openxmlformats.org/drawingml/2006/main" noGrp="1"/>
          </p:cNvSpPr>
          <p:nvPr/>
        </p:nvSpPr>
        <p:spPr>
          <a:xfrm xmlns:a="http://schemas.openxmlformats.org/drawingml/2006/main">
            <a:off x="742950" y="2686050"/>
            <a:ext cx="2752725" cy="22860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75">
                <a:solidFill>
                  <a:srgbClr val="F9F8FD"/>
                </a:solidFill>
                <a:latin typeface="Switzer"/>
                <a:ea typeface="Switzer"/>
                <a:cs typeface="Switzer"/>
              </a:defRPr>
            </a:pPr>
            <a:r>
              <a:rPr sz="2175">
                <a:solidFill>
                  <a:srgbClr val="F9F8FD"/>
                </a:solidFill>
                <a:latin typeface="Switzer"/>
                <a:ea typeface="Switzer"/>
                <a:cs typeface="Switzer"/>
              </a:rPr>
              <a:t>Demo Coordinator</a:t>
            </a:r>
          </a:p>
          <a:p xmlns:a="http://schemas.openxmlformats.org/drawingml/2006/main">
            <a:pPr algn="ctr">
              <a:buNone/>
              <a:defRPr sz="2175">
                <a:solidFill>
                  <a:srgbClr val="F9F8FD"/>
                </a:solidFill>
                <a:latin typeface="Switzer"/>
                <a:ea typeface="Switzer"/>
                <a:cs typeface="Switzer"/>
              </a:defRPr>
            </a:pPr>
            <a:r>
              <a:rPr sz="2175">
                <a:solidFill>
                  <a:srgbClr val="F9F8FD"/>
                </a:solidFill>
                <a:latin typeface="Switzer"/>
                <a:ea typeface="Switzer"/>
                <a:cs typeface="Switzer"/>
              </a:rPr>
              <a:t>scripted fixture</a:t>
            </a:r>
          </a:p>
        </p:txBody>
      </p:sp>
      <p:sp>
        <p:nvSpPr>
          <p:cNvPr id="24" name="reviewer">
            <a:extLst xmlns:a="http://schemas.openxmlformats.org/drawingml/2006/main">
              <a:ext uri="{FF2B5EF4-FFF2-40B4-BE49-F238E27FC236}">
                <a16:creationId xmlns:a16="http://schemas.microsoft.com/office/drawing/2014/main" id="{3EA2859B-48D7-44CC-9342-E85F2DF6BFD4}"/>
              </a:ext>
            </a:extLst>
          </p:cNvPr>
          <p:cNvSpPr>
            <a:spLocks xmlns:a="http://schemas.openxmlformats.org/drawingml/2006/main" noGrp="1"/>
          </p:cNvSpPr>
          <p:nvPr/>
        </p:nvSpPr>
        <p:spPr>
          <a:xfrm xmlns:a="http://schemas.openxmlformats.org/drawingml/2006/main">
            <a:off x="8629650" y="2686050"/>
            <a:ext cx="2762250" cy="22860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2175">
                <a:solidFill>
                  <a:srgbClr val="F9F8FD"/>
                </a:solidFill>
                <a:latin typeface="Switzer"/>
                <a:ea typeface="Switzer"/>
                <a:cs typeface="Switzer"/>
              </a:defRPr>
            </a:pPr>
            <a:r>
              <a:rPr sz="2175">
                <a:solidFill>
                  <a:srgbClr val="F9F8FD"/>
                </a:solidFill>
                <a:latin typeface="Switzer"/>
                <a:ea typeface="Switzer"/>
                <a:cs typeface="Switzer"/>
              </a:rPr>
              <a:t>Demo Reviewer</a:t>
            </a:r>
          </a:p>
          <a:p xmlns:a="http://schemas.openxmlformats.org/drawingml/2006/main">
            <a:pPr algn="ctr">
              <a:buNone/>
              <a:defRPr sz="2175">
                <a:solidFill>
                  <a:srgbClr val="F9F8FD"/>
                </a:solidFill>
                <a:latin typeface="Switzer"/>
                <a:ea typeface="Switzer"/>
                <a:cs typeface="Switzer"/>
              </a:defRPr>
            </a:pPr>
            <a:r>
              <a:rPr sz="2175">
                <a:solidFill>
                  <a:srgbClr val="F9F8FD"/>
                </a:solidFill>
                <a:latin typeface="Switzer"/>
                <a:ea typeface="Switzer"/>
                <a:cs typeface="Switzer"/>
              </a:rPr>
              <a:t>scripted fixture</a:t>
            </a:r>
          </a:p>
        </p:txBody>
      </p:sp>
      <p:sp>
        <p:nvSpPr>
          <p:cNvPr id="25" name="offline-send-label">
            <a:extLst xmlns:a="http://schemas.openxmlformats.org/drawingml/2006/main">
              <a:ext uri="{FF2B5EF4-FFF2-40B4-BE49-F238E27FC236}">
                <a16:creationId xmlns:a16="http://schemas.microsoft.com/office/drawing/2014/main" id="{77C98999-F06F-4F06-8703-DFBCDDC7B904}"/>
              </a:ext>
            </a:extLst>
          </p:cNvPr>
          <p:cNvSpPr>
            <a:spLocks xmlns:a="http://schemas.openxmlformats.org/drawingml/2006/main" noGrp="1"/>
          </p:cNvSpPr>
          <p:nvPr/>
        </p:nvSpPr>
        <p:spPr>
          <a:xfrm xmlns:a="http://schemas.openxmlformats.org/drawingml/2006/main">
            <a:off x="3848100" y="2771775"/>
            <a:ext cx="4438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950">
                <a:solidFill>
                  <a:srgbClr val="CBAAFF"/>
                </a:solidFill>
                <a:latin typeface="Switzer"/>
                <a:ea typeface="Switzer"/>
                <a:cs typeface="Switzer"/>
              </a:defRPr>
            </a:pPr>
            <a:r>
              <a:rPr sz="1950">
                <a:solidFill>
                  <a:srgbClr val="CBAAFF"/>
                </a:solidFill>
                <a:latin typeface="Switzer"/>
                <a:ea typeface="Switzer"/>
                <a:cs typeface="Switzer"/>
              </a:rPr>
              <a:t>SEND · inspect seeded brief</a:t>
            </a:r>
          </a:p>
        </p:txBody>
      </p:sp>
      <p:sp>
        <p:nvSpPr>
          <p:cNvPr id="26" name="offline-check">
            <a:extLst xmlns:a="http://schemas.openxmlformats.org/drawingml/2006/main">
              <a:ext uri="{FF2B5EF4-FFF2-40B4-BE49-F238E27FC236}">
                <a16:creationId xmlns:a16="http://schemas.microsoft.com/office/drawing/2014/main" id="{020F7740-D489-45B8-B720-5DDE949A48AE}"/>
              </a:ext>
            </a:extLst>
          </p:cNvPr>
          <p:cNvSpPr>
            <a:spLocks xmlns:a="http://schemas.openxmlformats.org/drawingml/2006/main" noGrp="1"/>
          </p:cNvSpPr>
          <p:nvPr/>
        </p:nvSpPr>
        <p:spPr>
          <a:xfrm xmlns:a="http://schemas.openxmlformats.org/drawingml/2006/main">
            <a:off x="3810000" y="3600450"/>
            <a:ext cx="459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Consolas"/>
                <a:ea typeface="Consolas"/>
                <a:cs typeface="Consolas"/>
              </a:defRPr>
            </a:pPr>
            <a:r>
              <a:rPr sz="1875">
                <a:solidFill>
                  <a:srgbClr val="F9F8FD"/>
                </a:solidFill>
                <a:latin typeface="Consolas"/>
                <a:ea typeface="Consolas"/>
                <a:cs typeface="Consolas"/>
              </a:rPr>
              <a:t>calculateTotal([19, 23]) = 42</a:t>
            </a:r>
          </a:p>
        </p:txBody>
      </p:sp>
      <p:sp>
        <p:nvSpPr>
          <p:cNvPr id="27" name="offline-reply-label">
            <a:extLst xmlns:a="http://schemas.openxmlformats.org/drawingml/2006/main">
              <a:ext uri="{FF2B5EF4-FFF2-40B4-BE49-F238E27FC236}">
                <a16:creationId xmlns:a16="http://schemas.microsoft.com/office/drawing/2014/main" id="{A88A758D-8841-4457-92E7-CE7CFAD0A024}"/>
              </a:ext>
            </a:extLst>
          </p:cNvPr>
          <p:cNvSpPr>
            <a:spLocks xmlns:a="http://schemas.openxmlformats.org/drawingml/2006/main" noGrp="1"/>
          </p:cNvSpPr>
          <p:nvPr/>
        </p:nvSpPr>
        <p:spPr>
          <a:xfrm xmlns:a="http://schemas.openxmlformats.org/drawingml/2006/main">
            <a:off x="3848100" y="4648200"/>
            <a:ext cx="4476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6AE8CD"/>
                </a:solidFill>
                <a:latin typeface="Switzer"/>
                <a:ea typeface="Switzer"/>
                <a:cs typeface="Switzer"/>
              </a:defRPr>
            </a:pPr>
            <a:r>
              <a:rPr sz="1875">
                <a:solidFill>
                  <a:srgbClr val="6AE8CD"/>
                </a:solidFill>
                <a:latin typeface="Switzer"/>
                <a:ea typeface="Switzer"/>
                <a:cs typeface="Switzer"/>
              </a:rPr>
              <a:t>REPLY · deterministic result</a:t>
            </a:r>
          </a:p>
        </p:txBody>
      </p:sp>
      <p:sp>
        <p:nvSpPr>
          <p:cNvPr id="28" name="offline-proof">
            <a:extLst xmlns:a="http://schemas.openxmlformats.org/drawingml/2006/main">
              <a:ext uri="{FF2B5EF4-FFF2-40B4-BE49-F238E27FC236}">
                <a16:creationId xmlns:a16="http://schemas.microsoft.com/office/drawing/2014/main" id="{6AC82250-DD3A-4AA1-AA1A-88EEA15443ED}"/>
              </a:ext>
            </a:extLst>
          </p:cNvPr>
          <p:cNvSpPr>
            <a:spLocks xmlns:a="http://schemas.openxmlformats.org/drawingml/2006/main" noGrp="1"/>
          </p:cNvSpPr>
          <p:nvPr/>
        </p:nvSpPr>
        <p:spPr>
          <a:xfrm xmlns:a="http://schemas.openxmlformats.org/drawingml/2006/main">
            <a:off x="742950" y="5353050"/>
            <a:ext cx="10591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325">
                <a:solidFill>
                  <a:srgbClr val="A6E34A"/>
                </a:solidFill>
                <a:latin typeface="Alliance No.2"/>
                <a:ea typeface="Alliance No.2"/>
                <a:cs typeface="Alliance No.2"/>
              </a:defRPr>
            </a:pPr>
            <a:r>
              <a:rPr sz="2325">
                <a:solidFill>
                  <a:srgbClr val="A6E34A"/>
                </a:solidFill>
                <a:latin typeface="Alliance No.2"/>
                <a:ea typeface="Alliance No.2"/>
                <a:cs typeface="Alliance No.2"/>
              </a:rPr>
              <a:t>Type START → inspect both terminals → open F12</a:t>
            </a:r>
          </a:p>
        </p:txBody>
      </p:sp>
      <p:sp>
        <p:nvSpPr>
          <p:cNvPr id="29" name="offline-caveat">
            <a:extLst xmlns:a="http://schemas.openxmlformats.org/drawingml/2006/main">
              <a:ext uri="{FF2B5EF4-FFF2-40B4-BE49-F238E27FC236}">
                <a16:creationId xmlns:a16="http://schemas.microsoft.com/office/drawing/2014/main" id="{60535E00-C2C2-41BB-83D9-E9C09EFB6E52}"/>
              </a:ext>
            </a:extLst>
          </p:cNvPr>
          <p:cNvSpPr>
            <a:spLocks xmlns:a="http://schemas.openxmlformats.org/drawingml/2006/main" noGrp="1"/>
          </p:cNvSpPr>
          <p:nvPr/>
        </p:nvSpPr>
        <p:spPr>
          <a:xfrm xmlns:a="http://schemas.openxmlformats.org/drawingml/2006/main">
            <a:off x="742950" y="5934075"/>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BCBBC2"/>
                </a:solidFill>
                <a:latin typeface="Switzer"/>
                <a:ea typeface="Switzer"/>
                <a:cs typeface="Switzer"/>
              </a:defRPr>
            </a:pPr>
            <a:r>
              <a:rPr sz="1650">
                <a:solidFill>
                  <a:srgbClr val="BCBBC2"/>
                </a:solidFill>
                <a:latin typeface="Switzer"/>
                <a:ea typeface="Switzer"/>
                <a:cs typeface="Switzer"/>
              </a:rPr>
              <a:t>No network, API key, or external agent CLI. This proves transport—not LLM reasoning.</a:t>
            </a:r>
          </a:p>
        </p:txBody>
      </p:sp>
    </p:spTree>
    <p:extLst>
      <p:ext uri="{BB962C8B-B14F-4D97-AF65-F5344CB8AC3E}">
        <p14:creationId xmlns:p14="http://schemas.microsoft.com/office/powerpoint/2010/main" val="1960374928"/>
      </p:ext>
    </p:extLst>
  </p:cSld>
</p:sld>
</file>

<file path=ppt/slides/slide13.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3991451-B81A-49B4-B835-CF17E877B73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LIVE COLLABORATION</a:t>
            </a:r>
          </a:p>
        </p:txBody>
      </p:sp>
      <p:sp>
        <p:nvSpPr>
          <p:cNvPr id="3" name="TextBox 2">
            <a:extLst xmlns:a="http://schemas.openxmlformats.org/drawingml/2006/main">
              <a:ext uri="{FF2B5EF4-FFF2-40B4-BE49-F238E27FC236}">
                <a16:creationId xmlns:a16="http://schemas.microsoft.com/office/drawing/2014/main" id="{246B13FF-8166-41AE-B4CA-B40CD656A69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Now let two agents disagree.</a:t>
            </a:r>
          </a:p>
        </p:txBody>
      </p:sp>
      <p:sp>
        <p:nvSpPr>
          <p:cNvPr id="10" name="TextBox 9">
            <a:extLst xmlns:a="http://schemas.openxmlformats.org/drawingml/2006/main">
              <a:ext uri="{FF2B5EF4-FFF2-40B4-BE49-F238E27FC236}">
                <a16:creationId xmlns:a16="http://schemas.microsoft.com/office/drawing/2014/main" id="{4B58A23F-BC64-4A3C-A5EA-01ACFE4C4592}"/>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13/18</a:t>
            </a:r>
          </a:p>
        </p:txBody>
      </p:sp>
      <p:sp>
        <p:nvSpPr>
          <p:cNvPr id="11" name="Callstack accent rule">
            <a:extLst xmlns:a="http://schemas.openxmlformats.org/drawingml/2006/main">
              <a:ext uri="{FF2B5EF4-FFF2-40B4-BE49-F238E27FC236}">
                <a16:creationId xmlns:a16="http://schemas.microsoft.com/office/drawing/2014/main" id="{2AC290FB-4791-46E1-881E-E6F449D4F6E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2" name="live-scope">
            <a:extLst xmlns:a="http://schemas.openxmlformats.org/drawingml/2006/main">
              <a:ext uri="{FF2B5EF4-FFF2-40B4-BE49-F238E27FC236}">
                <a16:creationId xmlns:a16="http://schemas.microsoft.com/office/drawing/2014/main" id="{27AE9B45-4D03-44C2-8873-C086ABBE0351}"/>
              </a:ext>
            </a:extLst>
          </p:cNvPr>
          <p:cNvSpPr>
            <a:spLocks xmlns:a="http://schemas.openxmlformats.org/drawingml/2006/main" noGrp="1"/>
          </p:cNvSpPr>
          <p:nvPr/>
        </p:nvSpPr>
        <p:spPr>
          <a:xfrm xmlns:a="http://schemas.openxmlformats.org/drawingml/2006/main">
            <a:off x="742950" y="186690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BCBBC2"/>
                </a:solidFill>
                <a:latin typeface="Consolas"/>
                <a:ea typeface="Consolas"/>
                <a:cs typeface="Consolas"/>
              </a:defRPr>
            </a:pPr>
            <a:r>
              <a:rPr sz="2025">
                <a:solidFill>
                  <a:srgbClr val="BCBBC2"/>
                </a:solidFill>
                <a:latin typeface="Consolas"/>
                <a:ea typeface="Consolas"/>
                <a:cs typeface="Consolas"/>
              </a:rPr>
              <a:t>Read-only review · src/orchestration/message-ledger.ts</a:t>
            </a:r>
          </a:p>
        </p:txBody>
      </p:sp>
      <p:sp>
        <p:nvSpPr>
          <p:cNvPr id="13" name="live-send">
            <a:extLst xmlns:a="http://schemas.openxmlformats.org/drawingml/2006/main">
              <a:ext uri="{FF2B5EF4-FFF2-40B4-BE49-F238E27FC236}">
                <a16:creationId xmlns:a16="http://schemas.microsoft.com/office/drawing/2014/main" id="{E7E4914E-7106-45D5-A1CF-267FD67EDE76}"/>
              </a:ext>
            </a:extLst>
          </p:cNvPr>
          <p:cNvSpPr>
            <a:spLocks xmlns:a="http://schemas.openxmlformats.org/drawingml/2006/main" noGrp="1"/>
          </p:cNvSpPr>
          <p:nvPr/>
        </p:nvSpPr>
        <p:spPr>
          <a:xfrm xmlns:a="http://schemas.openxmlformats.org/drawingml/2006/main">
            <a:off x="3695700" y="3209925"/>
            <a:ext cx="85725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14" name="live-reply">
            <a:extLst xmlns:a="http://schemas.openxmlformats.org/drawingml/2006/main">
              <a:ext uri="{FF2B5EF4-FFF2-40B4-BE49-F238E27FC236}">
                <a16:creationId xmlns:a16="http://schemas.microsoft.com/office/drawing/2014/main" id="{E4A811A8-2BCA-46CC-B728-52431702086F}"/>
              </a:ext>
            </a:extLst>
          </p:cNvPr>
          <p:cNvSpPr>
            <a:spLocks xmlns:a="http://schemas.openxmlformats.org/drawingml/2006/main" noGrp="1"/>
          </p:cNvSpPr>
          <p:nvPr/>
        </p:nvSpPr>
        <p:spPr>
          <a:xfrm xmlns:a="http://schemas.openxmlformats.org/drawingml/2006/main">
            <a:off x="7591425" y="3209925"/>
            <a:ext cx="847725"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15" name="proposal">
            <a:extLst xmlns:a="http://schemas.openxmlformats.org/drawingml/2006/main">
              <a:ext uri="{FF2B5EF4-FFF2-40B4-BE49-F238E27FC236}">
                <a16:creationId xmlns:a16="http://schemas.microsoft.com/office/drawing/2014/main" id="{3897F6A2-F37B-40D6-8B7E-5C5DC11F1A6B}"/>
              </a:ext>
            </a:extLst>
          </p:cNvPr>
          <p:cNvSpPr>
            <a:spLocks xmlns:a="http://schemas.openxmlformats.org/drawingml/2006/main" noGrp="1"/>
          </p:cNvSpPr>
          <p:nvPr/>
        </p:nvSpPr>
        <p:spPr>
          <a:xfrm xmlns:a="http://schemas.openxmlformats.org/drawingml/2006/main">
            <a:off x="742950" y="2676525"/>
            <a:ext cx="2952750" cy="733425"/>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CODEX · PROPOSE</a:t>
            </a:r>
          </a:p>
        </p:txBody>
      </p:sp>
      <p:sp>
        <p:nvSpPr>
          <p:cNvPr id="16" name="challenge">
            <a:extLst xmlns:a="http://schemas.openxmlformats.org/drawingml/2006/main">
              <a:ext uri="{FF2B5EF4-FFF2-40B4-BE49-F238E27FC236}">
                <a16:creationId xmlns:a16="http://schemas.microsoft.com/office/drawing/2014/main" id="{2EF23BC6-069C-464B-A779-F92C884B3317}"/>
              </a:ext>
            </a:extLst>
          </p:cNvPr>
          <p:cNvSpPr>
            <a:spLocks xmlns:a="http://schemas.openxmlformats.org/drawingml/2006/main" noGrp="1"/>
          </p:cNvSpPr>
          <p:nvPr/>
        </p:nvSpPr>
        <p:spPr>
          <a:xfrm xmlns:a="http://schemas.openxmlformats.org/drawingml/2006/main">
            <a:off x="4552950" y="2676525"/>
            <a:ext cx="3038475" cy="73342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CLAUDE · CHALLENGE</a:t>
            </a:r>
          </a:p>
        </p:txBody>
      </p:sp>
      <p:sp>
        <p:nvSpPr>
          <p:cNvPr id="17" name="refine">
            <a:extLst xmlns:a="http://schemas.openxmlformats.org/drawingml/2006/main">
              <a:ext uri="{FF2B5EF4-FFF2-40B4-BE49-F238E27FC236}">
                <a16:creationId xmlns:a16="http://schemas.microsoft.com/office/drawing/2014/main" id="{771E6879-1DAB-49D6-9019-CE6227F6AD54}"/>
              </a:ext>
            </a:extLst>
          </p:cNvPr>
          <p:cNvSpPr>
            <a:spLocks xmlns:a="http://schemas.openxmlformats.org/drawingml/2006/main" noGrp="1"/>
          </p:cNvSpPr>
          <p:nvPr/>
        </p:nvSpPr>
        <p:spPr>
          <a:xfrm xmlns:a="http://schemas.openxmlformats.org/drawingml/2006/main">
            <a:off x="8439150" y="2676525"/>
            <a:ext cx="2952750" cy="73342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CODEX · REFINE</a:t>
            </a:r>
          </a:p>
        </p:txBody>
      </p:sp>
      <p:sp>
        <p:nvSpPr>
          <p:cNvPr id="18" name="proposal-content">
            <a:extLst xmlns:a="http://schemas.openxmlformats.org/drawingml/2006/main">
              <a:ext uri="{FF2B5EF4-FFF2-40B4-BE49-F238E27FC236}">
                <a16:creationId xmlns:a16="http://schemas.microsoft.com/office/drawing/2014/main" id="{993C11B6-3E97-40FD-8081-00E385ADD768}"/>
              </a:ext>
            </a:extLst>
          </p:cNvPr>
          <p:cNvSpPr>
            <a:spLocks xmlns:a="http://schemas.openxmlformats.org/drawingml/2006/main" noGrp="1"/>
          </p:cNvSpPr>
          <p:nvPr/>
        </p:nvSpPr>
        <p:spPr>
          <a:xfrm xmlns:a="http://schemas.openxmlformats.org/drawingml/2006/main">
            <a:off x="742950" y="3714750"/>
            <a:ext cx="29718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a:solidFill>
                  <a:srgbClr val="F9F8FD"/>
                </a:solidFill>
                <a:latin typeface="Switzer"/>
                <a:ea typeface="Switzer"/>
                <a:cs typeface="Switzer"/>
              </a:defRPr>
            </a:pPr>
            <a:r>
              <a:rPr sz="2250">
                <a:solidFill>
                  <a:srgbClr val="F9F8FD"/>
                </a:solidFill>
                <a:latin typeface="Switzer"/>
                <a:ea typeface="Switzer"/>
                <a:cs typeface="Switzer"/>
              </a:rPr>
              <a:t>Persist Activity</a:t>
            </a:r>
          </a:p>
          <a:p xmlns:a="http://schemas.openxmlformats.org/drawingml/2006/main">
            <a:pPr algn="l">
              <a:buNone/>
              <a:defRPr sz="2250">
                <a:solidFill>
                  <a:srgbClr val="F9F8FD"/>
                </a:solidFill>
                <a:latin typeface="Switzer"/>
                <a:ea typeface="Switzer"/>
                <a:cs typeface="Switzer"/>
              </a:defRPr>
            </a:pPr>
            <a:r>
              <a:rPr sz="2250">
                <a:solidFill>
                  <a:srgbClr val="F9F8FD"/>
                </a:solidFill>
                <a:latin typeface="Switzer"/>
                <a:ea typeface="Switzer"/>
                <a:cs typeface="Switzer"/>
              </a:rPr>
              <a:t>across restarts?</a:t>
            </a:r>
          </a:p>
        </p:txBody>
      </p:sp>
      <p:sp>
        <p:nvSpPr>
          <p:cNvPr id="19" name="challenge-content">
            <a:extLst xmlns:a="http://schemas.openxmlformats.org/drawingml/2006/main">
              <a:ext uri="{FF2B5EF4-FFF2-40B4-BE49-F238E27FC236}">
                <a16:creationId xmlns:a16="http://schemas.microsoft.com/office/drawing/2014/main" id="{BDD3A002-2EFD-4BAB-95FE-B3621C5D7463}"/>
              </a:ext>
            </a:extLst>
          </p:cNvPr>
          <p:cNvSpPr>
            <a:spLocks xmlns:a="http://schemas.openxmlformats.org/drawingml/2006/main" noGrp="1"/>
          </p:cNvSpPr>
          <p:nvPr/>
        </p:nvSpPr>
        <p:spPr>
          <a:xfrm xmlns:a="http://schemas.openxmlformats.org/drawingml/2006/main">
            <a:off x="4552950" y="3714750"/>
            <a:ext cx="30384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a:solidFill>
                  <a:srgbClr val="F9F8FD"/>
                </a:solidFill>
                <a:latin typeface="Switzer"/>
                <a:ea typeface="Switzer"/>
                <a:cs typeface="Switzer"/>
              </a:defRPr>
            </a:pPr>
            <a:r>
              <a:rPr sz="2250">
                <a:solidFill>
                  <a:srgbClr val="F9F8FD"/>
                </a:solidFill>
                <a:latin typeface="Switzer"/>
                <a:ea typeface="Switzer"/>
                <a:cs typeface="Switzer"/>
              </a:rPr>
              <a:t>Should full prompts</a:t>
            </a:r>
          </a:p>
          <a:p xmlns:a="http://schemas.openxmlformats.org/drawingml/2006/main">
            <a:pPr algn="l">
              <a:buNone/>
              <a:defRPr sz="2250">
                <a:solidFill>
                  <a:srgbClr val="F9F8FD"/>
                </a:solidFill>
                <a:latin typeface="Switzer"/>
                <a:ea typeface="Switzer"/>
                <a:cs typeface="Switzer"/>
              </a:defRPr>
            </a:pPr>
            <a:r>
              <a:rPr sz="2250">
                <a:solidFill>
                  <a:srgbClr val="F9F8FD"/>
                </a:solidFill>
                <a:latin typeface="Switzer"/>
                <a:ea typeface="Switzer"/>
                <a:cs typeface="Switzer"/>
              </a:rPr>
              <a:t>be stored at all?</a:t>
            </a:r>
          </a:p>
        </p:txBody>
      </p:sp>
      <p:sp>
        <p:nvSpPr>
          <p:cNvPr id="20" name="refine-content">
            <a:extLst xmlns:a="http://schemas.openxmlformats.org/drawingml/2006/main">
              <a:ext uri="{FF2B5EF4-FFF2-40B4-BE49-F238E27FC236}">
                <a16:creationId xmlns:a16="http://schemas.microsoft.com/office/drawing/2014/main" id="{DF6E44F0-6628-4E52-B30E-118AA7C5ACA9}"/>
              </a:ext>
            </a:extLst>
          </p:cNvPr>
          <p:cNvSpPr>
            <a:spLocks xmlns:a="http://schemas.openxmlformats.org/drawingml/2006/main" noGrp="1"/>
          </p:cNvSpPr>
          <p:nvPr/>
        </p:nvSpPr>
        <p:spPr>
          <a:xfrm xmlns:a="http://schemas.openxmlformats.org/drawingml/2006/main">
            <a:off x="8439150" y="3714750"/>
            <a:ext cx="29718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F9F8FD"/>
                </a:solidFill>
                <a:latin typeface="Switzer"/>
                <a:ea typeface="Switzer"/>
                <a:cs typeface="Switzer"/>
              </a:defRPr>
            </a:pPr>
            <a:r>
              <a:rPr sz="2025">
                <a:solidFill>
                  <a:srgbClr val="F9F8FD"/>
                </a:solidFill>
                <a:latin typeface="Switzer"/>
                <a:ea typeface="Switzer"/>
                <a:cs typeface="Switzer"/>
              </a:rPr>
              <a:t>Opt-in. Metadata first.</a:t>
            </a:r>
          </a:p>
          <a:p xmlns:a="http://schemas.openxmlformats.org/drawingml/2006/main">
            <a:pPr algn="l">
              <a:buNone/>
              <a:defRPr sz="2025">
                <a:solidFill>
                  <a:srgbClr val="F9F8FD"/>
                </a:solidFill>
                <a:latin typeface="Switzer"/>
                <a:ea typeface="Switzer"/>
                <a:cs typeface="Switzer"/>
              </a:defRPr>
            </a:pPr>
            <a:r>
              <a:rPr sz="2025">
                <a:solidFill>
                  <a:srgbClr val="F9F8FD"/>
                </a:solidFill>
                <a:latin typeface="Switzer"/>
                <a:ea typeface="Switzer"/>
                <a:cs typeface="Switzer"/>
              </a:rPr>
              <a:t>Bound it. Name a test.</a:t>
            </a:r>
          </a:p>
        </p:txBody>
      </p:sp>
      <p:sp>
        <p:nvSpPr>
          <p:cNvPr id="21" name="live-evidence">
            <a:extLst xmlns:a="http://schemas.openxmlformats.org/drawingml/2006/main">
              <a:ext uri="{FF2B5EF4-FFF2-40B4-BE49-F238E27FC236}">
                <a16:creationId xmlns:a16="http://schemas.microsoft.com/office/drawing/2014/main" id="{639E38F8-BF46-4286-9E7A-DD49A9CB4C4D}"/>
              </a:ext>
            </a:extLst>
          </p:cNvPr>
          <p:cNvSpPr>
            <a:spLocks xmlns:a="http://schemas.openxmlformats.org/drawingml/2006/main" noGrp="1"/>
          </p:cNvSpPr>
          <p:nvPr/>
        </p:nvSpPr>
        <p:spPr>
          <a:xfrm xmlns:a="http://schemas.openxmlformats.org/drawingml/2006/main">
            <a:off x="742950" y="5181600"/>
            <a:ext cx="106394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00">
                <a:solidFill>
                  <a:srgbClr val="A6E34A"/>
                </a:solidFill>
                <a:latin typeface="Consolas"/>
                <a:ea typeface="Consolas"/>
                <a:cs typeface="Consolas"/>
              </a:defRPr>
            </a:pPr>
            <a:r>
              <a:rPr sz="2100">
                <a:solidFill>
                  <a:srgbClr val="A6E34A"/>
                </a:solidFill>
                <a:latin typeface="Consolas"/>
                <a:ea typeface="Consolas"/>
                <a:cs typeface="Consolas"/>
              </a:rPr>
              <a:t>PROPOSAL_READY → CHALLENGE_READY → REFINED_READY</a:t>
            </a:r>
          </a:p>
        </p:txBody>
      </p:sp>
      <p:sp>
        <p:nvSpPr>
          <p:cNvPr id="22" name="live-timeout">
            <a:extLst xmlns:a="http://schemas.openxmlformats.org/drawingml/2006/main">
              <a:ext uri="{FF2B5EF4-FFF2-40B4-BE49-F238E27FC236}">
                <a16:creationId xmlns:a16="http://schemas.microsoft.com/office/drawing/2014/main" id="{924FAF68-17BE-4B0E-AD6E-B6EF69B15545}"/>
              </a:ext>
            </a:extLst>
          </p:cNvPr>
          <p:cNvSpPr>
            <a:spLocks xmlns:a="http://schemas.openxmlformats.org/drawingml/2006/main" noGrp="1"/>
          </p:cNvSpPr>
          <p:nvPr/>
        </p:nvSpPr>
        <p:spPr>
          <a:xfrm xmlns:a="http://schemas.openxmlformats.org/drawingml/2006/main">
            <a:off x="742950" y="5905500"/>
            <a:ext cx="10639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a:solidFill>
                  <a:srgbClr val="BCBBC2"/>
                </a:solidFill>
                <a:latin typeface="Switzer"/>
                <a:ea typeface="Switzer"/>
                <a:cs typeface="Switzer"/>
              </a:defRPr>
            </a:pPr>
            <a:r>
              <a:rPr sz="1650">
                <a:solidFill>
                  <a:srgbClr val="BCBBC2"/>
                </a:solidFill>
                <a:latin typeface="Switzer"/>
                <a:ea typeface="Switzer"/>
                <a:cs typeface="Switzer"/>
              </a:rPr>
              <a:t>45 s per response. On failure: inspect F12 once, then narrate this prepared branch.</a:t>
            </a:r>
          </a:p>
        </p:txBody>
      </p:sp>
    </p:spTree>
    <p:extLst>
      <p:ext uri="{BB962C8B-B14F-4D97-AF65-F5344CB8AC3E}">
        <p14:creationId xmlns:p14="http://schemas.microsoft.com/office/powerpoint/2010/main" val="1360156686"/>
      </p:ext>
    </p:extLst>
  </p:cSld>
</p:sld>
</file>

<file path=ppt/slides/slide14.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C4FE56-EF53-4B59-80FD-0556F3ADEF68}"/>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ROUTED ACTIVITY</a:t>
            </a:r>
          </a:p>
        </p:txBody>
      </p:sp>
      <p:sp>
        <p:nvSpPr>
          <p:cNvPr id="3" name="TextBox 2">
            <a:extLst xmlns:a="http://schemas.openxmlformats.org/drawingml/2006/main">
              <a:ext uri="{FF2B5EF4-FFF2-40B4-BE49-F238E27FC236}">
                <a16:creationId xmlns:a16="http://schemas.microsoft.com/office/drawing/2014/main" id="{1ADF6C27-524D-429D-963F-7FAB2499F859}"/>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Trace the handoff in Activity.</a:t>
            </a:r>
          </a:p>
        </p:txBody>
      </p:sp>
      <p:sp>
        <p:nvSpPr>
          <p:cNvPr id="28" name="TextBox 27">
            <a:extLst xmlns:a="http://schemas.openxmlformats.org/drawingml/2006/main">
              <a:ext uri="{FF2B5EF4-FFF2-40B4-BE49-F238E27FC236}">
                <a16:creationId xmlns:a16="http://schemas.microsoft.com/office/drawing/2014/main" id="{F407AF73-1128-4BB2-9A9D-E65D3110D560}"/>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14/18</a:t>
            </a:r>
          </a:p>
        </p:txBody>
      </p:sp>
      <p:sp>
        <p:nvSpPr>
          <p:cNvPr id="29" name="Callstack accent rule">
            <a:extLst xmlns:a="http://schemas.openxmlformats.org/drawingml/2006/main">
              <a:ext uri="{FF2B5EF4-FFF2-40B4-BE49-F238E27FC236}">
                <a16:creationId xmlns:a16="http://schemas.microsoft.com/office/drawing/2014/main" id="{57ECF28A-4432-486B-B490-F06CEE4625F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23d5b11ea1974773"/>
          <a:stretch xmlns:a="http://schemas.openxmlformats.org/drawingml/2006/main"/>
        </p:blipFill>
        <p:spPr>
          <a:xfrm xmlns:a="http://schemas.openxmlformats.org/drawingml/2006/main">
            <a:off x="743226" y="2009775"/>
            <a:ext cx="10638874" cy="2574608"/>
          </a:xfrm>
          <a:prstGeom xmlns:a="http://schemas.openxmlformats.org/drawingml/2006/main" prst="rect">
            <a:avLst/>
          </a:prstGeom>
        </p:spPr>
      </p:pic>
      <p:sp>
        <p:nvSpPr>
          <p:cNvPr id="31" name="activity-state">
            <a:extLst xmlns:a="http://schemas.openxmlformats.org/drawingml/2006/main">
              <a:ext uri="{FF2B5EF4-FFF2-40B4-BE49-F238E27FC236}">
                <a16:creationId xmlns:a16="http://schemas.microsoft.com/office/drawing/2014/main" id="{AEE05588-A830-4B7C-BFBC-D3601C8EC505}"/>
              </a:ext>
            </a:extLst>
          </p:cNvPr>
          <p:cNvSpPr>
            <a:spLocks xmlns:a="http://schemas.openxmlformats.org/drawingml/2006/main" noGrp="1"/>
          </p:cNvSpPr>
          <p:nvPr/>
        </p:nvSpPr>
        <p:spPr>
          <a:xfrm xmlns:a="http://schemas.openxmlformats.org/drawingml/2006/main">
            <a:off x="742950" y="4905375"/>
            <a:ext cx="2819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75">
                <a:solidFill>
                  <a:srgbClr val="A6E34A"/>
                </a:solidFill>
                <a:latin typeface="Consolas"/>
                <a:ea typeface="Consolas"/>
                <a:cs typeface="Consolas"/>
              </a:defRPr>
            </a:pPr>
            <a:r>
              <a:rPr sz="2175">
                <a:solidFill>
                  <a:srgbClr val="A6E34A"/>
                </a:solidFill>
                <a:latin typeface="Consolas"/>
                <a:ea typeface="Consolas"/>
                <a:cs typeface="Consolas"/>
              </a:rPr>
              <a:t>DELIVERED</a:t>
            </a:r>
          </a:p>
        </p:txBody>
      </p:sp>
      <p:sp>
        <p:nvSpPr>
          <p:cNvPr id="32" name="activity-state-desc">
            <a:extLst xmlns:a="http://schemas.openxmlformats.org/drawingml/2006/main">
              <a:ext uri="{FF2B5EF4-FFF2-40B4-BE49-F238E27FC236}">
                <a16:creationId xmlns:a16="http://schemas.microsoft.com/office/drawing/2014/main" id="{5B6DF99C-A319-4074-B9F8-D489F7CD1BBE}"/>
              </a:ext>
            </a:extLst>
          </p:cNvPr>
          <p:cNvSpPr>
            <a:spLocks xmlns:a="http://schemas.openxmlformats.org/drawingml/2006/main" noGrp="1"/>
          </p:cNvSpPr>
          <p:nvPr/>
        </p:nvSpPr>
        <p:spPr>
          <a:xfrm xmlns:a="http://schemas.openxmlformats.org/drawingml/2006/main">
            <a:off x="742950" y="5429250"/>
            <a:ext cx="2933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Input submitted</a:t>
            </a:r>
          </a:p>
        </p:txBody>
      </p:sp>
      <p:sp>
        <p:nvSpPr>
          <p:cNvPr id="33" name="activity-thread">
            <a:extLst xmlns:a="http://schemas.openxmlformats.org/drawingml/2006/main">
              <a:ext uri="{FF2B5EF4-FFF2-40B4-BE49-F238E27FC236}">
                <a16:creationId xmlns:a16="http://schemas.microsoft.com/office/drawing/2014/main" id="{87187A85-2991-4213-9E6F-D9D9DDD05721}"/>
              </a:ext>
            </a:extLst>
          </p:cNvPr>
          <p:cNvSpPr>
            <a:spLocks xmlns:a="http://schemas.openxmlformats.org/drawingml/2006/main" noGrp="1"/>
          </p:cNvSpPr>
          <p:nvPr/>
        </p:nvSpPr>
        <p:spPr>
          <a:xfrm xmlns:a="http://schemas.openxmlformats.org/drawingml/2006/main">
            <a:off x="4362450" y="4905375"/>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75">
                <a:solidFill>
                  <a:srgbClr val="CBAAFF"/>
                </a:solidFill>
                <a:latin typeface="Consolas"/>
                <a:ea typeface="Consolas"/>
                <a:cs typeface="Consolas"/>
              </a:defRPr>
            </a:pPr>
            <a:r>
              <a:rPr sz="2175">
                <a:solidFill>
                  <a:srgbClr val="CBAAFF"/>
                </a:solidFill>
                <a:latin typeface="Consolas"/>
                <a:ea typeface="Consolas"/>
                <a:cs typeface="Consolas"/>
              </a:rPr>
              <a:t>thr_000001</a:t>
            </a:r>
          </a:p>
        </p:txBody>
      </p:sp>
      <p:sp>
        <p:nvSpPr>
          <p:cNvPr id="34" name="activity-thread-desc">
            <a:extLst xmlns:a="http://schemas.openxmlformats.org/drawingml/2006/main">
              <a:ext uri="{FF2B5EF4-FFF2-40B4-BE49-F238E27FC236}">
                <a16:creationId xmlns:a16="http://schemas.microsoft.com/office/drawing/2014/main" id="{82E0C946-AB66-469A-8E04-EE7CAC81865B}"/>
              </a:ext>
            </a:extLst>
          </p:cNvPr>
          <p:cNvSpPr>
            <a:spLocks xmlns:a="http://schemas.openxmlformats.org/drawingml/2006/main" noGrp="1"/>
          </p:cNvSpPr>
          <p:nvPr/>
        </p:nvSpPr>
        <p:spPr>
          <a:xfrm xmlns:a="http://schemas.openxmlformats.org/drawingml/2006/main">
            <a:off x="4362450" y="5429250"/>
            <a:ext cx="33242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One conversation route</a:t>
            </a:r>
          </a:p>
        </p:txBody>
      </p:sp>
      <p:sp>
        <p:nvSpPr>
          <p:cNvPr id="35" name="activity-ids">
            <a:extLst xmlns:a="http://schemas.openxmlformats.org/drawingml/2006/main">
              <a:ext uri="{FF2B5EF4-FFF2-40B4-BE49-F238E27FC236}">
                <a16:creationId xmlns:a16="http://schemas.microsoft.com/office/drawing/2014/main" id="{F99DEEFB-6819-498D-B6CB-37346A8E3D39}"/>
              </a:ext>
            </a:extLst>
          </p:cNvPr>
          <p:cNvSpPr>
            <a:spLocks xmlns:a="http://schemas.openxmlformats.org/drawingml/2006/main" noGrp="1"/>
          </p:cNvSpPr>
          <p:nvPr/>
        </p:nvSpPr>
        <p:spPr>
          <a:xfrm xmlns:a="http://schemas.openxmlformats.org/drawingml/2006/main">
            <a:off x="8401050" y="4905375"/>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6AE8CD"/>
                </a:solidFill>
                <a:latin typeface="Consolas"/>
                <a:ea typeface="Consolas"/>
                <a:cs typeface="Consolas"/>
              </a:defRPr>
            </a:pPr>
            <a:r>
              <a:rPr sz="2025">
                <a:solidFill>
                  <a:srgbClr val="6AE8CD"/>
                </a:solidFill>
                <a:latin typeface="Consolas"/>
                <a:ea typeface="Consolas"/>
                <a:cs typeface="Consolas"/>
              </a:rPr>
              <a:t>2 message IDs</a:t>
            </a:r>
          </a:p>
        </p:txBody>
      </p:sp>
      <p:sp>
        <p:nvSpPr>
          <p:cNvPr id="36" name="activity-ids-desc">
            <a:extLst xmlns:a="http://schemas.openxmlformats.org/drawingml/2006/main">
              <a:ext uri="{FF2B5EF4-FFF2-40B4-BE49-F238E27FC236}">
                <a16:creationId xmlns:a16="http://schemas.microsoft.com/office/drawing/2014/main" id="{C76C7D04-12D6-47A6-B685-933AB1C23F61}"/>
              </a:ext>
            </a:extLst>
          </p:cNvPr>
          <p:cNvSpPr>
            <a:spLocks xmlns:a="http://schemas.openxmlformats.org/drawingml/2006/main" noGrp="1"/>
          </p:cNvSpPr>
          <p:nvPr/>
        </p:nvSpPr>
        <p:spPr>
          <a:xfrm xmlns:a="http://schemas.openxmlformats.org/drawingml/2006/main">
            <a:off x="8401050" y="5429250"/>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75">
                <a:solidFill>
                  <a:srgbClr val="F9F8FD"/>
                </a:solidFill>
                <a:latin typeface="Switzer"/>
                <a:ea typeface="Switzer"/>
                <a:cs typeface="Switzer"/>
              </a:defRPr>
            </a:pPr>
            <a:r>
              <a:rPr sz="1875">
                <a:solidFill>
                  <a:srgbClr val="F9F8FD"/>
                </a:solidFill>
                <a:latin typeface="Switzer"/>
                <a:ea typeface="Switzer"/>
                <a:cs typeface="Switzer"/>
              </a:rPr>
              <a:t>Two distinct records</a:t>
            </a:r>
          </a:p>
        </p:txBody>
      </p:sp>
      <p:sp>
        <p:nvSpPr>
          <p:cNvPr id="37" name="activity-caption">
            <a:extLst xmlns:a="http://schemas.openxmlformats.org/drawingml/2006/main">
              <a:ext uri="{FF2B5EF4-FFF2-40B4-BE49-F238E27FC236}">
                <a16:creationId xmlns:a16="http://schemas.microsoft.com/office/drawing/2014/main" id="{5C3911C1-7B78-4581-9DE0-72AF330D24A0}"/>
              </a:ext>
            </a:extLst>
          </p:cNvPr>
          <p:cNvSpPr>
            <a:spLocks xmlns:a="http://schemas.openxmlformats.org/drawingml/2006/main" noGrp="1"/>
          </p:cNvSpPr>
          <p:nvPr/>
        </p:nvSpPr>
        <p:spPr>
          <a:xfrm xmlns:a="http://schemas.openxmlformats.org/drawingml/2006/main">
            <a:off x="742950" y="6038850"/>
            <a:ext cx="10639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75">
                <a:solidFill>
                  <a:srgbClr val="BCBBC2"/>
                </a:solidFill>
                <a:latin typeface="Switzer"/>
                <a:ea typeface="Switzer"/>
                <a:cs typeface="Switzer"/>
              </a:defRPr>
            </a:pPr>
            <a:r>
              <a:rPr sz="1275">
                <a:solidFill>
                  <a:srgbClr val="BCBBC2"/>
                </a:solidFill>
                <a:latin typeface="Switzer"/>
                <a:ea typeface="Switzer"/>
                <a:cs typeface="Switzer"/>
              </a:rPr>
              <a:t>Actual F12 capture (cropped) · offline demo · SEND/REPLY/BROADCAST only</a:t>
            </a:r>
          </a:p>
        </p:txBody>
      </p:sp>
    </p:spTree>
    <p:extLst>
      <p:ext uri="{BB962C8B-B14F-4D97-AF65-F5344CB8AC3E}">
        <p14:creationId xmlns:p14="http://schemas.microsoft.com/office/powerpoint/2010/main" val="1378249199"/>
      </p:ext>
    </p:extLst>
  </p:cSld>
</p:sld>
</file>

<file path=ppt/slides/slide15.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3991451-B81A-49B4-B835-CF17E877B73D}"/>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HUMAN CONTROL</a:t>
            </a:r>
          </a:p>
        </p:txBody>
      </p:sp>
      <p:sp>
        <p:nvSpPr>
          <p:cNvPr id="3" name="TextBox 2">
            <a:extLst xmlns:a="http://schemas.openxmlformats.org/drawingml/2006/main">
              <a:ext uri="{FF2B5EF4-FFF2-40B4-BE49-F238E27FC236}">
                <a16:creationId xmlns:a16="http://schemas.microsoft.com/office/drawing/2014/main" id="{246B13FF-8166-41AE-B4CA-B40CD656A696}"/>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A visible system must be interruptible.</a:t>
            </a:r>
          </a:p>
        </p:txBody>
      </p:sp>
      <p:sp>
        <p:nvSpPr>
          <p:cNvPr id="10" name="TextBox 9">
            <a:extLst xmlns:a="http://schemas.openxmlformats.org/drawingml/2006/main">
              <a:ext uri="{FF2B5EF4-FFF2-40B4-BE49-F238E27FC236}">
                <a16:creationId xmlns:a16="http://schemas.microsoft.com/office/drawing/2014/main" id="{4B58A23F-BC64-4A3C-A5EA-01ACFE4C4592}"/>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15/18</a:t>
            </a:r>
          </a:p>
        </p:txBody>
      </p:sp>
      <p:sp>
        <p:nvSpPr>
          <p:cNvPr id="11" name="Callstack accent rule">
            <a:extLst xmlns:a="http://schemas.openxmlformats.org/drawingml/2006/main">
              <a:ext uri="{FF2B5EF4-FFF2-40B4-BE49-F238E27FC236}">
                <a16:creationId xmlns:a16="http://schemas.microsoft.com/office/drawing/2014/main" id="{50797087-E4EB-46CA-8609-A11116CC17D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12" name="keyboard-input">
            <a:extLst xmlns:a="http://schemas.openxmlformats.org/drawingml/2006/main">
              <a:ext uri="{FF2B5EF4-FFF2-40B4-BE49-F238E27FC236}">
                <a16:creationId xmlns:a16="http://schemas.microsoft.com/office/drawing/2014/main" id="{747D4354-D207-4490-9A2D-43A4DC0E53BF}"/>
              </a:ext>
            </a:extLst>
          </p:cNvPr>
          <p:cNvSpPr>
            <a:spLocks xmlns:a="http://schemas.openxmlformats.org/drawingml/2006/main" noGrp="1"/>
          </p:cNvSpPr>
          <p:nvPr/>
        </p:nvSpPr>
        <p:spPr>
          <a:xfrm xmlns:a="http://schemas.openxmlformats.org/drawingml/2006/main">
            <a:off x="3143250" y="2886075"/>
            <a:ext cx="1638300" cy="114300"/>
          </a:xfrm>
          <a:prstGeom xmlns:a="http://schemas.openxmlformats.org/drawingml/2006/main" prst="rightArrow">
            <a:avLst/>
          </a:prstGeom>
          <a:solidFill xmlns:a="http://schemas.openxmlformats.org/drawingml/2006/main">
            <a:srgbClr val="CBAAFF"/>
          </a:solidFill>
          <a:ln xmlns:a="http://schemas.openxmlformats.org/drawingml/2006/main" w="0">
            <a:noFill/>
            <a:prstDash val="solid"/>
          </a:ln>
        </p:spPr>
      </p:sp>
      <p:sp>
        <p:nvSpPr>
          <p:cNvPr id="13" name="hardware-input">
            <a:extLst xmlns:a="http://schemas.openxmlformats.org/drawingml/2006/main">
              <a:ext uri="{FF2B5EF4-FFF2-40B4-BE49-F238E27FC236}">
                <a16:creationId xmlns:a16="http://schemas.microsoft.com/office/drawing/2014/main" id="{5068768B-6382-442B-A854-966F314A252F}"/>
              </a:ext>
            </a:extLst>
          </p:cNvPr>
          <p:cNvSpPr>
            <a:spLocks xmlns:a="http://schemas.openxmlformats.org/drawingml/2006/main" noGrp="1"/>
          </p:cNvSpPr>
          <p:nvPr/>
        </p:nvSpPr>
        <p:spPr>
          <a:xfrm xmlns:a="http://schemas.openxmlformats.org/drawingml/2006/main">
            <a:off x="3143250" y="4552950"/>
            <a:ext cx="16383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14" name="native-to-action">
            <a:extLst xmlns:a="http://schemas.openxmlformats.org/drawingml/2006/main">
              <a:ext uri="{FF2B5EF4-FFF2-40B4-BE49-F238E27FC236}">
                <a16:creationId xmlns:a16="http://schemas.microsoft.com/office/drawing/2014/main" id="{BF940798-864F-4AE3-B707-CEEB0243B0C3}"/>
              </a:ext>
            </a:extLst>
          </p:cNvPr>
          <p:cNvSpPr>
            <a:spLocks xmlns:a="http://schemas.openxmlformats.org/drawingml/2006/main" noGrp="1"/>
          </p:cNvSpPr>
          <p:nvPr/>
        </p:nvSpPr>
        <p:spPr>
          <a:xfrm xmlns:a="http://schemas.openxmlformats.org/drawingml/2006/main">
            <a:off x="6038850" y="3419475"/>
            <a:ext cx="114300" cy="628650"/>
          </a:xfrm>
          <a:prstGeom xmlns:a="http://schemas.openxmlformats.org/drawingml/2006/main" prst="upArrow">
            <a:avLst/>
          </a:prstGeom>
          <a:solidFill xmlns:a="http://schemas.openxmlformats.org/drawingml/2006/main">
            <a:srgbClr val="6AE8CD"/>
          </a:solidFill>
          <a:ln xmlns:a="http://schemas.openxmlformats.org/drawingml/2006/main" w="0">
            <a:noFill/>
            <a:prstDash val="solid"/>
          </a:ln>
        </p:spPr>
      </p:sp>
      <p:sp>
        <p:nvSpPr>
          <p:cNvPr id="15" name="action-to-terminal">
            <a:extLst xmlns:a="http://schemas.openxmlformats.org/drawingml/2006/main">
              <a:ext uri="{FF2B5EF4-FFF2-40B4-BE49-F238E27FC236}">
                <a16:creationId xmlns:a16="http://schemas.microsoft.com/office/drawing/2014/main" id="{4AF18D33-C9D3-42B5-843C-03CFDD30F24D}"/>
              </a:ext>
            </a:extLst>
          </p:cNvPr>
          <p:cNvSpPr>
            <a:spLocks xmlns:a="http://schemas.openxmlformats.org/drawingml/2006/main" noGrp="1"/>
          </p:cNvSpPr>
          <p:nvPr/>
        </p:nvSpPr>
        <p:spPr>
          <a:xfrm xmlns:a="http://schemas.openxmlformats.org/drawingml/2006/main">
            <a:off x="7419975" y="2886075"/>
            <a:ext cx="1257300" cy="114300"/>
          </a:xfrm>
          <a:prstGeom xmlns:a="http://schemas.openxmlformats.org/drawingml/2006/main" prst="rightArrow">
            <a:avLst/>
          </a:prstGeom>
          <a:solidFill xmlns:a="http://schemas.openxmlformats.org/drawingml/2006/main">
            <a:srgbClr val="6AE8CD"/>
          </a:solidFill>
          <a:ln xmlns:a="http://schemas.openxmlformats.org/drawingml/2006/main" w="0">
            <a:noFill/>
            <a:prstDash val="solid"/>
          </a:ln>
        </p:spPr>
      </p:sp>
      <p:sp>
        <p:nvSpPr>
          <p:cNvPr id="16" name="keyboard">
            <a:extLst xmlns:a="http://schemas.openxmlformats.org/drawingml/2006/main">
              <a:ext uri="{FF2B5EF4-FFF2-40B4-BE49-F238E27FC236}">
                <a16:creationId xmlns:a16="http://schemas.microsoft.com/office/drawing/2014/main" id="{53C4CDEA-F875-4960-AF10-4B097EB8472C}"/>
              </a:ext>
            </a:extLst>
          </p:cNvPr>
          <p:cNvSpPr>
            <a:spLocks xmlns:a="http://schemas.openxmlformats.org/drawingml/2006/main" noGrp="1"/>
          </p:cNvSpPr>
          <p:nvPr/>
        </p:nvSpPr>
        <p:spPr>
          <a:xfrm xmlns:a="http://schemas.openxmlformats.org/drawingml/2006/main">
            <a:off x="742950" y="2543175"/>
            <a:ext cx="2400300" cy="8763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Keyboard</a:t>
            </a:r>
          </a:p>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F11 · F12 · Ctrl+K</a:t>
            </a:r>
          </a:p>
        </p:txBody>
      </p:sp>
      <p:sp>
        <p:nvSpPr>
          <p:cNvPr id="17" name="micro">
            <a:extLst xmlns:a="http://schemas.openxmlformats.org/drawingml/2006/main">
              <a:ext uri="{FF2B5EF4-FFF2-40B4-BE49-F238E27FC236}">
                <a16:creationId xmlns:a16="http://schemas.microsoft.com/office/drawing/2014/main" id="{08A271C3-177D-49F5-96C3-A35EBCC91612}"/>
              </a:ext>
            </a:extLst>
          </p:cNvPr>
          <p:cNvSpPr>
            <a:spLocks xmlns:a="http://schemas.openxmlformats.org/drawingml/2006/main" noGrp="1"/>
          </p:cNvSpPr>
          <p:nvPr/>
        </p:nvSpPr>
        <p:spPr>
          <a:xfrm xmlns:a="http://schemas.openxmlformats.org/drawingml/2006/main">
            <a:off x="742950" y="4048125"/>
            <a:ext cx="2400300" cy="110490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Codex Micro</a:t>
            </a:r>
          </a:p>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optional USB control</a:t>
            </a:r>
          </a:p>
        </p:txBody>
      </p:sp>
      <p:sp>
        <p:nvSpPr>
          <p:cNvPr id="18" name="hid-guard">
            <a:extLst xmlns:a="http://schemas.openxmlformats.org/drawingml/2006/main">
              <a:ext uri="{FF2B5EF4-FFF2-40B4-BE49-F238E27FC236}">
                <a16:creationId xmlns:a16="http://schemas.microsoft.com/office/drawing/2014/main" id="{E8C2C676-DF9E-4CA0-BF17-5AF263EE1FB5}"/>
              </a:ext>
            </a:extLst>
          </p:cNvPr>
          <p:cNvSpPr>
            <a:spLocks xmlns:a="http://schemas.openxmlformats.org/drawingml/2006/main" noGrp="1"/>
          </p:cNvSpPr>
          <p:nvPr/>
        </p:nvSpPr>
        <p:spPr>
          <a:xfrm xmlns:a="http://schemas.openxmlformats.org/drawingml/2006/main">
            <a:off x="4800600" y="4048125"/>
            <a:ext cx="2628900" cy="1104900"/>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Native HID guard</a:t>
            </a:r>
          </a:p>
          <a:p xmlns:a="http://schemas.openxmlformats.org/drawingml/2006/main">
            <a:pPr algn="ctr">
              <a:buNone/>
              <a:defRPr sz="1950">
                <a:solidFill>
                  <a:srgbClr val="F9F8FD"/>
                </a:solidFill>
                <a:latin typeface="Switzer"/>
                <a:ea typeface="Switzer"/>
                <a:cs typeface="Switzer"/>
              </a:defRPr>
            </a:pPr>
            <a:r>
              <a:rPr sz="1950">
                <a:solidFill>
                  <a:srgbClr val="F9F8FD"/>
                </a:solidFill>
                <a:latin typeface="Switzer"/>
                <a:ea typeface="Switzer"/>
                <a:cs typeface="Switzer"/>
              </a:rPr>
              <a:t>sole-reader check</a:t>
            </a:r>
          </a:p>
        </p:txBody>
      </p:sp>
      <p:sp>
        <p:nvSpPr>
          <p:cNvPr id="19" name="command-actions">
            <a:extLst xmlns:a="http://schemas.openxmlformats.org/drawingml/2006/main">
              <a:ext uri="{FF2B5EF4-FFF2-40B4-BE49-F238E27FC236}">
                <a16:creationId xmlns:a16="http://schemas.microsoft.com/office/drawing/2014/main" id="{029CA804-16AB-4EB3-9544-F4418EE696CC}"/>
              </a:ext>
            </a:extLst>
          </p:cNvPr>
          <p:cNvSpPr>
            <a:spLocks xmlns:a="http://schemas.openxmlformats.org/drawingml/2006/main" noGrp="1"/>
          </p:cNvSpPr>
          <p:nvPr/>
        </p:nvSpPr>
        <p:spPr>
          <a:xfrm xmlns:a="http://schemas.openxmlformats.org/drawingml/2006/main">
            <a:off x="4800600" y="2543175"/>
            <a:ext cx="2628900" cy="876300"/>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Commander actions</a:t>
            </a:r>
          </a:p>
        </p:txBody>
      </p:sp>
      <p:sp>
        <p:nvSpPr>
          <p:cNvPr id="20" name="focused-session">
            <a:extLst xmlns:a="http://schemas.openxmlformats.org/drawingml/2006/main">
              <a:ext uri="{FF2B5EF4-FFF2-40B4-BE49-F238E27FC236}">
                <a16:creationId xmlns:a16="http://schemas.microsoft.com/office/drawing/2014/main" id="{0B45B1C2-BD0C-4312-A97B-EB2AE220F018}"/>
              </a:ext>
            </a:extLst>
          </p:cNvPr>
          <p:cNvSpPr>
            <a:spLocks xmlns:a="http://schemas.openxmlformats.org/drawingml/2006/main" noGrp="1"/>
          </p:cNvSpPr>
          <p:nvPr/>
        </p:nvSpPr>
        <p:spPr>
          <a:xfrm xmlns:a="http://schemas.openxmlformats.org/drawingml/2006/main">
            <a:off x="8686800" y="2428875"/>
            <a:ext cx="2705100" cy="1104900"/>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Focused session</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operator stays in control</a:t>
            </a:r>
          </a:p>
        </p:txBody>
      </p:sp>
      <p:sp>
        <p:nvSpPr>
          <p:cNvPr id="21" name="hardware-caveat">
            <a:extLst xmlns:a="http://schemas.openxmlformats.org/drawingml/2006/main">
              <a:ext uri="{FF2B5EF4-FFF2-40B4-BE49-F238E27FC236}">
                <a16:creationId xmlns:a16="http://schemas.microsoft.com/office/drawing/2014/main" id="{3BA052C2-0B05-4097-9057-2BD4E5471135}"/>
              </a:ext>
            </a:extLst>
          </p:cNvPr>
          <p:cNvSpPr>
            <a:spLocks xmlns:a="http://schemas.openxmlformats.org/drawingml/2006/main" noGrp="1"/>
          </p:cNvSpPr>
          <p:nvPr/>
        </p:nvSpPr>
        <p:spPr>
          <a:xfrm xmlns:a="http://schemas.openxmlformats.org/drawingml/2006/main">
            <a:off x="742950" y="549592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025">
                <a:solidFill>
                  <a:srgbClr val="FA7171"/>
                </a:solidFill>
                <a:latin typeface="Switzer"/>
                <a:ea typeface="Switzer"/>
                <a:cs typeface="Switzer"/>
              </a:defRPr>
            </a:pPr>
            <a:r>
              <a:rPr sz="2025">
                <a:solidFill>
                  <a:srgbClr val="FA7171"/>
                </a:solidFill>
                <a:latin typeface="Switzer"/>
                <a:ea typeface="Switzer"/>
                <a:cs typeface="Switzer"/>
              </a:rPr>
              <a:t>MICRO:BUSY → discard device input. Keep the keyboard ready.</a:t>
            </a:r>
          </a:p>
        </p:txBody>
      </p:sp>
      <p:sp>
        <p:nvSpPr>
          <p:cNvPr id="22" name="hardware-decisions">
            <a:extLst xmlns:a="http://schemas.openxmlformats.org/drawingml/2006/main">
              <a:ext uri="{FF2B5EF4-FFF2-40B4-BE49-F238E27FC236}">
                <a16:creationId xmlns:a16="http://schemas.microsoft.com/office/drawing/2014/main" id="{69BFFDB2-92F4-48C7-97FF-87453DEC52CE}"/>
              </a:ext>
            </a:extLst>
          </p:cNvPr>
          <p:cNvSpPr>
            <a:spLocks xmlns:a="http://schemas.openxmlformats.org/drawingml/2006/main" noGrp="1"/>
          </p:cNvSpPr>
          <p:nvPr/>
        </p:nvSpPr>
        <p:spPr>
          <a:xfrm xmlns:a="http://schemas.openxmlformats.org/drawingml/2006/main">
            <a:off x="742950" y="5991225"/>
            <a:ext cx="10668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BCBBC2"/>
                </a:solidFill>
                <a:latin typeface="Switzer"/>
                <a:ea typeface="Switzer"/>
                <a:cs typeface="Switzer"/>
              </a:defRPr>
            </a:pPr>
            <a:r>
              <a:rPr sz="1575">
                <a:solidFill>
                  <a:srgbClr val="BCBBC2"/>
                </a:solidFill>
                <a:latin typeface="Switzer"/>
                <a:ea typeface="Switzer"/>
                <a:cs typeface="Switzer"/>
              </a:rPr>
              <a:t>Approve / Reject remain off unless explicitly enabled. Not an OS-exclusive lock.</a:t>
            </a:r>
          </a:p>
        </p:txBody>
      </p:sp>
    </p:spTree>
    <p:extLst>
      <p:ext uri="{BB962C8B-B14F-4D97-AF65-F5344CB8AC3E}">
        <p14:creationId xmlns:p14="http://schemas.microsoft.com/office/powerpoint/2010/main" val="1360156686"/>
      </p:ext>
    </p:extLst>
  </p:cSld>
</p:sld>
</file>

<file path=ppt/slides/slide16.xml><?xml version="1.0" encoding="utf-8"?>
<p:sld xmlns:p="http://schemas.openxmlformats.org/presentationml/2006/main">
  <p:cSld>
    <p:bg>
      <p:bgPr>
        <a:solidFill xmlns:a="http://schemas.openxmlformats.org/drawingml/2006/main">
          <a:srgbClr val="201F2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7141995-C002-488C-8F2B-E515FB545E84}"/>
              </a:ext>
            </a:extLst>
          </p:cNvPr>
          <p:cNvSpPr>
            <a:spLocks xmlns:a="http://schemas.openxmlformats.org/drawingml/2006/main" noGrp="1"/>
          </p:cNvSpPr>
          <p:nvPr/>
        </p:nvSpPr>
        <p:spPr>
          <a:xfrm xmlns:a="http://schemas.openxmlformats.org/drawingml/2006/main">
            <a:off x="731520" y="409575"/>
            <a:ext cx="10820400" cy="3333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200" b="1">
                <a:solidFill>
                  <a:srgbClr val="CBAAFF"/>
                </a:solidFill>
                <a:latin typeface="Consolas"/>
                <a:ea typeface="Consolas"/>
                <a:cs typeface="Consolas"/>
              </a:defRPr>
            </a:pPr>
            <a:r>
              <a:rPr sz="1200" b="1">
                <a:solidFill>
                  <a:srgbClr val="CBAAFF"/>
                </a:solidFill>
                <a:latin typeface="Consolas"/>
                <a:ea typeface="Consolas"/>
                <a:cs typeface="Consolas"/>
              </a:rPr>
              <a:t>RECOVERY</a:t>
            </a:r>
          </a:p>
        </p:txBody>
      </p:sp>
      <p:sp>
        <p:nvSpPr>
          <p:cNvPr id="3" name="TextBox 2">
            <a:extLst xmlns:a="http://schemas.openxmlformats.org/drawingml/2006/main">
              <a:ext uri="{FF2B5EF4-FFF2-40B4-BE49-F238E27FC236}">
                <a16:creationId xmlns:a16="http://schemas.microsoft.com/office/drawing/2014/main" id="{A126BAEC-F6D3-4875-A4AC-25DD6C136B70}"/>
              </a:ext>
            </a:extLst>
          </p:cNvPr>
          <p:cNvSpPr>
            <a:spLocks xmlns:a="http://schemas.openxmlformats.org/drawingml/2006/main" noGrp="1"/>
          </p:cNvSpPr>
          <p:nvPr/>
        </p:nvSpPr>
        <p:spPr>
          <a:xfrm xmlns:a="http://schemas.openxmlformats.org/drawingml/2006/main">
            <a:off x="731520" y="914400"/>
            <a:ext cx="10820400" cy="7048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300" b="0">
                <a:solidFill>
                  <a:srgbClr val="F9F8FD"/>
                </a:solidFill>
                <a:latin typeface="Alliance No.2"/>
                <a:ea typeface="Alliance No.2"/>
                <a:cs typeface="Alliance No.2"/>
              </a:defRPr>
            </a:pPr>
            <a:r>
              <a:rPr sz="3300" b="0">
                <a:solidFill>
                  <a:srgbClr val="F9F8FD"/>
                </a:solidFill>
                <a:latin typeface="Alliance No.2"/>
                <a:ea typeface="Alliance No.2"/>
                <a:cs typeface="Alliance No.2"/>
              </a:rPr>
              <a:t>When the live path fails, fail visibly.</a:t>
            </a:r>
          </a:p>
        </p:txBody>
      </p:sp>
      <p:sp>
        <p:nvSpPr>
          <p:cNvPr id="49" name="TextBox 48">
            <a:extLst xmlns:a="http://schemas.openxmlformats.org/drawingml/2006/main">
              <a:ext uri="{FF2B5EF4-FFF2-40B4-BE49-F238E27FC236}">
                <a16:creationId xmlns:a16="http://schemas.microsoft.com/office/drawing/2014/main" id="{55083C4D-8CCA-4EA1-B774-DBE100BF8F62}"/>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16/18</a:t>
            </a:r>
          </a:p>
        </p:txBody>
      </p:sp>
      <p:sp>
        <p:nvSpPr>
          <p:cNvPr id="50" name="Callstack accent rule">
            <a:extLst xmlns:a="http://schemas.openxmlformats.org/drawingml/2006/main">
              <a:ext uri="{FF2B5EF4-FFF2-40B4-BE49-F238E27FC236}">
                <a16:creationId xmlns:a16="http://schemas.microsoft.com/office/drawing/2014/main" id="{B8DAE6AA-7B94-4D91-9F2C-8316CB9480F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8232FF"/>
          </a:solidFill>
          <a:ln xmlns:a="http://schemas.openxmlformats.org/drawingml/2006/main" w="2381">
            <a:solidFill>
              <a:srgbClr val="8232FF"/>
            </a:solidFill>
            <a:prstDash val="solid"/>
          </a:ln>
        </p:spPr>
      </p:sp>
      <p:sp>
        <p:nvSpPr>
          <p:cNvPr id="51" name="failure-to-inspect">
            <a:extLst xmlns:a="http://schemas.openxmlformats.org/drawingml/2006/main">
              <a:ext uri="{FF2B5EF4-FFF2-40B4-BE49-F238E27FC236}">
                <a16:creationId xmlns:a16="http://schemas.microsoft.com/office/drawing/2014/main" id="{37B4DE86-BAFC-47E3-A180-5D28777BD051}"/>
              </a:ext>
            </a:extLst>
          </p:cNvPr>
          <p:cNvSpPr>
            <a:spLocks xmlns:a="http://schemas.openxmlformats.org/drawingml/2006/main" noGrp="1"/>
          </p:cNvSpPr>
          <p:nvPr/>
        </p:nvSpPr>
        <p:spPr>
          <a:xfrm xmlns:a="http://schemas.openxmlformats.org/drawingml/2006/main">
            <a:off x="3305175" y="2619375"/>
            <a:ext cx="914400" cy="114300"/>
          </a:xfrm>
          <a:prstGeom xmlns:a="http://schemas.openxmlformats.org/drawingml/2006/main" prst="rightArrow">
            <a:avLst/>
          </a:prstGeom>
          <a:solidFill xmlns:a="http://schemas.openxmlformats.org/drawingml/2006/main">
            <a:srgbClr val="FA7171"/>
          </a:solidFill>
          <a:ln xmlns:a="http://schemas.openxmlformats.org/drawingml/2006/main" w="0">
            <a:noFill/>
            <a:prstDash val="solid"/>
          </a:ln>
        </p:spPr>
      </p:sp>
      <p:sp>
        <p:nvSpPr>
          <p:cNvPr id="52" name="inspect-to-stop">
            <a:extLst xmlns:a="http://schemas.openxmlformats.org/drawingml/2006/main">
              <a:ext uri="{FF2B5EF4-FFF2-40B4-BE49-F238E27FC236}">
                <a16:creationId xmlns:a16="http://schemas.microsoft.com/office/drawing/2014/main" id="{0019A343-DF29-4FA6-AF38-CF63FE974687}"/>
              </a:ext>
            </a:extLst>
          </p:cNvPr>
          <p:cNvSpPr>
            <a:spLocks xmlns:a="http://schemas.openxmlformats.org/drawingml/2006/main" noGrp="1"/>
          </p:cNvSpPr>
          <p:nvPr/>
        </p:nvSpPr>
        <p:spPr>
          <a:xfrm xmlns:a="http://schemas.openxmlformats.org/drawingml/2006/main">
            <a:off x="7439025" y="2619375"/>
            <a:ext cx="952500" cy="114300"/>
          </a:xfrm>
          <a:prstGeom xmlns:a="http://schemas.openxmlformats.org/drawingml/2006/main" prst="rightArrow">
            <a:avLst/>
          </a:prstGeom>
          <a:solidFill xmlns:a="http://schemas.openxmlformats.org/drawingml/2006/main">
            <a:srgbClr val="FA7171"/>
          </a:solidFill>
          <a:ln xmlns:a="http://schemas.openxmlformats.org/drawingml/2006/main" w="0">
            <a:noFill/>
            <a:prstDash val="solid"/>
          </a:ln>
        </p:spPr>
      </p:sp>
      <p:sp>
        <p:nvSpPr>
          <p:cNvPr id="53" name="inspect-down">
            <a:extLst xmlns:a="http://schemas.openxmlformats.org/drawingml/2006/main">
              <a:ext uri="{FF2B5EF4-FFF2-40B4-BE49-F238E27FC236}">
                <a16:creationId xmlns:a16="http://schemas.microsoft.com/office/drawing/2014/main" id="{64BD1F4A-3F60-4548-A17A-EAA954F5DCD0}"/>
              </a:ext>
            </a:extLst>
          </p:cNvPr>
          <p:cNvSpPr>
            <a:spLocks xmlns:a="http://schemas.openxmlformats.org/drawingml/2006/main" noGrp="1"/>
          </p:cNvSpPr>
          <p:nvPr/>
        </p:nvSpPr>
        <p:spPr>
          <a:xfrm xmlns:a="http://schemas.openxmlformats.org/drawingml/2006/main">
            <a:off x="5762625" y="3314700"/>
            <a:ext cx="114300" cy="628650"/>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54" name="recover-fan">
            <a:extLst xmlns:a="http://schemas.openxmlformats.org/drawingml/2006/main">
              <a:ext uri="{FF2B5EF4-FFF2-40B4-BE49-F238E27FC236}">
                <a16:creationId xmlns:a16="http://schemas.microsoft.com/office/drawing/2014/main" id="{928E7022-237A-4415-97C7-BEDF401E7341}"/>
              </a:ext>
            </a:extLst>
          </p:cNvPr>
          <p:cNvSpPr>
            <a:spLocks xmlns:a="http://schemas.openxmlformats.org/drawingml/2006/main" noGrp="1"/>
          </p:cNvSpPr>
          <p:nvPr/>
        </p:nvSpPr>
        <p:spPr>
          <a:xfrm xmlns:a="http://schemas.openxmlformats.org/drawingml/2006/main">
            <a:off x="2038350" y="3943350"/>
            <a:ext cx="7991475" cy="0"/>
          </a:xfrm>
          <a:prstGeom xmlns:a="http://schemas.openxmlformats.org/drawingml/2006/main" prst="line">
            <a:avLst/>
          </a:prstGeom>
          <a:noFill xmlns:a="http://schemas.openxmlformats.org/drawingml/2006/main"/>
          <a:ln xmlns:a="http://schemas.openxmlformats.org/drawingml/2006/main" w="16193">
            <a:solidFill>
              <a:srgbClr val="CBAAFF"/>
            </a:solidFill>
            <a:prstDash val="solid"/>
          </a:ln>
        </p:spPr>
      </p:sp>
      <p:sp>
        <p:nvSpPr>
          <p:cNvPr id="55" name="offline-down">
            <a:extLst xmlns:a="http://schemas.openxmlformats.org/drawingml/2006/main">
              <a:ext uri="{FF2B5EF4-FFF2-40B4-BE49-F238E27FC236}">
                <a16:creationId xmlns:a16="http://schemas.microsoft.com/office/drawing/2014/main" id="{43DB659E-03D7-4FA4-96DE-1DF88C16B927}"/>
              </a:ext>
            </a:extLst>
          </p:cNvPr>
          <p:cNvSpPr>
            <a:spLocks xmlns:a="http://schemas.openxmlformats.org/drawingml/2006/main" noGrp="1"/>
          </p:cNvSpPr>
          <p:nvPr/>
        </p:nvSpPr>
        <p:spPr>
          <a:xfrm xmlns:a="http://schemas.openxmlformats.org/drawingml/2006/main">
            <a:off x="1981200" y="3943350"/>
            <a:ext cx="114300" cy="352425"/>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56" name="narrate-down">
            <a:extLst xmlns:a="http://schemas.openxmlformats.org/drawingml/2006/main">
              <a:ext uri="{FF2B5EF4-FFF2-40B4-BE49-F238E27FC236}">
                <a16:creationId xmlns:a16="http://schemas.microsoft.com/office/drawing/2014/main" id="{03A7CBDA-32BC-4878-8E01-DAA16BF72BDF}"/>
              </a:ext>
            </a:extLst>
          </p:cNvPr>
          <p:cNvSpPr>
            <a:spLocks xmlns:a="http://schemas.openxmlformats.org/drawingml/2006/main" noGrp="1"/>
          </p:cNvSpPr>
          <p:nvPr/>
        </p:nvSpPr>
        <p:spPr>
          <a:xfrm xmlns:a="http://schemas.openxmlformats.org/drawingml/2006/main">
            <a:off x="6000750" y="3943350"/>
            <a:ext cx="114300" cy="352425"/>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57" name="keyboard-down">
            <a:extLst xmlns:a="http://schemas.openxmlformats.org/drawingml/2006/main">
              <a:ext uri="{FF2B5EF4-FFF2-40B4-BE49-F238E27FC236}">
                <a16:creationId xmlns:a16="http://schemas.microsoft.com/office/drawing/2014/main" id="{5CF2BDCE-E480-4A8F-8139-C34F846C099A}"/>
              </a:ext>
            </a:extLst>
          </p:cNvPr>
          <p:cNvSpPr>
            <a:spLocks xmlns:a="http://schemas.openxmlformats.org/drawingml/2006/main" noGrp="1"/>
          </p:cNvSpPr>
          <p:nvPr/>
        </p:nvSpPr>
        <p:spPr>
          <a:xfrm xmlns:a="http://schemas.openxmlformats.org/drawingml/2006/main">
            <a:off x="9972675" y="3943350"/>
            <a:ext cx="114300" cy="352425"/>
          </a:xfrm>
          <a:prstGeom xmlns:a="http://schemas.openxmlformats.org/drawingml/2006/main" prst="downArrow">
            <a:avLst/>
          </a:prstGeom>
          <a:solidFill xmlns:a="http://schemas.openxmlformats.org/drawingml/2006/main">
            <a:srgbClr val="CBAAFF"/>
          </a:solidFill>
          <a:ln xmlns:a="http://schemas.openxmlformats.org/drawingml/2006/main" w="0">
            <a:noFill/>
            <a:prstDash val="solid"/>
          </a:ln>
        </p:spPr>
      </p:sp>
      <p:sp>
        <p:nvSpPr>
          <p:cNvPr id="58" name="failure">
            <a:extLst xmlns:a="http://schemas.openxmlformats.org/drawingml/2006/main">
              <a:ext uri="{FF2B5EF4-FFF2-40B4-BE49-F238E27FC236}">
                <a16:creationId xmlns:a16="http://schemas.microsoft.com/office/drawing/2014/main" id="{6D1BC9D9-6CFC-4322-B37C-5587722994FD}"/>
              </a:ext>
            </a:extLst>
          </p:cNvPr>
          <p:cNvSpPr>
            <a:spLocks xmlns:a="http://schemas.openxmlformats.org/drawingml/2006/main" noGrp="1"/>
          </p:cNvSpPr>
          <p:nvPr/>
        </p:nvSpPr>
        <p:spPr>
          <a:xfrm xmlns:a="http://schemas.openxmlformats.org/drawingml/2006/main">
            <a:off x="742950" y="2181225"/>
            <a:ext cx="2562225"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FA7171"/>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45 s / auth / provider</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or routing failure</a:t>
            </a:r>
          </a:p>
        </p:txBody>
      </p:sp>
      <p:sp>
        <p:nvSpPr>
          <p:cNvPr id="59" name="inspect">
            <a:extLst xmlns:a="http://schemas.openxmlformats.org/drawingml/2006/main">
              <a:ext uri="{FF2B5EF4-FFF2-40B4-BE49-F238E27FC236}">
                <a16:creationId xmlns:a16="http://schemas.microsoft.com/office/drawing/2014/main" id="{DF6A3EE9-1812-4634-BABD-FA0AB50B9F80}"/>
              </a:ext>
            </a:extLst>
          </p:cNvPr>
          <p:cNvSpPr>
            <a:spLocks xmlns:a="http://schemas.openxmlformats.org/drawingml/2006/main" noGrp="1"/>
          </p:cNvSpPr>
          <p:nvPr/>
        </p:nvSpPr>
        <p:spPr>
          <a:xfrm xmlns:a="http://schemas.openxmlformats.org/drawingml/2006/main">
            <a:off x="4219575" y="2181225"/>
            <a:ext cx="3219450" cy="113347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Open F12 once</a:t>
            </a:r>
          </a:p>
          <a:p xmlns:a="http://schemas.openxmlformats.org/drawingml/2006/main">
            <a:pPr algn="ctr">
              <a:buNone/>
              <a:defRPr sz="1875">
                <a:solidFill>
                  <a:srgbClr val="F9F8FD"/>
                </a:solidFill>
                <a:latin typeface="Switzer"/>
                <a:ea typeface="Switzer"/>
                <a:cs typeface="Switzer"/>
              </a:defRPr>
            </a:pPr>
            <a:r>
              <a:rPr sz="1875">
                <a:solidFill>
                  <a:srgbClr val="F9F8FD"/>
                </a:solidFill>
                <a:latin typeface="Switzer"/>
                <a:ea typeface="Switzer"/>
                <a:cs typeface="Switzer"/>
              </a:rPr>
              <a:t>name the visible failure</a:t>
            </a:r>
          </a:p>
        </p:txBody>
      </p:sp>
      <p:sp>
        <p:nvSpPr>
          <p:cNvPr id="60" name="stop-waiting">
            <a:extLst xmlns:a="http://schemas.openxmlformats.org/drawingml/2006/main">
              <a:ext uri="{FF2B5EF4-FFF2-40B4-BE49-F238E27FC236}">
                <a16:creationId xmlns:a16="http://schemas.microsoft.com/office/drawing/2014/main" id="{DA932C89-D663-4F66-BB62-0B1F7F307358}"/>
              </a:ext>
            </a:extLst>
          </p:cNvPr>
          <p:cNvSpPr>
            <a:spLocks xmlns:a="http://schemas.openxmlformats.org/drawingml/2006/main" noGrp="1"/>
          </p:cNvSpPr>
          <p:nvPr/>
        </p:nvSpPr>
        <p:spPr>
          <a:xfrm xmlns:a="http://schemas.openxmlformats.org/drawingml/2006/main">
            <a:off x="8391525" y="2181225"/>
            <a:ext cx="3000375"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FA7171"/>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Stop waiting</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no on-stage debugging</a:t>
            </a:r>
          </a:p>
        </p:txBody>
      </p:sp>
      <p:sp>
        <p:nvSpPr>
          <p:cNvPr id="61" name="offline-path">
            <a:extLst xmlns:a="http://schemas.openxmlformats.org/drawingml/2006/main">
              <a:ext uri="{FF2B5EF4-FFF2-40B4-BE49-F238E27FC236}">
                <a16:creationId xmlns:a16="http://schemas.microsoft.com/office/drawing/2014/main" id="{B3CCA4E9-6A0B-4645-B12B-37757B0D71BA}"/>
              </a:ext>
            </a:extLst>
          </p:cNvPr>
          <p:cNvSpPr>
            <a:spLocks xmlns:a="http://schemas.openxmlformats.org/drawingml/2006/main" noGrp="1"/>
          </p:cNvSpPr>
          <p:nvPr/>
        </p:nvSpPr>
        <p:spPr>
          <a:xfrm xmlns:a="http://schemas.openxmlformats.org/drawingml/2006/main">
            <a:off x="742950" y="4314825"/>
            <a:ext cx="2609850"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72C6F9"/>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Live CLI unavailable?</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Run offline --demo</a:t>
            </a:r>
          </a:p>
        </p:txBody>
      </p:sp>
      <p:sp>
        <p:nvSpPr>
          <p:cNvPr id="62" name="prepared-path">
            <a:extLst xmlns:a="http://schemas.openxmlformats.org/drawingml/2006/main">
              <a:ext uri="{FF2B5EF4-FFF2-40B4-BE49-F238E27FC236}">
                <a16:creationId xmlns:a16="http://schemas.microsoft.com/office/drawing/2014/main" id="{C4F0B36D-BF88-4D96-A013-6AFB5E9F912E}"/>
              </a:ext>
            </a:extLst>
          </p:cNvPr>
          <p:cNvSpPr>
            <a:spLocks xmlns:a="http://schemas.openxmlformats.org/drawingml/2006/main" noGrp="1"/>
          </p:cNvSpPr>
          <p:nvPr/>
        </p:nvSpPr>
        <p:spPr>
          <a:xfrm xmlns:a="http://schemas.openxmlformats.org/drawingml/2006/main">
            <a:off x="4524375" y="4314825"/>
            <a:ext cx="3067050"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CBAAFF"/>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Reasoning unavailable?</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Narrate </a:t>
            </a:r>
            <a:r>
              <a:rPr sz="1800">
                <a:solidFill>
                  <a:srgbClr val="F9F8FD"/>
                </a:solidFill>
                <a:latin typeface="Switzer"/>
                <a:ea typeface="Switzer"/>
                <a:cs typeface="Switzer"/>
              </a:rPr>
              <a:t>slide 13</a:t>
            </a:r>
          </a:p>
        </p:txBody>
      </p:sp>
      <p:sp>
        <p:nvSpPr>
          <p:cNvPr id="63" name="keyboard-path">
            <a:extLst xmlns:a="http://schemas.openxmlformats.org/drawingml/2006/main">
              <a:ext uri="{FF2B5EF4-FFF2-40B4-BE49-F238E27FC236}">
                <a16:creationId xmlns:a16="http://schemas.microsoft.com/office/drawing/2014/main" id="{26C62776-26C2-4A7E-95CE-C83AF410BF1B}"/>
              </a:ext>
            </a:extLst>
          </p:cNvPr>
          <p:cNvSpPr>
            <a:spLocks xmlns:a="http://schemas.openxmlformats.org/drawingml/2006/main" noGrp="1"/>
          </p:cNvSpPr>
          <p:nvPr/>
        </p:nvSpPr>
        <p:spPr>
          <a:xfrm xmlns:a="http://schemas.openxmlformats.org/drawingml/2006/main">
            <a:off x="8677275" y="4314825"/>
            <a:ext cx="2714625" cy="1057275"/>
          </a:xfrm>
          <a:prstGeom xmlns:a="http://schemas.openxmlformats.org/drawingml/2006/main" prst="rect">
            <a:avLst/>
          </a:prstGeom>
          <a:solidFill xmlns:a="http://schemas.openxmlformats.org/drawingml/2006/main">
            <a:srgbClr val="27262B"/>
          </a:solidFill>
          <a:ln xmlns:a="http://schemas.openxmlformats.org/drawingml/2006/main" w="13335">
            <a:solidFill>
              <a:srgbClr val="6AE8CD"/>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Hardware unavailable?</a:t>
            </a:r>
          </a:p>
          <a:p xmlns:a="http://schemas.openxmlformats.org/drawingml/2006/main">
            <a:pPr algn="ctr">
              <a:buNone/>
              <a:defRPr sz="1800">
                <a:solidFill>
                  <a:srgbClr val="F9F8FD"/>
                </a:solidFill>
                <a:latin typeface="Switzer"/>
                <a:ea typeface="Switzer"/>
                <a:cs typeface="Switzer"/>
              </a:defRPr>
            </a:pPr>
            <a:r>
              <a:rPr sz="1800">
                <a:solidFill>
                  <a:srgbClr val="F9F8FD"/>
                </a:solidFill>
                <a:latin typeface="Switzer"/>
                <a:ea typeface="Switzer"/>
                <a:cs typeface="Switzer"/>
              </a:rPr>
              <a:t>Use the keyboard</a:t>
            </a:r>
          </a:p>
        </p:txBody>
      </p:sp>
      <p:sp>
        <p:nvSpPr>
          <p:cNvPr id="64" name="recover-principle">
            <a:extLst xmlns:a="http://schemas.openxmlformats.org/drawingml/2006/main">
              <a:ext uri="{FF2B5EF4-FFF2-40B4-BE49-F238E27FC236}">
                <a16:creationId xmlns:a16="http://schemas.microsoft.com/office/drawing/2014/main" id="{BBEFF408-2B7A-4D46-8EF3-58DC60C602BF}"/>
              </a:ext>
            </a:extLst>
          </p:cNvPr>
          <p:cNvSpPr>
            <a:spLocks xmlns:a="http://schemas.openxmlformats.org/drawingml/2006/main" noGrp="1"/>
          </p:cNvSpPr>
          <p:nvPr/>
        </p:nvSpPr>
        <p:spPr>
          <a:xfrm xmlns:a="http://schemas.openxmlformats.org/drawingml/2006/main">
            <a:off x="742950" y="57721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400">
                <a:solidFill>
                  <a:srgbClr val="A6E34A"/>
                </a:solidFill>
                <a:latin typeface="Alliance No.2"/>
                <a:ea typeface="Alliance No.2"/>
                <a:cs typeface="Alliance No.2"/>
              </a:defRPr>
            </a:pPr>
            <a:r>
              <a:rPr sz="2400">
                <a:solidFill>
                  <a:srgbClr val="A6E34A"/>
                </a:solidFill>
                <a:latin typeface="Alliance No.2"/>
                <a:ea typeface="Alliance No.2"/>
                <a:cs typeface="Alliance No.2"/>
              </a:rPr>
              <a:t>Keep the explanation running—even when one dependency is not.</a:t>
            </a:r>
          </a:p>
        </p:txBody>
      </p:sp>
    </p:spTree>
    <p:extLst>
      <p:ext uri="{BB962C8B-B14F-4D97-AF65-F5344CB8AC3E}">
        <p14:creationId xmlns:p14="http://schemas.microsoft.com/office/powerpoint/2010/main" val="107637514"/>
      </p:ext>
    </p:extLst>
  </p:cSld>
</p:sld>
</file>

<file path=ppt/slides/slide17.xml><?xml version="1.0" encoding="utf-8"?>
<p:sld xmlns:p="http://schemas.openxmlformats.org/presentationml/2006/main">
  <p:cSld>
    <p:bg>
      <p:bgPr>
        <a:gradFill xmlns:a="http://schemas.openxmlformats.org/drawingml/2006/main">
          <a:gsLst>
            <a:gs pos="0">
              <a:srgbClr val="201F24"/>
            </a:gs>
            <a:gs pos="44000">
              <a:srgbClr val="201F24"/>
            </a:gs>
            <a:gs pos="76000">
              <a:srgbClr val="35106F"/>
            </a:gs>
            <a:gs pos="100000">
              <a:srgbClr val="8232FF"/>
            </a:gs>
          </a:gsLst>
          <a:lin ang="6480000"/>
        </a:gradFill>
      </p:bgPr>
    </p:bg>
    <p:spTree>
      <p:nvGrpSpPr>
        <p:cNvPr id="1" name=""/>
        <p:cNvGrpSpPr/>
        <p:nvPr/>
      </p:nvGrpSpPr>
      <p:grpSpPr>
        <a:xfrm xmlns:a="http://schemas.openxmlformats.org/drawingml/2006/main"/>
      </p:grpSpPr>
      <p:pic>
        <p:nvPicPr>
          <p:cNvPr id="16" name="Picture 1"/>
          <p:cNvPicPr>
            <a:picLocks xmlns:a="http://schemas.openxmlformats.org/drawingml/2006/main" noChangeAspect="1"/>
          </p:cNvPicPr>
          <p:nvPr/>
        </p:nvPicPr>
        <p:blipFill>
          <a:blip xmlns:r="http://schemas.openxmlformats.org/officeDocument/2006/relationships" xmlns:a="http://schemas.openxmlformats.org/drawingml/2006/main" r:embed="Rcb09bf3a203c454e"/>
          <a:stretch xmlns:a="http://schemas.openxmlformats.org/drawingml/2006/main"/>
        </p:blipFill>
        <p:spPr>
          <a:xfrm xmlns:a="http://schemas.openxmlformats.org/drawingml/2006/main">
            <a:off x="9953625" y="800100"/>
            <a:ext cx="1143000" cy="114300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E2B571C4-D7DA-454D-A508-7DF7C4FC585C}"/>
              </a:ext>
            </a:extLst>
          </p:cNvPr>
          <p:cNvSpPr>
            <a:spLocks xmlns:a="http://schemas.openxmlformats.org/drawingml/2006/main" noGrp="1"/>
          </p:cNvSpPr>
          <p:nvPr/>
        </p:nvSpPr>
        <p:spPr>
          <a:xfrm xmlns:a="http://schemas.openxmlformats.org/drawingml/2006/main">
            <a:off x="742950" y="1933575"/>
            <a:ext cx="10477500" cy="7524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0">
                <a:solidFill>
                  <a:srgbClr val="F9F8FD"/>
                </a:solidFill>
                <a:latin typeface="Alliance No.2"/>
                <a:ea typeface="Alliance No.2"/>
                <a:cs typeface="Alliance No.2"/>
              </a:defRPr>
            </a:pPr>
            <a:r>
              <a:rPr sz="3600" b="0">
                <a:solidFill>
                  <a:srgbClr val="F9F8FD"/>
                </a:solidFill>
                <a:latin typeface="Alliance No.2"/>
                <a:ea typeface="Alliance No.2"/>
                <a:cs typeface="Alliance No.2"/>
              </a:rPr>
              <a:t>Try the public npm package.</a:t>
            </a:r>
          </a:p>
        </p:txBody>
      </p:sp>
      <p:sp>
        <p:nvSpPr>
          <p:cNvPr id="4" name="TextBox 3">
            <a:extLst xmlns:a="http://schemas.openxmlformats.org/drawingml/2006/main">
              <a:ext uri="{FF2B5EF4-FFF2-40B4-BE49-F238E27FC236}">
                <a16:creationId xmlns:a16="http://schemas.microsoft.com/office/drawing/2014/main" id="{62C4EF88-ADA2-4A0A-AD75-4FC5C49C79CD}"/>
              </a:ext>
            </a:extLst>
          </p:cNvPr>
          <p:cNvSpPr>
            <a:spLocks xmlns:a="http://schemas.openxmlformats.org/drawingml/2006/main" noGrp="1"/>
          </p:cNvSpPr>
          <p:nvPr/>
        </p:nvSpPr>
        <p:spPr>
          <a:xfrm xmlns:a="http://schemas.openxmlformats.org/drawingml/2006/main">
            <a:off x="742950" y="2800350"/>
            <a:ext cx="10610850" cy="46672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250" b="0">
                <a:solidFill>
                  <a:srgbClr val="CBAAFF"/>
                </a:solidFill>
                <a:latin typeface="Consolas"/>
                <a:ea typeface="Consolas"/>
                <a:cs typeface="Consolas"/>
              </a:defRPr>
            </a:pPr>
            <a:r>
              <a:rPr sz="2250" b="0">
                <a:solidFill>
                  <a:srgbClr val="CBAAFF"/>
                </a:solidFill>
                <a:latin typeface="Consolas"/>
                <a:ea typeface="Consolas"/>
                <a:cs typeface="Consolas"/>
              </a:rPr>
              <a:t>agents-commander · latest 0.1.4</a:t>
            </a:r>
          </a:p>
        </p:txBody>
      </p:sp>
      <p:sp>
        <p:nvSpPr>
          <p:cNvPr id="5" name="Rounded Rectangle 4">
            <a:extLst xmlns:a="http://schemas.openxmlformats.org/drawingml/2006/main">
              <a:ext uri="{FF2B5EF4-FFF2-40B4-BE49-F238E27FC236}">
                <a16:creationId xmlns:a16="http://schemas.microsoft.com/office/drawing/2014/main" id="{68646C1F-A196-4BB4-8193-DFF566382DC4}"/>
              </a:ext>
            </a:extLst>
          </p:cNvPr>
          <p:cNvSpPr>
            <a:spLocks xmlns:a="http://schemas.openxmlformats.org/drawingml/2006/main" noGrp="1"/>
          </p:cNvSpPr>
          <p:nvPr/>
        </p:nvSpPr>
        <p:spPr>
          <a:xfrm xmlns:a="http://schemas.openxmlformats.org/drawingml/2006/main">
            <a:off x="742950" y="3476625"/>
            <a:ext cx="10629900" cy="962025"/>
          </a:xfrm>
          <a:prstGeom xmlns:a="http://schemas.openxmlformats.org/drawingml/2006/main" prst="roundRect">
            <a:avLst>
              <a:gd name="adj" fmla="val 4630"/>
            </a:avLst>
          </a:prstGeom>
          <a:noFill xmlns:a="http://schemas.openxmlformats.org/drawingml/2006/main"/>
          <a:ln xmlns:a="http://schemas.openxmlformats.org/drawingml/2006/main" w="9525">
            <a:solidFill>
              <a:srgbClr val="CBAAFF"/>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ED7D471-F0C7-46DB-A417-EDEB97E79E41}"/>
              </a:ext>
            </a:extLst>
          </p:cNvPr>
          <p:cNvSpPr>
            <a:spLocks xmlns:a="http://schemas.openxmlformats.org/drawingml/2006/main" noGrp="1"/>
          </p:cNvSpPr>
          <p:nvPr/>
        </p:nvSpPr>
        <p:spPr>
          <a:xfrm xmlns:a="http://schemas.openxmlformats.org/drawingml/2006/main">
            <a:off x="990600" y="3705225"/>
            <a:ext cx="10163175" cy="53340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spcAft>
                <a:spcPts val="400"/>
              </a:spcAft>
              <a:buNone/>
              <a:defRPr sz="2550" b="0">
                <a:solidFill>
                  <a:srgbClr val="F9F8FD"/>
                </a:solidFill>
                <a:latin typeface="Consolas"/>
                <a:ea typeface="Consolas"/>
                <a:cs typeface="Consolas"/>
              </a:defRPr>
            </a:pPr>
            <a:r>
              <a:rPr sz="2550" b="0">
                <a:solidFill>
                  <a:srgbClr val="F9F8FD"/>
                </a:solidFill>
                <a:latin typeface="Consolas"/>
                <a:ea typeface="Consolas"/>
                <a:cs typeface="Consolas"/>
              </a:rPr>
              <a:t>npx agents-commander@0.1.4 .</a:t>
            </a:r>
          </a:p>
        </p:txBody>
      </p:sp>
      <p:sp>
        <p:nvSpPr>
          <p:cNvPr id="7" name="TextBox 6">
            <a:extLst xmlns:a="http://schemas.openxmlformats.org/drawingml/2006/main">
              <a:ext uri="{FF2B5EF4-FFF2-40B4-BE49-F238E27FC236}">
                <a16:creationId xmlns:a16="http://schemas.microsoft.com/office/drawing/2014/main" id="{7AEC0BD1-4425-4206-AEB3-0B15BB9F0F58}"/>
              </a:ext>
            </a:extLst>
          </p:cNvPr>
          <p:cNvSpPr>
            <a:spLocks xmlns:a="http://schemas.openxmlformats.org/drawingml/2006/main" noGrp="1"/>
          </p:cNvSpPr>
          <p:nvPr/>
        </p:nvSpPr>
        <p:spPr>
          <a:xfrm xmlns:a="http://schemas.openxmlformats.org/drawingml/2006/main">
            <a:off x="742950" y="4600575"/>
            <a:ext cx="10620375" cy="3619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800" b="0">
                <a:solidFill>
                  <a:srgbClr val="F9F8FD"/>
                </a:solidFill>
                <a:latin typeface="Consolas"/>
                <a:ea typeface="Consolas"/>
                <a:cs typeface="Consolas"/>
              </a:defRPr>
            </a:pPr>
            <a:r>
              <a:rPr sz="1800" b="0">
                <a:solidFill>
                  <a:srgbClr val="F9F8FD"/>
                </a:solidFill>
                <a:latin typeface="Consolas"/>
                <a:ea typeface="Consolas"/>
                <a:cs typeface="Consolas"/>
              </a:rPr>
              <a:t>npmjs.com/package/agents-commander</a:t>
            </a:r>
          </a:p>
        </p:txBody>
      </p:sp>
      <p:sp>
        <p:nvSpPr>
          <p:cNvPr id="8" name="TextBox 7">
            <a:extLst xmlns:a="http://schemas.openxmlformats.org/drawingml/2006/main">
              <a:ext uri="{FF2B5EF4-FFF2-40B4-BE49-F238E27FC236}">
                <a16:creationId xmlns:a16="http://schemas.microsoft.com/office/drawing/2014/main" id="{963D474F-FEA2-485F-BA06-028DDF433761}"/>
              </a:ext>
            </a:extLst>
          </p:cNvPr>
          <p:cNvSpPr>
            <a:spLocks xmlns:a="http://schemas.openxmlformats.org/drawingml/2006/main" noGrp="1"/>
          </p:cNvSpPr>
          <p:nvPr/>
        </p:nvSpPr>
        <p:spPr>
          <a:xfrm xmlns:a="http://schemas.openxmlformats.org/drawingml/2006/main">
            <a:off x="742950" y="5962650"/>
            <a:ext cx="10620375" cy="295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b="0">
                <a:solidFill>
                  <a:srgbClr val="BCBBC2"/>
                </a:solidFill>
                <a:latin typeface="Switzer"/>
                <a:ea typeface="Switzer"/>
                <a:cs typeface="Switzer"/>
              </a:defRPr>
            </a:pPr>
            <a:r>
              <a:rPr sz="1500" b="0">
                <a:solidFill>
                  <a:srgbClr val="BCBBC2"/>
                </a:solidFill>
                <a:latin typeface="Switzer"/>
                <a:ea typeface="Switzer"/>
                <a:cs typeface="Switzer"/>
              </a:rPr>
              <a:t>Source: github.com/lech-kalinowski/agents-commander · CC-BY-NC-4.0</a:t>
            </a:r>
          </a:p>
        </p:txBody>
      </p:sp>
      <p:sp>
        <p:nvSpPr>
          <p:cNvPr id="9" name="TextBox 8">
            <a:extLst xmlns:a="http://schemas.openxmlformats.org/drawingml/2006/main">
              <a:ext uri="{FF2B5EF4-FFF2-40B4-BE49-F238E27FC236}">
                <a16:creationId xmlns:a16="http://schemas.microsoft.com/office/drawing/2014/main" id="{5251B42F-0482-4A79-9E65-262FA0FD07C6}"/>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17/18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19ef964dc414e05"/>
          <a:stretch xmlns:a="http://schemas.openxmlformats.org/drawingml/2006/main"/>
        </p:blipFill>
        <p:spPr>
          <a:xfrm xmlns:a="http://schemas.openxmlformats.org/drawingml/2006/main">
            <a:off x="692604" y="342900"/>
            <a:ext cx="1567543" cy="342900"/>
          </a:xfrm>
          <a:prstGeom xmlns:a="http://schemas.openxmlformats.org/drawingml/2006/main" prst="rect">
            <a:avLst/>
          </a:prstGeom>
        </p:spPr>
      </p:pic>
      <p:sp>
        <p:nvSpPr>
          <p:cNvPr id="12" name="conference-source-label">
            <a:extLst xmlns:a="http://schemas.openxmlformats.org/drawingml/2006/main">
              <a:ext uri="{FF2B5EF4-FFF2-40B4-BE49-F238E27FC236}">
                <a16:creationId xmlns:a16="http://schemas.microsoft.com/office/drawing/2014/main" id="{F6AD476A-8E8A-47D1-B5AB-E79E6FB8E588}"/>
              </a:ext>
            </a:extLst>
          </p:cNvPr>
          <p:cNvSpPr>
            <a:spLocks xmlns:a="http://schemas.openxmlformats.org/drawingml/2006/main" noGrp="1"/>
          </p:cNvSpPr>
          <p:nvPr/>
        </p:nvSpPr>
        <p:spPr>
          <a:xfrm xmlns:a="http://schemas.openxmlformats.org/drawingml/2006/main">
            <a:off x="742950" y="5143500"/>
            <a:ext cx="1061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a:solidFill>
                  <a:srgbClr val="6AE8CD"/>
                </a:solidFill>
                <a:latin typeface="Consolas"/>
                <a:ea typeface="Consolas"/>
                <a:cs typeface="Consolas"/>
              </a:defRPr>
            </a:pPr>
            <a:r>
              <a:rPr sz="1575">
                <a:solidFill>
                  <a:srgbClr val="6AE8CD"/>
                </a:solidFill>
                <a:latin typeface="Consolas"/>
                <a:ea typeface="Consolas"/>
                <a:cs typeface="Consolas"/>
              </a:rPr>
              <a:t>TODAY’S DEMO: 0.1.5 SOURCE BUILD</a:t>
            </a:r>
          </a:p>
        </p:txBody>
      </p:sp>
      <p:sp>
        <p:nvSpPr>
          <p:cNvPr id="13" name="conference-source-detail">
            <a:extLst xmlns:a="http://schemas.openxmlformats.org/drawingml/2006/main">
              <a:ext uri="{FF2B5EF4-FFF2-40B4-BE49-F238E27FC236}">
                <a16:creationId xmlns:a16="http://schemas.microsoft.com/office/drawing/2014/main" id="{A3FEC5EA-3EAE-4282-AB47-F3C37FFC92F0}"/>
              </a:ext>
            </a:extLst>
          </p:cNvPr>
          <p:cNvSpPr>
            <a:spLocks xmlns:a="http://schemas.openxmlformats.org/drawingml/2006/main" noGrp="1"/>
          </p:cNvSpPr>
          <p:nvPr/>
        </p:nvSpPr>
        <p:spPr>
          <a:xfrm xmlns:a="http://schemas.openxmlformats.org/drawingml/2006/main">
            <a:off x="742950" y="5524500"/>
            <a:ext cx="10610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725">
                <a:solidFill>
                  <a:srgbClr val="BCBBC2"/>
                </a:solidFill>
                <a:latin typeface="Switzer"/>
                <a:ea typeface="Switzer"/>
                <a:cs typeface="Switzer"/>
              </a:defRPr>
            </a:pPr>
            <a:r>
              <a:rPr sz="1725">
                <a:solidFill>
                  <a:srgbClr val="BCBBC2"/>
                </a:solidFill>
                <a:latin typeface="Switzer"/>
                <a:ea typeface="Switzer"/>
                <a:cs typeface="Switzer"/>
              </a:rPr>
              <a:t>Use Node 22+ · Python 3 · --demo / --doctor are not in public 0.1.4</a:t>
            </a:r>
          </a:p>
        </p:txBody>
      </p:sp>
    </p:spTree>
    <p:extLst>
      <p:ext uri="{BB962C8B-B14F-4D97-AF65-F5344CB8AC3E}">
        <p14:creationId xmlns:p14="http://schemas.microsoft.com/office/powerpoint/2010/main" val="1080936326"/>
      </p:ext>
    </p:extLst>
  </p:cSld>
</p:sld>
</file>

<file path=ppt/slides/slide18.xml><?xml version="1.0" encoding="utf-8"?>
<p:sld xmlns:p="http://schemas.openxmlformats.org/presentationml/2006/main">
  <p:cSld>
    <p:bg>
      <p:bgPr>
        <a:gradFill xmlns:a="http://schemas.openxmlformats.org/drawingml/2006/main">
          <a:gsLst>
            <a:gs pos="0">
              <a:srgbClr val="201F24"/>
            </a:gs>
            <a:gs pos="44000">
              <a:srgbClr val="201F24"/>
            </a:gs>
            <a:gs pos="76000">
              <a:srgbClr val="35106F"/>
            </a:gs>
            <a:gs pos="100000">
              <a:srgbClr val="8232FF"/>
            </a:gs>
          </a:gsLst>
          <a:lin ang="6480000"/>
        </a:gradFill>
      </p:bgPr>
    </p:bg>
    <p:spTree>
      <p:nvGrpSpPr>
        <p:cNvPr id="1" name=""/>
        <p:cNvGrpSpPr/>
        <p:nvPr/>
      </p:nvGrpSpPr>
      <p:grpSpPr>
        <a:xfrm xmlns:a="http://schemas.openxmlformats.org/drawingml/2006/main"/>
      </p:grpSpPr>
      <p:pic>
        <p:nvPicPr>
          <p:cNvPr id="12" name="Picture 1"/>
          <p:cNvPicPr>
            <a:picLocks xmlns:a="http://schemas.openxmlformats.org/drawingml/2006/main" noChangeAspect="1"/>
          </p:cNvPicPr>
          <p:nvPr/>
        </p:nvPicPr>
        <p:blipFill>
          <a:blip xmlns:r="http://schemas.openxmlformats.org/officeDocument/2006/relationships" xmlns:a="http://schemas.openxmlformats.org/drawingml/2006/main" r:embed="R642d93374ae34989"/>
          <a:stretch xmlns:a="http://schemas.openxmlformats.org/drawingml/2006/main"/>
        </p:blipFill>
        <p:spPr>
          <a:xfrm xmlns:a="http://schemas.openxmlformats.org/drawingml/2006/main">
            <a:off x="10039350" y="723900"/>
            <a:ext cx="1066800" cy="106680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E2B571C4-D7DA-454D-A508-7DF7C4FC585C}"/>
              </a:ext>
            </a:extLst>
          </p:cNvPr>
          <p:cNvSpPr>
            <a:spLocks xmlns:a="http://schemas.openxmlformats.org/drawingml/2006/main" noGrp="1"/>
          </p:cNvSpPr>
          <p:nvPr/>
        </p:nvSpPr>
        <p:spPr>
          <a:xfrm xmlns:a="http://schemas.openxmlformats.org/drawingml/2006/main">
            <a:off x="609600" y="1952625"/>
            <a:ext cx="9810750" cy="1234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750" b="0">
                <a:solidFill>
                  <a:srgbClr val="FFFFFF"/>
                </a:solidFill>
                <a:latin typeface="Alliance No.2"/>
                <a:ea typeface="Alliance No.2"/>
                <a:cs typeface="Alliance No.2"/>
              </a:defRPr>
            </a:pPr>
            <a:r>
              <a:rPr sz="3750" b="0">
                <a:solidFill>
                  <a:srgbClr val="FFFFFF"/>
                </a:solidFill>
                <a:latin typeface="Alliance No.2"/>
                <a:ea typeface="Alliance No.2"/>
                <a:cs typeface="Alliance No.2"/>
              </a:rPr>
              <a:t>Where should agent collaboration fail closed?</a:t>
            </a:r>
          </a:p>
        </p:txBody>
      </p:sp>
      <p:sp>
        <p:nvSpPr>
          <p:cNvPr id="4" name="TextBox 3">
            <a:extLst xmlns:a="http://schemas.openxmlformats.org/drawingml/2006/main">
              <a:ext uri="{FF2B5EF4-FFF2-40B4-BE49-F238E27FC236}">
                <a16:creationId xmlns:a16="http://schemas.microsoft.com/office/drawing/2014/main" id="{62C4EF88-ADA2-4A0A-AD75-4FC5C49C79CD}"/>
              </a:ext>
            </a:extLst>
          </p:cNvPr>
          <p:cNvSpPr>
            <a:spLocks xmlns:a="http://schemas.openxmlformats.org/drawingml/2006/main" noGrp="1"/>
          </p:cNvSpPr>
          <p:nvPr/>
        </p:nvSpPr>
        <p:spPr>
          <a:xfrm xmlns:a="http://schemas.openxmlformats.org/drawingml/2006/main">
            <a:off x="609600" y="3067050"/>
            <a:ext cx="885825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800" b="0">
                <a:solidFill>
                  <a:srgbClr val="E9E7EE"/>
                </a:solidFill>
                <a:latin typeface="Switzer"/>
                <a:ea typeface="Switzer"/>
                <a:cs typeface="Switzer"/>
              </a:defRPr>
            </a:pPr>
            <a:r>
              <a:rPr sz="1800" b="0">
                <a:solidFill>
                  <a:srgbClr val="E9E7EE"/>
                </a:solidFill>
                <a:latin typeface="Switzer"/>
                <a:ea typeface="Switzer"/>
                <a:cs typeface="Switzer"/>
              </a:rPr>
              <a:t>Context • disagreement • auditability • human control</a:t>
            </a:r>
          </a:p>
        </p:txBody>
      </p:sp>
      <p:sp>
        <p:nvSpPr>
          <p:cNvPr id="5" name="Rounded Rectangle 4">
            <a:extLst xmlns:a="http://schemas.openxmlformats.org/drawingml/2006/main">
              <a:ext uri="{FF2B5EF4-FFF2-40B4-BE49-F238E27FC236}">
                <a16:creationId xmlns:a16="http://schemas.microsoft.com/office/drawing/2014/main" id="{68646C1F-A196-4BB4-8193-DFF566382DC4}"/>
              </a:ext>
            </a:extLst>
          </p:cNvPr>
          <p:cNvSpPr>
            <a:spLocks xmlns:a="http://schemas.openxmlformats.org/drawingml/2006/main" noGrp="1"/>
          </p:cNvSpPr>
          <p:nvPr/>
        </p:nvSpPr>
        <p:spPr>
          <a:xfrm xmlns:a="http://schemas.openxmlformats.org/drawingml/2006/main">
            <a:off x="609600" y="3905250"/>
            <a:ext cx="7524750" cy="1645920"/>
          </a:xfrm>
          <a:prstGeom xmlns:a="http://schemas.openxmlformats.org/drawingml/2006/main" prst="roundRect">
            <a:avLst>
              <a:gd name="adj" fmla="val 4630"/>
            </a:avLst>
          </a:prstGeom>
          <a:solidFill xmlns:a="http://schemas.openxmlformats.org/drawingml/2006/main">
            <a:srgbClr val="000000"/>
          </a:solidFill>
          <a:ln xmlns:a="http://schemas.openxmlformats.org/drawingml/2006/main" w="9525">
            <a:solidFill>
              <a:srgbClr val="8232FF"/>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ED7D471-F0C7-46DB-A417-EDEB97E79E41}"/>
              </a:ext>
            </a:extLst>
          </p:cNvPr>
          <p:cNvSpPr>
            <a:spLocks xmlns:a="http://schemas.openxmlformats.org/drawingml/2006/main" noGrp="1"/>
          </p:cNvSpPr>
          <p:nvPr/>
        </p:nvSpPr>
        <p:spPr>
          <a:xfrm xmlns:a="http://schemas.openxmlformats.org/drawingml/2006/main">
            <a:off x="876300" y="4133850"/>
            <a:ext cx="6953250" cy="1314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400"/>
              </a:spcAft>
              <a:buNone/>
              <a:defRPr sz="1500" b="0">
                <a:solidFill>
                  <a:srgbClr val="E9E7EE"/>
                </a:solidFill>
                <a:latin typeface="Consolas"/>
                <a:ea typeface="Consolas"/>
                <a:cs typeface="Consolas"/>
              </a:defRPr>
            </a:pPr>
            <a:r>
              <a:rPr sz="1500" b="0">
                <a:solidFill>
                  <a:srgbClr val="E9E7EE"/>
                </a:solidFill>
                <a:latin typeface="Consolas"/>
                <a:ea typeface="Consolas"/>
                <a:cs typeface="Consolas"/>
              </a:rPr>
              <a:t>&gt; What evidence must survive every handoff?</a:t>
            </a:r>
          </a:p>
          <a:p xmlns:a="http://schemas.openxmlformats.org/drawingml/2006/main">
            <a:pPr algn="l">
              <a:spcAft>
                <a:spcPts val="400"/>
              </a:spcAft>
              <a:buNone/>
              <a:defRPr sz="1500" b="0">
                <a:solidFill>
                  <a:srgbClr val="E9E7EE"/>
                </a:solidFill>
                <a:latin typeface="Consolas"/>
                <a:ea typeface="Consolas"/>
                <a:cs typeface="Consolas"/>
              </a:defRPr>
            </a:pPr>
            <a:r>
              <a:rPr sz="1500" b="0">
                <a:solidFill>
                  <a:srgbClr val="E9E7EE"/>
                </a:solidFill>
                <a:latin typeface="Consolas"/>
                <a:ea typeface="Consolas"/>
                <a:cs typeface="Consolas"/>
              </a:rPr>
              <a:t>&gt; When should one agent challenge another?</a:t>
            </a:r>
          </a:p>
          <a:p xmlns:a="http://schemas.openxmlformats.org/drawingml/2006/main">
            <a:pPr algn="l">
              <a:spcAft>
                <a:spcPts val="400"/>
              </a:spcAft>
              <a:buNone/>
              <a:defRPr sz="1500" b="0">
                <a:solidFill>
                  <a:srgbClr val="E9E7EE"/>
                </a:solidFill>
                <a:latin typeface="Consolas"/>
                <a:ea typeface="Consolas"/>
                <a:cs typeface="Consolas"/>
              </a:defRPr>
            </a:pPr>
            <a:r>
              <a:rPr sz="1500" b="0">
                <a:solidFill>
                  <a:srgbClr val="E9E7EE"/>
                </a:solidFill>
                <a:latin typeface="Consolas"/>
                <a:ea typeface="Consolas"/>
                <a:cs typeface="Consolas"/>
              </a:rPr>
              <a:t>&gt; Where must the human interrupt?</a:t>
            </a:r>
          </a:p>
        </p:txBody>
      </p:sp>
      <p:sp>
        <p:nvSpPr>
          <p:cNvPr id="7" name="TextBox 6">
            <a:extLst xmlns:a="http://schemas.openxmlformats.org/drawingml/2006/main">
              <a:ext uri="{FF2B5EF4-FFF2-40B4-BE49-F238E27FC236}">
                <a16:creationId xmlns:a16="http://schemas.microsoft.com/office/drawing/2014/main" id="{7AEC0BD1-4425-4206-AEB3-0B15BB9F0F58}"/>
              </a:ext>
            </a:extLst>
          </p:cNvPr>
          <p:cNvSpPr>
            <a:spLocks xmlns:a="http://schemas.openxmlformats.org/drawingml/2006/main" noGrp="1"/>
          </p:cNvSpPr>
          <p:nvPr/>
        </p:nvSpPr>
        <p:spPr>
          <a:xfrm xmlns:a="http://schemas.openxmlformats.org/drawingml/2006/main">
            <a:off x="609600" y="5848350"/>
            <a:ext cx="809625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25" b="0">
                <a:solidFill>
                  <a:srgbClr val="A6E34A"/>
                </a:solidFill>
                <a:latin typeface="Consolas"/>
                <a:ea typeface="Consolas"/>
                <a:cs typeface="Consolas"/>
              </a:defRPr>
            </a:pPr>
            <a:r>
              <a:rPr sz="1425" b="0">
                <a:solidFill>
                  <a:srgbClr val="A6E34A"/>
                </a:solidFill>
                <a:latin typeface="Consolas"/>
                <a:ea typeface="Consolas"/>
                <a:cs typeface="Consolas"/>
              </a:rPr>
              <a:t>github.com/lech-kalinowski/agents-commander</a:t>
            </a:r>
          </a:p>
        </p:txBody>
      </p:sp>
      <p:sp>
        <p:nvSpPr>
          <p:cNvPr id="8" name="TextBox 7">
            <a:extLst xmlns:a="http://schemas.openxmlformats.org/drawingml/2006/main">
              <a:ext uri="{FF2B5EF4-FFF2-40B4-BE49-F238E27FC236}">
                <a16:creationId xmlns:a16="http://schemas.microsoft.com/office/drawing/2014/main" id="{963D474F-FEA2-485F-BA06-028DDF433761}"/>
              </a:ext>
            </a:extLst>
          </p:cNvPr>
          <p:cNvSpPr>
            <a:spLocks xmlns:a="http://schemas.openxmlformats.org/drawingml/2006/main" noGrp="1"/>
          </p:cNvSpPr>
          <p:nvPr/>
        </p:nvSpPr>
        <p:spPr>
          <a:xfrm xmlns:a="http://schemas.openxmlformats.org/drawingml/2006/main">
            <a:off x="0" y="6400800"/>
            <a:ext cx="12191695"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25" b="0">
                <a:solidFill>
                  <a:srgbClr val="BCBBC2"/>
                </a:solidFill>
                <a:latin typeface="Switzer"/>
                <a:ea typeface="Switzer"/>
                <a:cs typeface="Switzer"/>
              </a:defRPr>
            </a:pPr>
            <a:r>
              <a:rPr sz="1125" b="0">
                <a:solidFill>
                  <a:srgbClr val="BCBBC2"/>
                </a:solidFill>
                <a:latin typeface="Switzer"/>
                <a:ea typeface="Switzer"/>
                <a:cs typeface="Switzer"/>
              </a:rPr>
              <a:t>Authorization  •  provenance  •  disagreement  •  human control</a:t>
            </a:r>
          </a:p>
        </p:txBody>
      </p:sp>
      <p:sp>
        <p:nvSpPr>
          <p:cNvPr id="9" name="TextBox 8">
            <a:extLst xmlns:a="http://schemas.openxmlformats.org/drawingml/2006/main">
              <a:ext uri="{FF2B5EF4-FFF2-40B4-BE49-F238E27FC236}">
                <a16:creationId xmlns:a16="http://schemas.microsoft.com/office/drawing/2014/main" id="{5251B42F-0482-4A79-9E65-262FA0FD07C6}"/>
              </a:ext>
            </a:extLst>
          </p:cNvPr>
          <p:cNvSpPr>
            <a:spLocks xmlns:a="http://schemas.openxmlformats.org/drawingml/2006/main" noGrp="1"/>
          </p:cNvSpPr>
          <p:nvPr/>
        </p:nvSpPr>
        <p:spPr>
          <a:xfrm xmlns:a="http://schemas.openxmlformats.org/drawingml/2006/main">
            <a:off x="10668000" y="6419850"/>
            <a:ext cx="857250" cy="2857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BCBBC2"/>
                </a:solidFill>
                <a:latin typeface="Consolas"/>
                <a:ea typeface="Consolas"/>
                <a:cs typeface="Consolas"/>
              </a:defRPr>
            </a:pPr>
            <a:r>
              <a:rPr sz="1200" b="0">
                <a:solidFill>
                  <a:srgbClr val="BCBBC2"/>
                </a:solidFill>
                <a:latin typeface="Consolas"/>
                <a:ea typeface="Consolas"/>
                <a:cs typeface="Consolas"/>
              </a:rPr>
              <a:t>18/18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6d8b7dbf2144194"/>
          <a:stretch xmlns:a="http://schemas.openxmlformats.org/drawingml/2006/main"/>
        </p:blipFill>
        <p:spPr>
          <a:xfrm xmlns:a="http://schemas.openxmlformats.org/drawingml/2006/main">
            <a:off x="692604" y="342900"/>
            <a:ext cx="1567543" cy="342900"/>
          </a:xfrm>
          <a:prstGeom xmlns:a="http://schemas.openxmlformats.org/drawingml/2006/main" prst="rect">
            <a:avLst/>
          </a:prstGeom>
        </p:spPr>
      </p:pic>
    </p:spTree>
    <p:extLst>
      <p:ext uri="{BB962C8B-B14F-4D97-AF65-F5344CB8AC3E}">
        <p14:creationId xmlns:p14="http://schemas.microsoft.com/office/powerpoint/2010/main" val="108093632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2026-09-02T10:34:38.6350000Z</dcterms:created>
  <dcterms:modified xsi:type="dcterms:W3CDTF">2026-09-02T10:34:38.6350000Z</dcterms:modified>
</coreProperties>
</file>