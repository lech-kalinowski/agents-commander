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31af26084c94635" /><Relationship Type="http://schemas.openxmlformats.org/officeDocument/2006/relationships/extended-properties" Target="/docProps/app.xml" Id="R2ac2eb24d866454d" /><Relationship Type="http://schemas.openxmlformats.org/officeDocument/2006/relationships/officeDocument" Target="/ppt/presentation.xml" Id="R525bd5be15bb42fb" /></Relationships>
</file>

<file path=ppt/presentation.xml><?xml version="1.0" encoding="utf-8"?>
<p:presentation xmlns:p="http://schemas.openxmlformats.org/presentationml/2006/main">
  <p:sldMasterIdLst>
    <p:sldMasterId xmlns:r="http://schemas.openxmlformats.org/officeDocument/2006/relationships" id="2147483648" r:id="R63cc651f8ebd4833"/>
  </p:sldMasterIdLst>
  <p:notesMasterIdLst>
    <p:notesMasterId xmlns:r="http://schemas.openxmlformats.org/officeDocument/2006/relationships" r:id="Rc441417aefe446ce"/>
  </p:notesMasterIdLst>
  <p:sldIdLst>
    <p:sldId xmlns:r="http://schemas.openxmlformats.org/officeDocument/2006/relationships" id="256" r:id="Reed535963e6544a2"/>
    <p:sldId xmlns:r="http://schemas.openxmlformats.org/officeDocument/2006/relationships" id="257" r:id="Racd1d4d6462545d2"/>
    <p:sldId xmlns:r="http://schemas.openxmlformats.org/officeDocument/2006/relationships" id="258" r:id="R9c56a3329fcf4427"/>
    <p:sldId xmlns:r="http://schemas.openxmlformats.org/officeDocument/2006/relationships" id="259" r:id="R59446f81bc03494d"/>
    <p:sldId xmlns:r="http://schemas.openxmlformats.org/officeDocument/2006/relationships" id="260" r:id="R6bd5f369682f44d6"/>
    <p:sldId xmlns:r="http://schemas.openxmlformats.org/officeDocument/2006/relationships" id="261" r:id="R823b541814c24e37"/>
    <p:sldId xmlns:r="http://schemas.openxmlformats.org/officeDocument/2006/relationships" id="262" r:id="R71ef5877a28549e6"/>
    <p:sldId xmlns:r="http://schemas.openxmlformats.org/officeDocument/2006/relationships" id="263" r:id="R4236c01c230b4634"/>
    <p:sldId xmlns:r="http://schemas.openxmlformats.org/officeDocument/2006/relationships" id="264" r:id="R58b7f42e4d8a4d73"/>
    <p:sldId xmlns:r="http://schemas.openxmlformats.org/officeDocument/2006/relationships" id="265" r:id="R27e19834e2e44b69"/>
    <p:sldId xmlns:r="http://schemas.openxmlformats.org/officeDocument/2006/relationships" id="266" r:id="R0f25b366d88248a9"/>
    <p:sldId xmlns:r="http://schemas.openxmlformats.org/officeDocument/2006/relationships" id="267" r:id="Re610b3340b4444a2"/>
    <p:sldId xmlns:r="http://schemas.openxmlformats.org/officeDocument/2006/relationships" id="268" r:id="R1f765768c7fc462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b23866c4b1054e30" /><Relationship Type="http://schemas.openxmlformats.org/officeDocument/2006/relationships/slideMaster" Target="/ppt/slideMasters/slideMaster1.xml" Id="R63cc651f8ebd4833" /><Relationship Type="http://schemas.openxmlformats.org/officeDocument/2006/relationships/notesMaster" Target="/ppt/notesMasters/notesMaster1.xml" Id="Rc441417aefe446ce" /><Relationship Type="http://schemas.openxmlformats.org/officeDocument/2006/relationships/presProps" Target="/ppt/presProps.xml" Id="Rdbbcf1b0c75a40e4" /><Relationship Type="http://schemas.openxmlformats.org/officeDocument/2006/relationships/viewProps" Target="/ppt/viewProps.xml" Id="R1925ce65a912405c" /><Relationship Type="http://schemas.openxmlformats.org/officeDocument/2006/relationships/tableStyles" Target="/ppt/tableStyles.xml" Id="R86474e92763a46a0" /><Relationship Type="http://schemas.openxmlformats.org/officeDocument/2006/relationships/slide" Target="/ppt/slides/slide1.xml" Id="Reed535963e6544a2" /><Relationship Type="http://schemas.openxmlformats.org/officeDocument/2006/relationships/slide" Target="/ppt/slides/slide2.xml" Id="Racd1d4d6462545d2" /><Relationship Type="http://schemas.openxmlformats.org/officeDocument/2006/relationships/slide" Target="/ppt/slides/slide3.xml" Id="R9c56a3329fcf4427" /><Relationship Type="http://schemas.openxmlformats.org/officeDocument/2006/relationships/slide" Target="/ppt/slides/slide4.xml" Id="R59446f81bc03494d" /><Relationship Type="http://schemas.openxmlformats.org/officeDocument/2006/relationships/slide" Target="/ppt/slides/slide5.xml" Id="R6bd5f369682f44d6" /><Relationship Type="http://schemas.openxmlformats.org/officeDocument/2006/relationships/slide" Target="/ppt/slides/slide6.xml" Id="R823b541814c24e37" /><Relationship Type="http://schemas.openxmlformats.org/officeDocument/2006/relationships/slide" Target="/ppt/slides/slide7.xml" Id="R71ef5877a28549e6" /><Relationship Type="http://schemas.openxmlformats.org/officeDocument/2006/relationships/slide" Target="/ppt/slides/slide8.xml" Id="R4236c01c230b4634" /><Relationship Type="http://schemas.openxmlformats.org/officeDocument/2006/relationships/slide" Target="/ppt/slides/slide9.xml" Id="R58b7f42e4d8a4d73" /><Relationship Type="http://schemas.openxmlformats.org/officeDocument/2006/relationships/slide" Target="/ppt/slides/slide10.xml" Id="R27e19834e2e44b69" /><Relationship Type="http://schemas.openxmlformats.org/officeDocument/2006/relationships/slide" Target="/ppt/slides/slide11.xml" Id="R0f25b366d88248a9" /><Relationship Type="http://schemas.openxmlformats.org/officeDocument/2006/relationships/slide" Target="/ppt/slides/slide12.xml" Id="Re610b3340b4444a2" /><Relationship Type="http://schemas.openxmlformats.org/officeDocument/2006/relationships/slide" Target="/ppt/slides/slide13.xml" Id="R1f765768c7fc46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57d592dad041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642317382446ef" /><Relationship Type="http://schemas.openxmlformats.org/officeDocument/2006/relationships/notesMaster" Target="/ppt/notesMasters/notesMaster1.xml" Id="R68d7b1e689a94a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f377cc15d24091" /><Relationship Type="http://schemas.openxmlformats.org/officeDocument/2006/relationships/notesMaster" Target="/ppt/notesMasters/notesMaster1.xml" Id="R83a44ed815da4ed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5738f057e044a3" /><Relationship Type="http://schemas.openxmlformats.org/officeDocument/2006/relationships/notesMaster" Target="/ppt/notesMasters/notesMaster1.xml" Id="R4898d6f2780543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9b7e95dbbb49ea" /><Relationship Type="http://schemas.openxmlformats.org/officeDocument/2006/relationships/notesMaster" Target="/ppt/notesMasters/notesMaster1.xml" Id="Rdfefe0f1eb844106" /></Relationships>
</file>

<file path=ppt/notesSlides/_rels/notesSlide5.xml.rels>&#65279;<?xml version="1.0" encoding="utf-8"?><Relationships xmlns="http://schemas.openxmlformats.org/package/2006/relationships"><Relationship Type="http://schemas.openxmlformats.org/officeDocument/2006/relationships/slide" Target="/ppt/slides/slide5.xml" Id="R6519593cb0c24669" /><Relationship Type="http://schemas.openxmlformats.org/officeDocument/2006/relationships/notesMaster" Target="/ppt/notesMasters/notesMaster1.xml" Id="R1f2d286db7ae43b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15b4468324342e7" /><Relationship Type="http://schemas.openxmlformats.org/officeDocument/2006/relationships/notesMaster" Target="/ppt/notesMasters/notesMaster1.xml" Id="Re988d01eade844e1" /></Relationships>
</file>

<file path=ppt/notesSlides/_rels/notesSlide7.xml.rels>&#65279;<?xml version="1.0" encoding="utf-8"?><Relationships xmlns="http://schemas.openxmlformats.org/package/2006/relationships"><Relationship Type="http://schemas.openxmlformats.org/officeDocument/2006/relationships/slide" Target="/ppt/slides/slide7.xml" Id="Rdc9e80a59df34a05" /><Relationship Type="http://schemas.openxmlformats.org/officeDocument/2006/relationships/notesMaster" Target="/ppt/notesMasters/notesMaster1.xml" Id="R8a388dd336c5404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125927c6ef47dc" /><Relationship Type="http://schemas.openxmlformats.org/officeDocument/2006/relationships/notesMaster" Target="/ppt/notesMasters/notesMaster1.xml" Id="Ra779ca7877004f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faf9bcb40f8645ca" /><Relationship Type="http://schemas.openxmlformats.org/officeDocument/2006/relationships/notesMaster" Target="/ppt/notesMasters/notesMaster1.xml" Id="R2a4cebbfb4a2496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06b53631974faf" /><Relationship Type="http://schemas.openxmlformats.org/officeDocument/2006/relationships/notesMaster" Target="/ppt/notesMasters/notesMaster1.xml" Id="Rc63eec253b22491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79006c7c5634578" /><Relationship Type="http://schemas.openxmlformats.org/officeDocument/2006/relationships/notesMaster" Target="/ppt/notesMasters/notesMaster1.xml" Id="R89d6056f4f0941a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f9ba500cd3d48b1" /><Relationship Type="http://schemas.openxmlformats.org/officeDocument/2006/relationships/notesMaster" Target="/ppt/notesMasters/notesMaster1.xml" Id="Rf632376c97d54ff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8dc6860421c490a" /><Relationship Type="http://schemas.openxmlformats.org/officeDocument/2006/relationships/notesMaster" Target="/ppt/notesMasters/notesMaster1.xml" Id="Rf1ac872b68ea4d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a:t>
            </a:r>
          </a:p>
          <a:p xmlns:a="http://schemas.openxmlformats.org/drawingml/2006/main">
            <a:r>
              <a:t/>
            </a:r>
          </a:p>
          <a:p xmlns:a="http://schemas.openxmlformats.org/drawingml/2006/main">
            <a:r>
              <a:t>Open with the thesis: agents are powerful, but collaboration between terminal-native agents is still mostly invisible. Agents Commander is a local control plane that makes handoffs observable without replacing the agents.</a:t>
            </a:r>
          </a:p>
          <a:p xmlns:a="http://schemas.openxmlformats.org/drawingml/2006/main">
            <a:r>
              <a:t/>
            </a:r>
          </a:p>
          <a:p xmlns:a="http://schemas.openxmlformats.org/drawingml/2006/main">
            <a:r>
              <a:t>Stage cue: keep the opening visual still. Name Code Europe and Warsaw, then move quickly to the problem.</a:t>
            </a:r>
          </a:p>
          <a:p xmlns:a="http://schemas.openxmlformats.org/drawingml/2006/main">
            <a:r>
              <a:t/>
            </a:r>
          </a:p>
          <a:p xmlns:a="http://schemas.openxmlformats.org/drawingml/2006/main">
            <a:r>
              <a:t>Transition: “Let’s start with what breaks when every agent lives in its own terminal.”</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commander/package.json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Use the three cards as one argument: separate sessions fragment context, manual copy/paste destroys provenance, and hidden state makes ownership unclear. Stress that the issue is not model capability; it is coordination visibility.</a:t>
            </a:r>
          </a:p>
          <a:p xmlns:a="http://schemas.openxmlformats.org/drawingml/2006/main">
            <a:r>
              <a:t/>
            </a:r>
          </a:p>
          <a:p xmlns:a="http://schemas.openxmlformats.org/drawingml/2006/main">
            <a:r>
              <a:t>Audience prompt: ask who has copied an answer from one agent into another and later lost track of where it came from.</a:t>
            </a:r>
          </a:p>
          <a:p xmlns:a="http://schemas.openxmlformats.org/drawingml/2006/main">
            <a:r>
              <a:t/>
            </a:r>
          </a:p>
          <a:p xmlns:a="http://schemas.openxmlformats.org/drawingml/2006/main">
            <a:r>
              <a:t>Transition: “Commander’s answer is a deliberately small loop.”</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commander/src/agents/agent-manager.ts</a:t>
            </a:r>
          </a:p>
          <a:p xmlns:a="http://schemas.openxmlformats.org/drawingml/2006/main">
            <a:r>
              <a:t>- /Users/lech.kalinowski/products/agents commander/src/panels/terminal-panel.ts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Walk left to right: Teach gives the active managed session its routing instructions and a fresh private capability; Scan observes printable terminal output; Route validates, delivers through the destination PTY, records IDs, and acknowledges state. No plugin is injected into the agent.</a:t>
            </a:r>
          </a:p>
          <a:p xmlns:a="http://schemas.openxmlformats.org/drawingml/2006/main">
            <a:r>
              <a:t/>
            </a:r>
          </a:p>
          <a:p xmlns:a="http://schemas.openxmlformats.org/drawingml/2006/main">
            <a:r>
              <a:t>Call out that every Ctrl+P teach action creates a new session key. A copied or stale marker is inert.</a:t>
            </a:r>
          </a:p>
          <a:p xmlns:a="http://schemas.openxmlformats.org/drawingml/2006/main">
            <a:r>
              <a:t/>
            </a:r>
          </a:p>
          <a:p xmlns:a="http://schemas.openxmlformats.org/drawingml/2006/main">
            <a:r>
              <a:t>Transition: “That lets the visible protocol stay tiny.”</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commander/src/orchestration/orchestrator.ts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Introduce the five verbs: SEND, REPLY, BROADCAST, STATUS, and QUERY. Explain that &lt;k&gt; is presentation shorthand for the private routing key generated for that one managed session. The full key is supplied by Commander; the speaker never types it by hand.</a:t>
            </a:r>
          </a:p>
          <a:p xmlns:a="http://schemas.openxmlformats.org/drawingml/2006/main">
            <a:r>
              <a:t/>
            </a:r>
          </a:p>
          <a:p xmlns:a="http://schemas.openxmlformats.org/drawingml/2006/main">
            <a:r>
              <a:t>Do not imply that static marker examples are runnable. Routing requires the current session capability and a complete END marker. Delivery returns IDs and an explicit ACK.</a:t>
            </a:r>
          </a:p>
          <a:p xmlns:a="http://schemas.openxmlformats.org/drawingml/2006/main">
            <a:r>
              <a:t/>
            </a:r>
          </a:p>
          <a:p xmlns:a="http://schemas.openxmlformats.org/drawingml/2006/main">
            <a:r>
              <a:t>Transition: “The interesting engineering is not the verbs. It is reconstructing them from a terminal stream.”</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Trace the frame from START to END. PTY output arrives in arbitrary chunks, may contain ANSI controls, and may be soft-wrapped across terminal rows. Commander waits for the complete frame, checks the current session key, validates the target and bounded payload, then routes.</a:t>
            </a:r>
          </a:p>
          <a:p xmlns:a="http://schemas.openxmlformats.org/drawingml/2006/main">
            <a:r>
              <a:t/>
            </a:r>
          </a:p>
          <a:p xmlns:a="http://schemas.openxmlformats.org/drawingml/2006/main">
            <a:r>
              <a:t>Important hardening detail: the scanner remains live during delivery. Commander suppresses only the exact known outgoing echo so it cannot miss a fast reply.</a:t>
            </a:r>
          </a:p>
          <a:p xmlns:a="http://schemas.openxmlformats.org/drawingml/2006/main">
            <a:r>
              <a:t/>
            </a:r>
          </a:p>
          <a:p xmlns:a="http://schemas.openxmlformats.org/drawingml/2006/main">
            <a:r>
              <a:t>Transition: “Now we can prove the route without trusting Wi-Fi or a third-party API.”</a:t>
            </a:r>
          </a:p>
          <a:p xmlns:a="http://schemas.openxmlformats.org/drawingml/2006/main">
            <a:r>
              <a:t/>
            </a:r>
          </a:p>
          <a:p xmlns:a="http://schemas.openxmlformats.org/drawingml/2006/main">
            <a:r>
              <a:t>[Sources]</a:t>
            </a:r>
          </a:p>
          <a:p xmlns:a="http://schemas.openxmlformats.org/drawingml/2006/main">
            <a:r>
              <a:t>- /Users/lech.kalinowski/products/agents commander/src/orchestration/protocol.ts</a:t>
            </a:r>
          </a:p>
          <a:p xmlns:a="http://schemas.openxmlformats.org/drawingml/2006/main">
            <a:r>
              <a:t>- /Users/lech.kalinowski/products/agents commander/src/orchestration/orchestrator.ts</a:t>
            </a:r>
          </a:p>
          <a:p xmlns:a="http://schemas.openxmlformats.org/drawingml/2006/main">
            <a:r>
              <a:t>- /Users/lech.kalinowski/products/agents commander/src/panels/vterm.ts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12:00</a:t>
            </a:r>
          </a:p>
          <a:p xmlns:a="http://schemas.openxmlformats.org/drawingml/2006/main">
            <a:r>
              <a:t/>
            </a:r>
          </a:p>
          <a:p xmlns:a="http://schemas.openxmlformats.org/drawingml/2006/main">
            <a:r>
              <a:t>[Demo]</a:t>
            </a:r>
          </a:p>
          <a:p xmlns:a="http://schemas.openxmlformats.org/drawingml/2006/main">
            <a:r>
              <a:t>1. Start the deterministic path: node dist/bin/agents-commander.js --demo</a:t>
            </a:r>
          </a:p>
          <a:p xmlns:a="http://schemas.openxmlformats.org/drawingml/2006/main">
            <a:r>
              <a:t>2. Identify Demo Coordinator in panel 1 and Demo Reviewer in panel 2. Point out that &lt;k1&gt; and &lt;k2&gt; are different per-session capabilities.</a:t>
            </a:r>
          </a:p>
          <a:p xmlns:a="http://schemas.openxmlformats.org/drawingml/2006/main">
            <a:r>
              <a:t>3. Show the Coordinator emitting SEND, the Reviewer receiving it, and the Reviewer emitting REPLY.</a:t>
            </a:r>
          </a:p>
          <a:p xmlns:a="http://schemas.openxmlformats.org/drawingml/2006/main">
            <a:r>
              <a:t>4. Press F12 and point to thread/message IDs, state, and ACK.</a:t>
            </a:r>
          </a:p>
          <a:p xmlns:a="http://schemas.openxmlformats.org/drawingml/2006/main">
            <a:r>
              <a:t>5. Press Shift+F12 only if the audience asks to see the exact protocol guide.</a:t>
            </a:r>
          </a:p>
          <a:p xmlns:a="http://schemas.openxmlformats.org/drawingml/2006/main">
            <a:r>
              <a:t/>
            </a:r>
          </a:p>
          <a:p xmlns:a="http://schemas.openxmlformats.org/drawingml/2006/main">
            <a:r>
              <a:t>The demo is local, deterministic, and requires no network, API key, or external agent CLI. If the live external-agent path is healthy, briefly contrast it after the offline proof; do not make the talk depend on it.</a:t>
            </a:r>
          </a:p>
          <a:p xmlns:a="http://schemas.openxmlformats.org/drawingml/2006/main">
            <a:r>
              <a:t/>
            </a:r>
          </a:p>
          <a:p xmlns:a="http://schemas.openxmlformats.org/drawingml/2006/main">
            <a:r>
              <a:t>Recovery: when no demo role remains live, Ctrl+O can offer a fresh seeded demo. While either role is live, it opens normal Orchestrate; relaunch --demo if the workspace must be reset. Keep narration moving while the deterministic roles run.</a:t>
            </a:r>
          </a:p>
          <a:p xmlns:a="http://schemas.openxmlformats.org/drawingml/2006/main">
            <a:r>
              <a:t/>
            </a:r>
          </a:p>
          <a:p xmlns:a="http://schemas.openxmlformats.org/drawingml/2006/main">
            <a:r>
              <a:t>Transition: “The visible result is simple because the implementation keeps several invariants.”</a:t>
            </a:r>
          </a:p>
          <a:p xmlns:a="http://schemas.openxmlformats.org/drawingml/2006/main">
            <a:r>
              <a:t/>
            </a:r>
          </a:p>
          <a:p xmlns:a="http://schemas.openxmlformats.org/drawingml/2006/main">
            <a:r>
              <a:t>[Sources]</a:t>
            </a:r>
          </a:p>
          <a:p xmlns:a="http://schemas.openxmlformats.org/drawingml/2006/main">
            <a:r>
              <a:t>- /Users/lech.kalinowski/products/agents commander/src/demo/demo-agent.js</a:t>
            </a:r>
          </a:p>
          <a:p xmlns:a="http://schemas.openxmlformats.org/drawingml/2006/main">
            <a:r>
              <a:t>- /Users/lech.kalinowski/products/agents commander/src/demo/demo-agents.ts</a:t>
            </a:r>
          </a:p>
          <a:p xmlns:a="http://schemas.openxmlformats.org/drawingml/2006/main">
            <a:r>
              <a:t>- /Users/lech.kalinowski/products/agents commander/src/demo/demo-workspace.ts</a:t>
            </a:r>
          </a:p>
          <a:p xmlns:a="http://schemas.openxmlformats.org/drawingml/2006/main">
            <a:r>
              <a:t>- /Users/lech.kalinowski/products/agents commander/tests/integration/demo-agent.test.ts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3:30</a:t>
            </a:r>
          </a:p>
          <a:p xmlns:a="http://schemas.openxmlformats.org/drawingml/2006/main">
            <a:r>
              <a:t/>
            </a:r>
          </a:p>
          <a:p xmlns:a="http://schemas.openxmlformats.org/drawingml/2006/main">
            <a:r>
              <a:t>Use the columns as a reliability checklist. Parsing is based on printable output, complete logical frames, the current session capability, bounded content, and deduplication. Delivery validates first, serializes per destination panel, keeps scanning live, records explicit state, and owns PTY cleanup.</a:t>
            </a:r>
          </a:p>
          <a:p xmlns:a="http://schemas.openxmlformats.org/drawingml/2006/main">
            <a:r>
              <a:t/>
            </a:r>
          </a:p>
          <a:p xmlns:a="http://schemas.openxmlformats.org/drawingml/2006/main">
            <a:r>
              <a:t>Emphasize the lifecycle invariant: replacing or exiting a session stops the PTY process group and drains pending work. “No orphan agents” is a product property, not a demo trick.</a:t>
            </a:r>
          </a:p>
          <a:p xmlns:a="http://schemas.openxmlformats.org/drawingml/2006/main">
            <a:r>
              <a:t/>
            </a:r>
          </a:p>
          <a:p xmlns:a="http://schemas.openxmlformats.org/drawingml/2006/main">
            <a:r>
              <a:t>Transition: “Those invariants let the interface scale without sacrificing readability.”</a:t>
            </a:r>
          </a:p>
          <a:p xmlns:a="http://schemas.openxmlformats.org/drawingml/2006/main">
            <a:r>
              <a:t/>
            </a:r>
          </a:p>
          <a:p xmlns:a="http://schemas.openxmlformats.org/drawingml/2006/main">
            <a:r>
              <a:t>[Sources]</a:t>
            </a:r>
          </a:p>
          <a:p xmlns:a="http://schemas.openxmlformats.org/drawingml/2006/main">
            <a:r>
              <a:t>- /Users/lech.kalinowski/products/agents commander/src/orchestration/protocol.ts</a:t>
            </a:r>
          </a:p>
          <a:p xmlns:a="http://schemas.openxmlformats.org/drawingml/2006/main">
            <a:r>
              <a:t>- /Users/lech.kalinowski/products/agents commander/src/orchestration/orchestrator.ts</a:t>
            </a:r>
          </a:p>
          <a:p xmlns:a="http://schemas.openxmlformats.org/drawingml/2006/main">
            <a:r>
              <a:t>- /Users/lech.kalinowski/products/agents commander/src/agents/agent-manager.ts</a:t>
            </a:r>
          </a:p>
          <a:p xmlns:a="http://schemas.openxmlformats.org/drawingml/2006/main">
            <a:r>
              <a:t>- /Users/lech.kalinowski/products/agents commander/src/agents/pty-helper.py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2:30</a:t>
            </a:r>
          </a:p>
          <a:p xmlns:a="http://schemas.openxmlformats.org/drawingml/2006/main">
            <a:r>
              <a:t/>
            </a:r>
          </a:p>
          <a:p xmlns:a="http://schemas.openxmlformats.org/drawingml/2006/main">
            <a:r>
              <a:t>Separate active workspace size from visible density. Commander can manage 1–100 active panels. Auto density shows as many readable panels as the window permits; hidden sessions keep running on other pages. Shift+F4 cycles density without adding, removing, renumbering, or restarting panels. F11 searches stable panel numbers and metadata.</a:t>
            </a:r>
          </a:p>
          <a:p xmlns:a="http://schemas.openxmlformats.org/drawingml/2006/main">
            <a:r>
              <a:t/>
            </a:r>
          </a:p>
          <a:p xmlns:a="http://schemas.openxmlformats.org/drawingml/2006/main">
            <a:r>
              <a:t>Mention F12 activity, named OpenCode provider/model profiles, and the 121 built-in prompt templates. The 29 collaboration workflows require an armed managed session; do not imply that every template emits literal protocol markers. Do not attempt to explain every shortcut.</a:t>
            </a:r>
          </a:p>
          <a:p xmlns:a="http://schemas.openxmlformats.org/drawingml/2006/main">
            <a:r>
              <a:t/>
            </a:r>
          </a:p>
          <a:p xmlns:a="http://schemas.openxmlformats.org/drawingml/2006/main">
            <a:r>
              <a:t>Transition: “At Code Europe I also want the control plane to be tangible.”</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commander/src/panel-limits.ts</a:t>
            </a:r>
          </a:p>
          <a:p xmlns:a="http://schemas.openxmlformats.org/drawingml/2006/main">
            <a:r>
              <a:t>- /Users/lech.kalinowski/products/agents commander/src/screen/responsive-layout.ts</a:t>
            </a:r>
          </a:p>
          <a:p xmlns:a="http://schemas.openxmlformats.org/drawingml/2006/main">
            <a:r>
              <a:t>- /Users/lech.kalinowski/products/agents commander/src/screen/dialog/panel-navigator-dialog.ts</a:t>
            </a:r>
          </a:p>
          <a:p xmlns:a="http://schemas.openxmlformats.org/drawingml/2006/main">
            <a:r>
              <a:t>- /Users/lech.kalinowski/products/agents commander/src/templates/loader.ts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Hold up the Codex Micro. Describe it accurately: Agents Commander reads the shipping factory controls through native vendor-HID input; the device firmware is not reprogrammed and no Work Louder layer is required in native mode. USB and Bluetooth work on macOS; use wired USB-C on stage.</a:t>
            </a:r>
          </a:p>
          <a:p xmlns:a="http://schemas.openxmlformats.org/drawingml/2006/main">
            <a:r>
              <a:t/>
            </a:r>
          </a:p>
          <a:p xmlns:a="http://schemas.openxmlformats.org/drawingml/2006/main">
            <a:r>
              <a:t>Demonstrate navigation only after Doctor and the physical-input checklist pass. Six agent keys focus slots, the dial and joystick navigate, Split adds a panel, Codex opens F11 navigation, and Mic/dial press opens Activity.</a:t>
            </a:r>
          </a:p>
          <a:p xmlns:a="http://schemas.openxmlformats.org/drawingml/2006/main">
            <a:r>
              <a:t/>
            </a:r>
          </a:p>
          <a:p xmlns:a="http://schemas.openxmlformats.org/drawingml/2006/main">
            <a:r>
              <a:t>Safety: the sole-reader guard is observational, not an OS-exclusive lock. Another direct reader produces MICRO:BUSY and input is discarded. Decisions are disabled by default; if explicitly enabled, the same hardware key must be pressed twice and stale state sends nothing.</a:t>
            </a:r>
          </a:p>
          <a:p xmlns:a="http://schemas.openxmlformats.org/drawingml/2006/main">
            <a:r>
              <a:t/>
            </a:r>
          </a:p>
          <a:p xmlns:a="http://schemas.openxmlformats.org/drawingml/2006/main">
            <a:r>
              <a:t>Recovery: quit the competing HID client and wait for MICRO:USB/GUARD. Restart Commander only if the guarded status does not return; otherwise continue with the keyboard.</a:t>
            </a:r>
          </a:p>
          <a:p xmlns:a="http://schemas.openxmlformats.org/drawingml/2006/main">
            <a:r>
              <a:t/>
            </a:r>
          </a:p>
          <a:p xmlns:a="http://schemas.openxmlformats.org/drawingml/2006/main">
            <a:r>
              <a:t>Transition: “The same fail-closed thinking shapes the whole stage plan.”</a:t>
            </a:r>
          </a:p>
          <a:p xmlns:a="http://schemas.openxmlformats.org/drawingml/2006/main">
            <a:r>
              <a:t/>
            </a:r>
          </a:p>
          <a:p xmlns:a="http://schemas.openxmlformats.org/drawingml/2006/main">
            <a:r>
              <a:t>[Sources]</a:t>
            </a:r>
          </a:p>
          <a:p xmlns:a="http://schemas.openxmlformats.org/drawingml/2006/main">
            <a:r>
              <a:t>- /Users/lech.kalinowski/products/agents commander/docs/codex-micro.md</a:t>
            </a:r>
          </a:p>
          <a:p xmlns:a="http://schemas.openxmlformats.org/drawingml/2006/main">
            <a:r>
              <a:t>- /Users/lech.kalinowski/products/agents commander/src/hardware/codex-micro-native.ts</a:t>
            </a:r>
          </a:p>
          <a:p xmlns:a="http://schemas.openxmlformats.org/drawingml/2006/main">
            <a:r>
              <a:t>- /Users/lech.kalinowski/products/agents commander/src/hardware/codex-decision.ts</a:t>
            </a:r>
          </a:p>
          <a:p xmlns:a="http://schemas.openxmlformats.org/drawingml/2006/main">
            <a:r>
              <a:t>- /Users/lech.kalinowski/products/agents commander/tests/codex_micro_bridge_test.py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2:30</a:t>
            </a:r>
          </a:p>
          <a:p xmlns:a="http://schemas.openxmlformats.org/drawingml/2006/main">
            <a:r>
              <a:t/>
            </a:r>
          </a:p>
          <a:p xmlns:a="http://schemas.openxmlformats.org/drawingml/2006/main">
            <a:r>
              <a:t>Read this as a recovery matrix, not a command inventory. Preflight proves runtime and assets. Conference mode proves safe visual defaults. Demo mode removes network and provider risk. F12 preserves observability. Scaling panels never kills hidden sessions. Hardware preflight proves the guarded input path.</a:t>
            </a:r>
          </a:p>
          <a:p xmlns:a="http://schemas.openxmlformats.org/drawingml/2006/main">
            <a:r>
              <a:t/>
            </a:r>
          </a:p>
          <a:p xmlns:a="http://schemas.openxmlformats.org/drawingml/2006/main">
            <a:r>
              <a:t>Demo recovery wording matters: Ctrl+O offers a new seeded demo only when no demo role remains live; otherwise relaunch --demo for a clean reset. Hardware recovery wording matters too: after MICRO:BUSY, stop pressing, quit the competing reader, and wait for MICRO:USB/GUARD. Restart only if it does not recover. No agent session depends on the controller.</a:t>
            </a:r>
          </a:p>
          <a:p xmlns:a="http://schemas.openxmlformats.org/drawingml/2006/main">
            <a:r>
              <a:t/>
            </a:r>
          </a:p>
          <a:p xmlns:a="http://schemas.openxmlformats.org/drawingml/2006/main">
            <a:r>
              <a:t>Transition: “The control plane already speaks to five real launch surfaces.”</a:t>
            </a:r>
          </a:p>
          <a:p xmlns:a="http://schemas.openxmlformats.org/drawingml/2006/main">
            <a:r>
              <a:t/>
            </a:r>
          </a:p>
          <a:p xmlns:a="http://schemas.openxmlformats.org/drawingml/2006/main">
            <a:r>
              <a:t>[Sources]</a:t>
            </a:r>
          </a:p>
          <a:p xmlns:a="http://schemas.openxmlformats.org/drawingml/2006/main">
            <a:r>
              <a:t>- /Users/lech.kalinowski/products/agents commander/presentation/README.md</a:t>
            </a:r>
          </a:p>
          <a:p xmlns:a="http://schemas.openxmlformats.org/drawingml/2006/main">
            <a:r>
              <a:t>- /Users/lech.kalinowski/products/agents commander/src/doctor/doctor.ts</a:t>
            </a:r>
          </a:p>
          <a:p xmlns:a="http://schemas.openxmlformats.org/drawingml/2006/main">
            <a:r>
              <a:t>- /Users/lech.kalinowski/products/agents commander/src/config/launch-options.ts</a:t>
            </a:r>
          </a:p>
          <a:p xmlns:a="http://schemas.openxmlformats.org/drawingml/2006/main">
            <a:r>
              <a:t>- /Users/lech.kalinowski/products/agents commander/docs/codex-micro.md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1:30</a:t>
            </a:r>
          </a:p>
          <a:p xmlns:a="http://schemas.openxmlformats.org/drawingml/2006/main">
            <a:r>
              <a:t/>
            </a:r>
          </a:p>
          <a:p xmlns:a="http://schemas.openxmlformats.org/drawingml/2006/main">
            <a:r>
              <a:t>Name the supported adapters precisely: Claude Code, Codex CLI, Gemini CLI, OpenCode, and Shell. OpenCode accepts named provider/model profiles plus optional agent and absolute config paths. The second row is catalogued—not launchable until an adapter is implemented—for Aider, Cline, Goose, Kiro, and Amp.</a:t>
            </a:r>
          </a:p>
          <a:p xmlns:a="http://schemas.openxmlformats.org/drawingml/2006/main">
            <a:r>
              <a:t/>
            </a:r>
          </a:p>
          <a:p xmlns:a="http://schemas.openxmlformats.org/drawingml/2006/main">
            <a:r>
              <a:t>Avoid claiming universal agent compatibility. Commander manages the five supported launch surfaces today and exposes a clear adapter boundary for the next set.</a:t>
            </a:r>
          </a:p>
          <a:p xmlns:a="http://schemas.openxmlformats.org/drawingml/2006/main">
            <a:r>
              <a:t/>
            </a:r>
          </a:p>
          <a:p xmlns:a="http://schemas.openxmlformats.org/drawingml/2006/main">
            <a:r>
              <a:t>Transition: “You can try the complete story without bringing any credentials.”</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commander/src/agents/agent-registry.ts</a:t>
            </a:r>
          </a:p>
          <a:p xmlns:a="http://schemas.openxmlformats.org/drawingml/2006/main">
            <a:r>
              <a:t>- /Users/lech.kalinowski/products/agents commander/src/agents/opencode-adapter.ts</a:t>
            </a:r>
          </a:p>
          <a:p xmlns:a="http://schemas.openxmlformats.org/drawingml/2006/main">
            <a:r>
              <a:t>- /Users/lech.kalinowski/products/agents commander/src/agents/types.ts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p>
          <a:p xmlns:a="http://schemas.openxmlformats.org/drawingml/2006/main">
            <a:r>
              <a:t>Close with three steps: run Doctor, prove the offline demo, then scale the workspace and bring real agents. Re-state the thesis: keep the agents terminal-native, make every handoff visible, and preserve human control.</a:t>
            </a:r>
          </a:p>
          <a:p xmlns:a="http://schemas.openxmlformats.org/drawingml/2006/main">
            <a:r>
              <a:t/>
            </a:r>
          </a:p>
          <a:p xmlns:a="http://schemas.openxmlformats.org/drawingml/2006/main">
            <a:r>
              <a:t>Invite attendees to the repository and to the hardware demo after the session. Pause on the URL.</a:t>
            </a:r>
          </a:p>
          <a:p xmlns:a="http://schemas.openxmlformats.org/drawingml/2006/main">
            <a:r>
              <a:t/>
            </a:r>
          </a:p>
          <a:p xmlns:a="http://schemas.openxmlformats.org/drawingml/2006/main">
            <a:r>
              <a:t>Transition: “I want to use the remaining time to ask where you think this control plane should go.”</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commander/presentation/README.md</a:t>
            </a:r>
          </a:p>
          <a:p xmlns:a="http://schemas.openxmlformats.org/drawingml/2006/main">
            <a:r>
              <a:t>- /Users/lech.kalinowski/products/agents commander/package.json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5:00</a:t>
            </a:r>
          </a:p>
          <a:p xmlns:a="http://schemas.openxmlformats.org/drawingml/2006/main">
            <a:r>
              <a:t/>
            </a:r>
          </a:p>
          <a:p xmlns:a="http://schemas.openxmlformats.org/drawingml/2006/main">
            <a:r>
              <a:t>Use the three prompts to structure Q&amp;A: authorization boundaries, durable/auditable history, and where human judgment must remain explicit. MCP boundaries are a forward-looking discussion topic, not a claim that Commander currently routes through MCP.</a:t>
            </a:r>
          </a:p>
          <a:p xmlns:a="http://schemas.openxmlformats.org/drawingml/2006/main">
            <a:r>
              <a:t/>
            </a:r>
          </a:p>
          <a:p xmlns:a="http://schemas.openxmlformats.org/drawingml/2006/main">
            <a:r>
              <a:t>If questions are slow, ask: “Would you authorize an agent to broadcast to every other agent automatically?” Then ask what evidence would make that safe.</a:t>
            </a:r>
          </a:p>
          <a:p xmlns:a="http://schemas.openxmlformats.org/drawingml/2006/main">
            <a:r>
              <a:t/>
            </a:r>
          </a:p>
          <a:p xmlns:a="http://schemas.openxmlformats.org/drawingml/2006/main">
            <a:r>
              <a:t>End by repeating the URL and inviting people to try the deterministic demo or the physical controller after the talk.</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aeef0a9a3a414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4337913741f46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c22017d87a147e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5b2cae6615c4df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c661f5399049f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fc2be583bd94ad8"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ecea09de7e3455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4db0c3a3d24e4eb7"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b2d627361dcc4a0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199b36951ef4c33"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0a76e914b79a4750"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D7CA46-DC3C-45F2-9052-5D92E35F3F8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3BDA128-384E-4A4E-BEC0-81E847304F7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0124124-F56D-477B-A387-37B4029734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21DE0BE-5544-4D84-81C4-5E429B6ECE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B7DCC41-2E33-480B-952B-C3558E95C4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758345-A3E0-4D5D-9CFA-A3B42FB0FC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DE8BD06-215C-4854-A422-66CC6F2639B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AD2CE5-EBD3-4F3F-9AD6-30AAA23F4BB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0180C6F-1391-4071-9D16-8F74F9AF74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C1E7826-60A3-4921-9A0D-36DF5DA839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AFF5A5-6250-47ED-AA8D-23FA1C07CFE0}"/>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331F9B6-82FC-4A98-A844-B115DA9A36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DCAA89-2487-4C5C-A410-76096E51BE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FCA77239-126A-47BC-9E57-713A6AF9A7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7FF064D-4A1A-4EF6-8CDB-2CC08B815D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E3D0B7E-D4AB-44FE-AB10-B9142ACED2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1B25D0B-CBF6-43C2-BEA6-E0084947AC7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2EC68A06-9F0E-4C3C-AE8D-7B5C76D992E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AA3CC0-E977-4665-86A0-81320B6097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173F75B-EB1C-47E8-9A17-2C72051213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CF2C95CA-CF23-4351-8686-2B39B0EB97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FFDF4F-D8C5-48C2-BCBD-9FBCF1CEA5C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8F4AC57-0A93-4002-BBC2-591A93041A5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4AAA74A-46A0-4577-A3A3-0C8AFB4115D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E234D39-1734-4934-A96D-40CFD0F7A1E1}"/>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662F3AE-DFB1-4050-8BFF-98458C37E11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BE6DE3BD-FAEE-4B9D-B9C2-4759A36A4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CE15CADE-C857-48CA-A37A-65E2DA87A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AB2C4DB3-066A-4761-9CA7-3B52808B90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39B17AB-C158-4D1F-8721-F943FA38A3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B089A156-C9CF-471E-A96D-5FA22127B6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92F5DB43-FD9A-4231-BD93-3B6C79FCC5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508FC53-E1C2-4E19-8A21-7277C034D6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4E1890D-1F1E-43F8-9A31-0C7F325F26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022D7EBA-370A-4961-BBFC-1D897F5500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23247573-DA77-4F39-8B78-C0B50EC7BB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F718B4-F2AE-4CDB-A33E-73B66B8F363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7E7A708-1847-4A6F-912D-4785C95EEA1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73D24881-D57D-486A-8853-9FCEF324947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6B1C701-6569-4501-A3CF-468698E355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C31A831B-1E20-438E-B284-FC4447FA3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3087F804-5B6F-4B76-9E23-5D6B0C9BBD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3E7011-5068-49DE-B11D-3E340AC1D6C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6B6C0B-99D3-4C46-BB50-10178A7E43F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ED1E47AD-A098-497B-B495-5BE3EAF5EE8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091853-AD5A-4246-AD62-350DFE178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F1F55D4-92A9-4C33-8447-B73E79B736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65ABD08-8F50-4726-9D35-B700B31C2B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22617B-F95F-4401-93FF-F9AC57EA17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324A57A-5FCA-46E4-887C-0C0BFBCE7C6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7006EC1-8CAA-45D5-8B93-8444309DF2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DE5D6C4C-E20A-4324-B7A8-0F3DFAD747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87BCFD-5563-478A-B7AB-9B1165CBC5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C757974-379F-4C4B-A30F-4A1235AA103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B03FB64-0E98-4132-A093-DBED2105D30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77EC6F3-DF9E-432C-B619-DC973447B5B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99499C-B5C7-44D5-8E5E-2813DD52B9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914F7E8-A266-4ECA-9D48-1F2EA7646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2e7b8f181c4a64" /><Relationship Type="http://schemas.openxmlformats.org/officeDocument/2006/relationships/slideLayout" Target="/ppt/slideLayouts/slideLayout1.xml" Id="R383b3e7e789a4c4b" /><Relationship Type="http://schemas.openxmlformats.org/officeDocument/2006/relationships/slideLayout" Target="/ppt/slideLayouts/slideLayout2.xml" Id="Rfc45c59d233f4a8a" /><Relationship Type="http://schemas.openxmlformats.org/officeDocument/2006/relationships/slideLayout" Target="/ppt/slideLayouts/slideLayout3.xml" Id="Re95cb2388d5c46d8" /><Relationship Type="http://schemas.openxmlformats.org/officeDocument/2006/relationships/slideLayout" Target="/ppt/slideLayouts/slideLayout4.xml" Id="R3055d6c102ab41f0" /><Relationship Type="http://schemas.openxmlformats.org/officeDocument/2006/relationships/slideLayout" Target="/ppt/slideLayouts/slideLayout5.xml" Id="R54aa547b0abe4e44" /><Relationship Type="http://schemas.openxmlformats.org/officeDocument/2006/relationships/slideLayout" Target="/ppt/slideLayouts/slideLayout6.xml" Id="Rf4934068f4b447b1" /><Relationship Type="http://schemas.openxmlformats.org/officeDocument/2006/relationships/slideLayout" Target="/ppt/slideLayouts/slideLayout7.xml" Id="Raef751dcbfbc4271" /><Relationship Type="http://schemas.openxmlformats.org/officeDocument/2006/relationships/slideLayout" Target="/ppt/slideLayouts/slideLayout8.xml" Id="Rf1d086027e4243ef" /><Relationship Type="http://schemas.openxmlformats.org/officeDocument/2006/relationships/slideLayout" Target="/ppt/slideLayouts/slideLayout9.xml" Id="R65cff00f1c4743f4" /><Relationship Type="http://schemas.openxmlformats.org/officeDocument/2006/relationships/slideLayout" Target="/ppt/slideLayouts/slideLayout10.xml" Id="R9e4bfe8f51984d0c" /><Relationship Type="http://schemas.openxmlformats.org/officeDocument/2006/relationships/slideLayout" Target="/ppt/slideLayouts/slideLayout11.xml" Id="Rb19a179787c94d8e"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FEEE26-531D-487D-90CC-4F207A74E2C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C56BBC0-71B6-419E-9DF6-AF60CC3CD00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73DD697-1987-409D-9B50-9D88F76B6CD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74820924-9AF1-4DB5-A5A7-45D88CFC06A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D716DE6-005E-41F3-A99F-B190C664E66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3b3e7e789a4c4b"/>
    <p:sldLayoutId xmlns:r="http://schemas.openxmlformats.org/officeDocument/2006/relationships" id="2147483650" r:id="Rfc45c59d233f4a8a"/>
    <p:sldLayoutId xmlns:r="http://schemas.openxmlformats.org/officeDocument/2006/relationships" id="2147483651" r:id="Re95cb2388d5c46d8"/>
    <p:sldLayoutId xmlns:r="http://schemas.openxmlformats.org/officeDocument/2006/relationships" id="2147483652" r:id="R3055d6c102ab41f0"/>
    <p:sldLayoutId xmlns:r="http://schemas.openxmlformats.org/officeDocument/2006/relationships" id="2147483653" r:id="R54aa547b0abe4e44"/>
    <p:sldLayoutId xmlns:r="http://schemas.openxmlformats.org/officeDocument/2006/relationships" id="2147483654" r:id="Rf4934068f4b447b1"/>
    <p:sldLayoutId xmlns:r="http://schemas.openxmlformats.org/officeDocument/2006/relationships" id="2147483655" r:id="Raef751dcbfbc4271"/>
    <p:sldLayoutId xmlns:r="http://schemas.openxmlformats.org/officeDocument/2006/relationships" id="2147483656" r:id="Rf1d086027e4243ef"/>
    <p:sldLayoutId xmlns:r="http://schemas.openxmlformats.org/officeDocument/2006/relationships" id="2147483657" r:id="R65cff00f1c4743f4"/>
    <p:sldLayoutId xmlns:r="http://schemas.openxmlformats.org/officeDocument/2006/relationships" id="2147483658" r:id="R9e4bfe8f51984d0c"/>
    <p:sldLayoutId xmlns:r="http://schemas.openxmlformats.org/officeDocument/2006/relationships" id="2147483659" r:id="Rb19a179787c94d8e"/>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5fe6bccb4f3e4ae3" /><Relationship Type="http://schemas.openxmlformats.org/officeDocument/2006/relationships/image" Target="/ppt/media/image.png" Id="Rfd4c885c05a846ba" /><Relationship Type="http://schemas.openxmlformats.org/officeDocument/2006/relationships/notesSlide" Target="/ppt/notesSlides/notesSlide1.xml" Id="R30f7747211474549"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4395e22d1bc14436" /><Relationship Type="http://schemas.openxmlformats.org/officeDocument/2006/relationships/notesSlide" Target="/ppt/notesSlides/notesSlide2.xml" Id="R05fa5079052a49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8fc04d3b975f4800" /><Relationship Type="http://schemas.openxmlformats.org/officeDocument/2006/relationships/notesSlide" Target="/ppt/notesSlides/notesSlide3.xml" Id="R8c75b7d5456641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0302d3ee70d242f0" /><Relationship Type="http://schemas.openxmlformats.org/officeDocument/2006/relationships/notesSlide" Target="/ppt/notesSlides/notesSlide4.xml" Id="R78ed778c2c404968"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672175eabed54dc2" /><Relationship Type="http://schemas.openxmlformats.org/officeDocument/2006/relationships/notesSlide" Target="/ppt/notesSlides/notesSlide5.xml" Id="R0c4604c4ca564b87"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b352c9de88a14049" /><Relationship Type="http://schemas.openxmlformats.org/officeDocument/2006/relationships/notesSlide" Target="/ppt/notesSlides/notesSlide6.xml" Id="R9583396364f24b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25b81fb6db1245c6" /><Relationship Type="http://schemas.openxmlformats.org/officeDocument/2006/relationships/notesSlide" Target="/ppt/notesSlides/notesSlide7.xml" Id="R68b1fcca45f24c82"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ee7089f8443748b6" /><Relationship Type="http://schemas.openxmlformats.org/officeDocument/2006/relationships/notesSlide" Target="/ppt/notesSlides/notesSlide8.xml" Id="R7e690cb7ec7342d4"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781fb0b4a3714200" /><Relationship Type="http://schemas.openxmlformats.org/officeDocument/2006/relationships/notesSlide" Target="/ppt/notesSlides/notesSlide9.xml" Id="R69f9826d780c427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0d1968f891e0481a" /><Relationship Type="http://schemas.openxmlformats.org/officeDocument/2006/relationships/notesSlide" Target="/ppt/notesSlides/notesSlide10.xml" Id="Rf83a67e0903b442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c3fe6434525e4fe7" /><Relationship Type="http://schemas.openxmlformats.org/officeDocument/2006/relationships/notesSlide" Target="/ppt/notesSlides/notesSlide11.xml" Id="Refc90b7e8fac430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f2ab5159e8804ca6" /><Relationship Type="http://schemas.openxmlformats.org/officeDocument/2006/relationships/image" Target="/ppt/media/image.png" Id="R139fbc329b9a40bd" /><Relationship Type="http://schemas.openxmlformats.org/officeDocument/2006/relationships/notesSlide" Target="/ppt/notesSlides/notesSlide12.xml" Id="R197eee92da8b486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dc055327c3c24a0b" /><Relationship Type="http://schemas.openxmlformats.org/officeDocument/2006/relationships/image" Target="/ppt/media/image.png" Id="R468da1789e5b4870" /><Relationship Type="http://schemas.openxmlformats.org/officeDocument/2006/relationships/notesSlide" Target="/ppt/notesSlides/notesSlide13.xml" Id="R57a191c4d4b24eb5" /></Relationships>
</file>

<file path=ppt/slides/slide1.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pic>
        <p:nvPicPr>
          <p:cNvPr id="9" name="Picture 1"/>
          <p:cNvPicPr>
            <a:picLocks xmlns:a="http://schemas.openxmlformats.org/drawingml/2006/main" noChangeAspect="1"/>
          </p:cNvPicPr>
          <p:nvPr/>
        </p:nvPicPr>
        <p:blipFill>
          <a:blip xmlns:r="http://schemas.openxmlformats.org/officeDocument/2006/relationships" xmlns:a="http://schemas.openxmlformats.org/drawingml/2006/main" r:embed="Rfd4c885c05a846ba"/>
          <a:stretch xmlns:a="http://schemas.openxmlformats.org/drawingml/2006/main">
            <a:fillRect l="0" t="0" r="0" b="0"/>
          </a:stretch>
        </p:blipFill>
        <p:spPr>
          <a:xfrm xmlns:a="http://schemas.openxmlformats.org/drawingml/2006/main">
            <a:off x="4724704" y="548640"/>
            <a:ext cx="2743200" cy="2195075"/>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FE563BE6-A522-4E92-AC67-FFB63D6B74F2}"/>
              </a:ext>
            </a:extLst>
          </p:cNvPr>
          <p:cNvSpPr>
            <a:spLocks xmlns:a="http://schemas.openxmlformats.org/drawingml/2006/main" noGrp="1"/>
          </p:cNvSpPr>
          <p:nvPr/>
        </p:nvSpPr>
        <p:spPr>
          <a:xfrm xmlns:a="http://schemas.openxmlformats.org/drawingml/2006/main">
            <a:off x="0" y="3383280"/>
            <a:ext cx="12191695"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5400" b="1">
                <a:solidFill>
                  <a:srgbClr val="00FF41"/>
                </a:solidFill>
                <a:latin typeface="Consolas"/>
                <a:ea typeface="Consolas"/>
                <a:cs typeface="Consolas"/>
              </a:defRPr>
            </a:pPr>
            <a:r>
              <a:t>AGENTS COMMANDER</a:t>
            </a:r>
          </a:p>
        </p:txBody>
      </p:sp>
      <p:sp>
        <p:nvSpPr>
          <p:cNvPr id="4" name="TextBox 3">
            <a:extLst xmlns:a="http://schemas.openxmlformats.org/drawingml/2006/main">
              <a:ext uri="{FF2B5EF4-FFF2-40B4-BE49-F238E27FC236}">
                <a16:creationId xmlns:a16="http://schemas.microsoft.com/office/drawing/2014/main" id="{41191EC2-0170-423E-B785-102419F74F3E}"/>
              </a:ext>
            </a:extLst>
          </p:cNvPr>
          <p:cNvSpPr>
            <a:spLocks xmlns:a="http://schemas.openxmlformats.org/drawingml/2006/main" noGrp="1"/>
          </p:cNvSpPr>
          <p:nvPr/>
        </p:nvSpPr>
        <p:spPr>
          <a:xfrm xmlns:a="http://schemas.openxmlformats.org/drawingml/2006/main">
            <a:off x="0" y="4297680"/>
            <a:ext cx="12191695"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400" b="0">
                <a:solidFill>
                  <a:srgbClr val="7A9A7A"/>
                </a:solidFill>
                <a:latin typeface="Consolas"/>
                <a:ea typeface="Consolas"/>
                <a:cs typeface="Consolas"/>
              </a:defRPr>
            </a:pPr>
            <a:r>
              <a:t>Observable handoffs between terminal-native AI agents</a:t>
            </a:r>
          </a:p>
        </p:txBody>
      </p:sp>
      <p:sp>
        <p:nvSpPr>
          <p:cNvPr id="5" name="TextBox 4">
            <a:extLst xmlns:a="http://schemas.openxmlformats.org/drawingml/2006/main">
              <a:ext uri="{FF2B5EF4-FFF2-40B4-BE49-F238E27FC236}">
                <a16:creationId xmlns:a16="http://schemas.microsoft.com/office/drawing/2014/main" id="{9BC0269B-D4B5-4E2B-9998-0593711684D8}"/>
              </a:ext>
            </a:extLst>
          </p:cNvPr>
          <p:cNvSpPr>
            <a:spLocks xmlns:a="http://schemas.openxmlformats.org/drawingml/2006/main" noGrp="1"/>
          </p:cNvSpPr>
          <p:nvPr/>
        </p:nvSpPr>
        <p:spPr>
          <a:xfrm xmlns:a="http://schemas.openxmlformats.org/drawingml/2006/main">
            <a:off x="0" y="5120640"/>
            <a:ext cx="12191695"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600" b="0">
                <a:solidFill>
                  <a:srgbClr val="4A6A4A"/>
                </a:solidFill>
                <a:latin typeface="Consolas"/>
                <a:ea typeface="Consolas"/>
                <a:cs typeface="Consolas"/>
              </a:defRPr>
            </a:pPr>
            <a:r>
              <a:t>Code Europe  •  Warsaw  •  Live protocol session</a:t>
            </a:r>
          </a:p>
        </p:txBody>
      </p:sp>
      <p:sp>
        <p:nvSpPr>
          <p:cNvPr id="6" name="TextBox 5">
            <a:extLst xmlns:a="http://schemas.openxmlformats.org/drawingml/2006/main">
              <a:ext uri="{FF2B5EF4-FFF2-40B4-BE49-F238E27FC236}">
                <a16:creationId xmlns:a16="http://schemas.microsoft.com/office/drawing/2014/main" id="{512402D6-EADC-4756-91DD-C6F372D7D266}"/>
              </a:ext>
            </a:extLst>
          </p:cNvPr>
          <p:cNvSpPr>
            <a:spLocks xmlns:a="http://schemas.openxmlformats.org/drawingml/2006/main" noGrp="1"/>
          </p:cNvSpPr>
          <p:nvPr/>
        </p:nvSpPr>
        <p:spPr>
          <a:xfrm xmlns:a="http://schemas.openxmlformats.org/drawingml/2006/main">
            <a:off x="0" y="59436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300" b="0">
                <a:solidFill>
                  <a:srgbClr val="4A6A4A"/>
                </a:solidFill>
                <a:latin typeface="Consolas"/>
                <a:ea typeface="Consolas"/>
                <a:cs typeface="Consolas"/>
              </a:defRPr>
            </a:pPr>
            <a:r>
              <a:t>Lech Kalinowski  •  v0.1.5  •  CC BY-NC 4.0</a:t>
            </a:r>
          </a:p>
        </p:txBody>
      </p:sp>
      <p:sp>
        <p:nvSpPr>
          <p:cNvPr id="7" name="TextBox 6">
            <a:extLst xmlns:a="http://schemas.openxmlformats.org/drawingml/2006/main">
              <a:ext uri="{FF2B5EF4-FFF2-40B4-BE49-F238E27FC236}">
                <a16:creationId xmlns:a16="http://schemas.microsoft.com/office/drawing/2014/main" id="{6DC6C857-8428-433C-B7DE-9F4EF04C48BE}"/>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1/13</a:t>
            </a:r>
          </a:p>
        </p:txBody>
      </p:sp>
    </p:spTree>
    <p:extLst>
      <p:ext uri="{BB962C8B-B14F-4D97-AF65-F5344CB8AC3E}">
        <p14:creationId xmlns:p14="http://schemas.microsoft.com/office/powerpoint/2010/main" val="495145724"/>
      </p:ext>
    </p:extLst>
  </p:cSld>
</p:sld>
</file>

<file path=ppt/slides/slide2.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DB7FB2E-79B3-4C79-BF29-306AB845B373}"/>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THE FRICTION</a:t>
            </a:r>
          </a:p>
        </p:txBody>
      </p:sp>
      <p:sp>
        <p:nvSpPr>
          <p:cNvPr id="3" name="TextBox 2">
            <a:extLst xmlns:a="http://schemas.openxmlformats.org/drawingml/2006/main">
              <a:ext uri="{FF2B5EF4-FFF2-40B4-BE49-F238E27FC236}">
                <a16:creationId xmlns:a16="http://schemas.microsoft.com/office/drawing/2014/main" id="{7A16B2E3-80F8-418E-BD97-B8277A055761}"/>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Your agents are capable. Their handoffs are invisible.</a:t>
            </a:r>
          </a:p>
        </p:txBody>
      </p:sp>
      <p:sp>
        <p:nvSpPr>
          <p:cNvPr id="4" name="Rounded Rectangle 3">
            <a:extLst xmlns:a="http://schemas.openxmlformats.org/drawingml/2006/main">
              <a:ext uri="{FF2B5EF4-FFF2-40B4-BE49-F238E27FC236}">
                <a16:creationId xmlns:a16="http://schemas.microsoft.com/office/drawing/2014/main" id="{4A8BA537-401B-4076-B401-A7EA6D2EF829}"/>
              </a:ext>
            </a:extLst>
          </p:cNvPr>
          <p:cNvSpPr>
            <a:spLocks xmlns:a="http://schemas.openxmlformats.org/drawingml/2006/main" noGrp="1"/>
          </p:cNvSpPr>
          <p:nvPr/>
        </p:nvSpPr>
        <p:spPr>
          <a:xfrm xmlns:a="http://schemas.openxmlformats.org/drawingml/2006/main">
            <a:off x="731520" y="228600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1F5B12D-9D1F-4767-B1BF-D5C204E6EBF7}"/>
              </a:ext>
            </a:extLst>
          </p:cNvPr>
          <p:cNvSpPr>
            <a:spLocks xmlns:a="http://schemas.openxmlformats.org/drawingml/2006/main" noGrp="1"/>
          </p:cNvSpPr>
          <p:nvPr/>
        </p:nvSpPr>
        <p:spPr>
          <a:xfrm xmlns:a="http://schemas.openxmlformats.org/drawingml/2006/main">
            <a:off x="1005840" y="265176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800" b="1">
                <a:solidFill>
                  <a:srgbClr val="FF4444"/>
                </a:solidFill>
                <a:latin typeface="Consolas"/>
                <a:ea typeface="Consolas"/>
                <a:cs typeface="Consolas"/>
              </a:defRPr>
            </a:pPr>
            <a:r>
              <a:t>✖</a:t>
            </a:r>
          </a:p>
        </p:txBody>
      </p:sp>
      <p:sp>
        <p:nvSpPr>
          <p:cNvPr id="6" name="TextBox 5">
            <a:extLst xmlns:a="http://schemas.openxmlformats.org/drawingml/2006/main">
              <a:ext uri="{FF2B5EF4-FFF2-40B4-BE49-F238E27FC236}">
                <a16:creationId xmlns:a16="http://schemas.microsoft.com/office/drawing/2014/main" id="{36AA03E3-6B25-47E7-A18B-8F4D0C18AE26}"/>
              </a:ext>
            </a:extLst>
          </p:cNvPr>
          <p:cNvSpPr>
            <a:spLocks xmlns:a="http://schemas.openxmlformats.org/drawingml/2006/main" noGrp="1"/>
          </p:cNvSpPr>
          <p:nvPr/>
        </p:nvSpPr>
        <p:spPr>
          <a:xfrm xmlns:a="http://schemas.openxmlformats.org/drawingml/2006/main">
            <a:off x="1005840" y="320040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000" b="1">
                <a:solidFill>
                  <a:srgbClr val="D0E8D0"/>
                </a:solidFill>
                <a:latin typeface="Consolas"/>
                <a:ea typeface="Consolas"/>
                <a:cs typeface="Consolas"/>
              </a:defRPr>
            </a:pPr>
            <a:r>
              <a:t>Separate Sessions</a:t>
            </a:r>
          </a:p>
        </p:txBody>
      </p:sp>
      <p:sp>
        <p:nvSpPr>
          <p:cNvPr id="7" name="TextBox 6">
            <a:extLst xmlns:a="http://schemas.openxmlformats.org/drawingml/2006/main">
              <a:ext uri="{FF2B5EF4-FFF2-40B4-BE49-F238E27FC236}">
                <a16:creationId xmlns:a16="http://schemas.microsoft.com/office/drawing/2014/main" id="{6F445219-C048-47E8-8BFF-3B5F93CDAFF5}"/>
              </a:ext>
            </a:extLst>
          </p:cNvPr>
          <p:cNvSpPr>
            <a:spLocks xmlns:a="http://schemas.openxmlformats.org/drawingml/2006/main" noGrp="1"/>
          </p:cNvSpPr>
          <p:nvPr/>
        </p:nvSpPr>
        <p:spPr>
          <a:xfrm xmlns:a="http://schemas.openxmlformats.org/drawingml/2006/main">
            <a:off x="1005840" y="3840480"/>
            <a:ext cx="2743200" cy="14630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Each CLI owns its own PTY, context, and output stream.
Coordination is invisible by default.</a:t>
            </a:r>
          </a:p>
        </p:txBody>
      </p:sp>
      <p:sp>
        <p:nvSpPr>
          <p:cNvPr id="8" name="Rounded Rectangle 7">
            <a:extLst xmlns:a="http://schemas.openxmlformats.org/drawingml/2006/main">
              <a:ext uri="{FF2B5EF4-FFF2-40B4-BE49-F238E27FC236}">
                <a16:creationId xmlns:a16="http://schemas.microsoft.com/office/drawing/2014/main" id="{1CF19786-0700-45F1-AF72-DDE1B671F25B}"/>
              </a:ext>
            </a:extLst>
          </p:cNvPr>
          <p:cNvSpPr>
            <a:spLocks xmlns:a="http://schemas.openxmlformats.org/drawingml/2006/main" noGrp="1"/>
          </p:cNvSpPr>
          <p:nvPr/>
        </p:nvSpPr>
        <p:spPr>
          <a:xfrm xmlns:a="http://schemas.openxmlformats.org/drawingml/2006/main">
            <a:off x="4389120" y="228600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232865A-4F38-4EFF-8D46-1F139EB25503}"/>
              </a:ext>
            </a:extLst>
          </p:cNvPr>
          <p:cNvSpPr>
            <a:spLocks xmlns:a="http://schemas.openxmlformats.org/drawingml/2006/main" noGrp="1"/>
          </p:cNvSpPr>
          <p:nvPr/>
        </p:nvSpPr>
        <p:spPr>
          <a:xfrm xmlns:a="http://schemas.openxmlformats.org/drawingml/2006/main">
            <a:off x="4663440" y="265176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800" b="1">
                <a:solidFill>
                  <a:srgbClr val="FF4444"/>
                </a:solidFill>
                <a:latin typeface="Consolas"/>
                <a:ea typeface="Consolas"/>
                <a:cs typeface="Consolas"/>
              </a:defRPr>
            </a:pPr>
            <a:r>
              <a:t>✖</a:t>
            </a:r>
          </a:p>
        </p:txBody>
      </p:sp>
      <p:sp>
        <p:nvSpPr>
          <p:cNvPr id="10" name="TextBox 9">
            <a:extLst xmlns:a="http://schemas.openxmlformats.org/drawingml/2006/main">
              <a:ext uri="{FF2B5EF4-FFF2-40B4-BE49-F238E27FC236}">
                <a16:creationId xmlns:a16="http://schemas.microsoft.com/office/drawing/2014/main" id="{241711A9-517B-4A15-9941-D0EC60EE3345}"/>
              </a:ext>
            </a:extLst>
          </p:cNvPr>
          <p:cNvSpPr>
            <a:spLocks xmlns:a="http://schemas.openxmlformats.org/drawingml/2006/main" noGrp="1"/>
          </p:cNvSpPr>
          <p:nvPr/>
        </p:nvSpPr>
        <p:spPr>
          <a:xfrm xmlns:a="http://schemas.openxmlformats.org/drawingml/2006/main">
            <a:off x="4663440" y="320040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000" b="1">
                <a:solidFill>
                  <a:srgbClr val="D0E8D0"/>
                </a:solidFill>
                <a:latin typeface="Consolas"/>
                <a:ea typeface="Consolas"/>
                <a:cs typeface="Consolas"/>
              </a:defRPr>
            </a:pPr>
            <a:r>
              <a:t>Manual Handoffs</a:t>
            </a:r>
          </a:p>
        </p:txBody>
      </p:sp>
      <p:sp>
        <p:nvSpPr>
          <p:cNvPr id="11" name="TextBox 10">
            <a:extLst xmlns:a="http://schemas.openxmlformats.org/drawingml/2006/main">
              <a:ext uri="{FF2B5EF4-FFF2-40B4-BE49-F238E27FC236}">
                <a16:creationId xmlns:a16="http://schemas.microsoft.com/office/drawing/2014/main" id="{5BBA05EB-136A-4DDC-8081-81E60D277DA3}"/>
              </a:ext>
            </a:extLst>
          </p:cNvPr>
          <p:cNvSpPr>
            <a:spLocks xmlns:a="http://schemas.openxmlformats.org/drawingml/2006/main" noGrp="1"/>
          </p:cNvSpPr>
          <p:nvPr/>
        </p:nvSpPr>
        <p:spPr>
          <a:xfrm xmlns:a="http://schemas.openxmlformats.org/drawingml/2006/main">
            <a:off x="4663440" y="3840480"/>
            <a:ext cx="2743200" cy="14630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Copy, paste, reframe, repeat.
Every transfer loses time and provenance.</a:t>
            </a:r>
          </a:p>
        </p:txBody>
      </p:sp>
      <p:sp>
        <p:nvSpPr>
          <p:cNvPr id="12" name="Rounded Rectangle 11">
            <a:extLst xmlns:a="http://schemas.openxmlformats.org/drawingml/2006/main">
              <a:ext uri="{FF2B5EF4-FFF2-40B4-BE49-F238E27FC236}">
                <a16:creationId xmlns:a16="http://schemas.microsoft.com/office/drawing/2014/main" id="{B858EAC9-F2DE-4213-A2A0-2A5570C31F0B}"/>
              </a:ext>
            </a:extLst>
          </p:cNvPr>
          <p:cNvSpPr>
            <a:spLocks xmlns:a="http://schemas.openxmlformats.org/drawingml/2006/main" noGrp="1"/>
          </p:cNvSpPr>
          <p:nvPr/>
        </p:nvSpPr>
        <p:spPr>
          <a:xfrm xmlns:a="http://schemas.openxmlformats.org/drawingml/2006/main">
            <a:off x="8046720" y="228600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22E90B1-0489-4F4C-B5A2-001B66FBA773}"/>
              </a:ext>
            </a:extLst>
          </p:cNvPr>
          <p:cNvSpPr>
            <a:spLocks xmlns:a="http://schemas.openxmlformats.org/drawingml/2006/main" noGrp="1"/>
          </p:cNvSpPr>
          <p:nvPr/>
        </p:nvSpPr>
        <p:spPr>
          <a:xfrm xmlns:a="http://schemas.openxmlformats.org/drawingml/2006/main">
            <a:off x="8321040" y="265176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800" b="1">
                <a:solidFill>
                  <a:srgbClr val="FF4444"/>
                </a:solidFill>
                <a:latin typeface="Consolas"/>
                <a:ea typeface="Consolas"/>
                <a:cs typeface="Consolas"/>
              </a:defRPr>
            </a:pPr>
            <a:r>
              <a:t>✖</a:t>
            </a:r>
          </a:p>
        </p:txBody>
      </p:sp>
      <p:sp>
        <p:nvSpPr>
          <p:cNvPr id="14" name="TextBox 13">
            <a:extLst xmlns:a="http://schemas.openxmlformats.org/drawingml/2006/main">
              <a:ext uri="{FF2B5EF4-FFF2-40B4-BE49-F238E27FC236}">
                <a16:creationId xmlns:a16="http://schemas.microsoft.com/office/drawing/2014/main" id="{C2BB9575-96D9-42C7-A4D1-5F2E947B6729}"/>
              </a:ext>
            </a:extLst>
          </p:cNvPr>
          <p:cNvSpPr>
            <a:spLocks xmlns:a="http://schemas.openxmlformats.org/drawingml/2006/main" noGrp="1"/>
          </p:cNvSpPr>
          <p:nvPr/>
        </p:nvSpPr>
        <p:spPr>
          <a:xfrm xmlns:a="http://schemas.openxmlformats.org/drawingml/2006/main">
            <a:off x="8321040" y="320040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000" b="1">
                <a:solidFill>
                  <a:srgbClr val="D0E8D0"/>
                </a:solidFill>
                <a:latin typeface="Consolas"/>
                <a:ea typeface="Consolas"/>
                <a:cs typeface="Consolas"/>
              </a:defRPr>
            </a:pPr>
            <a:r>
              <a:t>Hidden State</a:t>
            </a:r>
          </a:p>
        </p:txBody>
      </p:sp>
      <p:sp>
        <p:nvSpPr>
          <p:cNvPr id="15" name="TextBox 14">
            <a:extLst xmlns:a="http://schemas.openxmlformats.org/drawingml/2006/main">
              <a:ext uri="{FF2B5EF4-FFF2-40B4-BE49-F238E27FC236}">
                <a16:creationId xmlns:a16="http://schemas.microsoft.com/office/drawing/2014/main" id="{7325164A-A810-46D6-A6BA-5558150D5D13}"/>
              </a:ext>
            </a:extLst>
          </p:cNvPr>
          <p:cNvSpPr>
            <a:spLocks xmlns:a="http://schemas.openxmlformats.org/drawingml/2006/main" noGrp="1"/>
          </p:cNvSpPr>
          <p:nvPr/>
        </p:nvSpPr>
        <p:spPr>
          <a:xfrm xmlns:a="http://schemas.openxmlformats.org/drawingml/2006/main">
            <a:off x="8321040" y="3840480"/>
            <a:ext cx="2743200" cy="14630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A task can move, stall, or fail without a shared view of delivery,
replies, and ownership.</a:t>
            </a:r>
          </a:p>
        </p:txBody>
      </p:sp>
      <p:sp>
        <p:nvSpPr>
          <p:cNvPr id="16" name="TextBox 15">
            <a:extLst xmlns:a="http://schemas.openxmlformats.org/drawingml/2006/main">
              <a:ext uri="{FF2B5EF4-FFF2-40B4-BE49-F238E27FC236}">
                <a16:creationId xmlns:a16="http://schemas.microsoft.com/office/drawing/2014/main" id="{B733AC0A-325D-4589-BFD5-C49C65F936DA}"/>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2/13</a:t>
            </a:r>
          </a:p>
        </p:txBody>
      </p:sp>
    </p:spTree>
    <p:extLst>
      <p:ext uri="{BB962C8B-B14F-4D97-AF65-F5344CB8AC3E}">
        <p14:creationId xmlns:p14="http://schemas.microsoft.com/office/powerpoint/2010/main" val="2126517147"/>
      </p:ext>
    </p:extLst>
  </p:cSld>
</p:sld>
</file>

<file path=ppt/slides/slide3.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THE CORE LOOP</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Teach. Scan. Route. Keep agents unchanged.</a:t>
            </a:r>
          </a:p>
        </p:txBody>
      </p:sp>
      <p:sp>
        <p:nvSpPr>
          <p:cNvPr id="4" name="TextBox 3">
            <a:extLst xmlns:a="http://schemas.openxmlformats.org/drawingml/2006/main">
              <a:ext uri="{FF2B5EF4-FFF2-40B4-BE49-F238E27FC236}">
                <a16:creationId xmlns:a16="http://schemas.microsoft.com/office/drawing/2014/main" id="{E8180EE0-9054-4818-9FE5-F05E6BCCB4E1}"/>
              </a:ext>
            </a:extLst>
          </p:cNvPr>
          <p:cNvSpPr>
            <a:spLocks xmlns:a="http://schemas.openxmlformats.org/drawingml/2006/main" noGrp="1"/>
          </p:cNvSpPr>
          <p:nvPr/>
        </p:nvSpPr>
        <p:spPr>
          <a:xfrm xmlns:a="http://schemas.openxmlformats.org/drawingml/2006/main">
            <a:off x="731520" y="2011680"/>
            <a:ext cx="10058400"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7A9A7A"/>
                </a:solidFill>
                <a:latin typeface="Consolas"/>
                <a:ea typeface="Consolas"/>
                <a:cs typeface="Consolas"/>
              </a:defRPr>
            </a:pPr>
            <a:r>
              <a:rPr sz="1800" b="0">
                <a:solidFill>
                  <a:srgbClr val="9AB89A"/>
                </a:solidFill>
                <a:latin typeface="Consolas"/>
                <a:ea typeface="Consolas"/>
                <a:cs typeface="Consolas"/>
              </a:rPr>
              <a:t>Commander coordinates through each agent’s existing terminal input and output.</a:t>
            </a:r>
          </a:p>
        </p:txBody>
      </p:sp>
      <p:sp>
        <p:nvSpPr>
          <p:cNvPr id="5" name="Rounded Rectangle 4">
            <a:extLst xmlns:a="http://schemas.openxmlformats.org/drawingml/2006/main">
              <a:ext uri="{FF2B5EF4-FFF2-40B4-BE49-F238E27FC236}">
                <a16:creationId xmlns:a16="http://schemas.microsoft.com/office/drawing/2014/main" id="{29B138E6-A850-40F6-92B8-4556D634760F}"/>
              </a:ext>
            </a:extLst>
          </p:cNvPr>
          <p:cNvSpPr>
            <a:spLocks xmlns:a="http://schemas.openxmlformats.org/drawingml/2006/main" noGrp="1"/>
          </p:cNvSpPr>
          <p:nvPr/>
        </p:nvSpPr>
        <p:spPr>
          <a:xfrm xmlns:a="http://schemas.openxmlformats.org/drawingml/2006/main">
            <a:off x="731520" y="301752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27B75FD9-8258-4398-816F-372A13E3B095}"/>
              </a:ext>
            </a:extLst>
          </p:cNvPr>
          <p:cNvSpPr>
            <a:spLocks xmlns:a="http://schemas.openxmlformats.org/drawingml/2006/main" noGrp="1"/>
          </p:cNvSpPr>
          <p:nvPr/>
        </p:nvSpPr>
        <p:spPr>
          <a:xfrm xmlns:a="http://schemas.openxmlformats.org/drawingml/2006/main">
            <a:off x="1005840" y="3291840"/>
            <a:ext cx="457200" cy="457200"/>
          </a:xfrm>
          <a:prstGeom xmlns:a="http://schemas.openxmlformats.org/drawingml/2006/main" prst="ellipse">
            <a:avLst/>
          </a:prstGeom>
          <a:solidFill xmlns:a="http://schemas.openxmlformats.org/drawingml/2006/main">
            <a:srgbClr val="00882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defRPr sz="1800" b="1">
                <a:solidFill>
                  <a:srgbClr val="00FF41"/>
                </a:solidFill>
                <a:latin typeface="Consolas"/>
                <a:ea typeface="Consolas"/>
                <a:cs typeface="Consolas"/>
              </a:defRPr>
            </a:pPr>
            <a:r>
              <a:t>1</a:t>
            </a:r>
          </a:p>
        </p:txBody>
      </p:sp>
      <p:sp>
        <p:nvSpPr>
          <p:cNvPr id="7" name="TextBox 6">
            <a:extLst xmlns:a="http://schemas.openxmlformats.org/drawingml/2006/main">
              <a:ext uri="{FF2B5EF4-FFF2-40B4-BE49-F238E27FC236}">
                <a16:creationId xmlns:a16="http://schemas.microsoft.com/office/drawing/2014/main" id="{1613D8AE-EDB8-4FCD-B20F-581E57628E3E}"/>
              </a:ext>
            </a:extLst>
          </p:cNvPr>
          <p:cNvSpPr>
            <a:spLocks xmlns:a="http://schemas.openxmlformats.org/drawingml/2006/main" noGrp="1"/>
          </p:cNvSpPr>
          <p:nvPr/>
        </p:nvSpPr>
        <p:spPr>
          <a:xfrm xmlns:a="http://schemas.openxmlformats.org/drawingml/2006/main">
            <a:off x="1645920" y="3337560"/>
            <a:ext cx="210312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TEACH — Ctrl+P</a:t>
            </a:r>
          </a:p>
        </p:txBody>
      </p:sp>
      <p:sp>
        <p:nvSpPr>
          <p:cNvPr id="8" name="TextBox 7">
            <a:extLst xmlns:a="http://schemas.openxmlformats.org/drawingml/2006/main">
              <a:ext uri="{FF2B5EF4-FFF2-40B4-BE49-F238E27FC236}">
                <a16:creationId xmlns:a16="http://schemas.microsoft.com/office/drawing/2014/main" id="{75318279-C587-4CE4-9256-646FEDAC5DBA}"/>
              </a:ext>
            </a:extLst>
          </p:cNvPr>
          <p:cNvSpPr>
            <a:spLocks xmlns:a="http://schemas.openxmlformats.org/drawingml/2006/main" noGrp="1"/>
          </p:cNvSpPr>
          <p:nvPr/>
        </p:nvSpPr>
        <p:spPr>
          <a:xfrm xmlns:a="http://schemas.openxmlformats.org/drawingml/2006/main">
            <a:off x="1005840" y="4114800"/>
            <a:ext cx="27432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Teach one managed session and arm
a fresh private routing key.
No plugin or API adapter is injected.</a:t>
            </a:r>
          </a:p>
        </p:txBody>
      </p:sp>
      <p:sp>
        <p:nvSpPr>
          <p:cNvPr id="9" name="Rounded Rectangle 8">
            <a:extLst xmlns:a="http://schemas.openxmlformats.org/drawingml/2006/main">
              <a:ext uri="{FF2B5EF4-FFF2-40B4-BE49-F238E27FC236}">
                <a16:creationId xmlns:a16="http://schemas.microsoft.com/office/drawing/2014/main" id="{C09B4D58-3B44-4E8C-9702-8118808F89F4}"/>
              </a:ext>
            </a:extLst>
          </p:cNvPr>
          <p:cNvSpPr>
            <a:spLocks xmlns:a="http://schemas.openxmlformats.org/drawingml/2006/main" noGrp="1"/>
          </p:cNvSpPr>
          <p:nvPr/>
        </p:nvSpPr>
        <p:spPr>
          <a:xfrm xmlns:a="http://schemas.openxmlformats.org/drawingml/2006/main">
            <a:off x="4389120" y="301752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4074826A-7FAE-4F02-BA1C-65B8FE175B66}"/>
              </a:ext>
            </a:extLst>
          </p:cNvPr>
          <p:cNvSpPr>
            <a:spLocks xmlns:a="http://schemas.openxmlformats.org/drawingml/2006/main" noGrp="1"/>
          </p:cNvSpPr>
          <p:nvPr/>
        </p:nvSpPr>
        <p:spPr>
          <a:xfrm xmlns:a="http://schemas.openxmlformats.org/drawingml/2006/main">
            <a:off x="4663440" y="3291840"/>
            <a:ext cx="457200" cy="457200"/>
          </a:xfrm>
          <a:prstGeom xmlns:a="http://schemas.openxmlformats.org/drawingml/2006/main" prst="ellipse">
            <a:avLst/>
          </a:prstGeom>
          <a:solidFill xmlns:a="http://schemas.openxmlformats.org/drawingml/2006/main">
            <a:srgbClr val="00882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defRPr sz="1800" b="1">
                <a:solidFill>
                  <a:srgbClr val="00FF41"/>
                </a:solidFill>
                <a:latin typeface="Consolas"/>
                <a:ea typeface="Consolas"/>
                <a:cs typeface="Consolas"/>
              </a:defRPr>
            </a:pPr>
            <a:r>
              <a:t>2</a:t>
            </a:r>
          </a:p>
        </p:txBody>
      </p:sp>
      <p:sp>
        <p:nvSpPr>
          <p:cNvPr id="11" name="TextBox 10">
            <a:extLst xmlns:a="http://schemas.openxmlformats.org/drawingml/2006/main">
              <a:ext uri="{FF2B5EF4-FFF2-40B4-BE49-F238E27FC236}">
                <a16:creationId xmlns:a16="http://schemas.microsoft.com/office/drawing/2014/main" id="{C5583D51-0FA1-49FC-82C3-907DF3D810C9}"/>
              </a:ext>
            </a:extLst>
          </p:cNvPr>
          <p:cNvSpPr>
            <a:spLocks xmlns:a="http://schemas.openxmlformats.org/drawingml/2006/main" noGrp="1"/>
          </p:cNvSpPr>
          <p:nvPr/>
        </p:nvSpPr>
        <p:spPr>
          <a:xfrm xmlns:a="http://schemas.openxmlformats.org/drawingml/2006/main">
            <a:off x="5303520" y="3337560"/>
            <a:ext cx="2103120" cy="57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SCAN — Stream Output</a:t>
            </a:r>
          </a:p>
        </p:txBody>
      </p:sp>
      <p:sp>
        <p:nvSpPr>
          <p:cNvPr id="12" name="TextBox 11">
            <a:extLst xmlns:a="http://schemas.openxmlformats.org/drawingml/2006/main">
              <a:ext uri="{FF2B5EF4-FFF2-40B4-BE49-F238E27FC236}">
                <a16:creationId xmlns:a16="http://schemas.microsoft.com/office/drawing/2014/main" id="{772F5E9A-B89F-4EE6-A8B1-19B80FDF0BD3}"/>
              </a:ext>
            </a:extLst>
          </p:cNvPr>
          <p:cNvSpPr>
            <a:spLocks xmlns:a="http://schemas.openxmlformats.org/drawingml/2006/main" noGrp="1"/>
          </p:cNvSpPr>
          <p:nvPr/>
        </p:nvSpPr>
        <p:spPr>
          <a:xfrm xmlns:a="http://schemas.openxmlformats.org/drawingml/2006/main">
            <a:off x="4663440" y="4114800"/>
            <a:ext cx="27432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Normalize ANSI output and reconstruct
complete blocks across streamed chunks
and soft-wrapped terminal rows.</a:t>
            </a:r>
          </a:p>
        </p:txBody>
      </p:sp>
      <p:sp>
        <p:nvSpPr>
          <p:cNvPr id="13" name="Rounded Rectangle 12">
            <a:extLst xmlns:a="http://schemas.openxmlformats.org/drawingml/2006/main">
              <a:ext uri="{FF2B5EF4-FFF2-40B4-BE49-F238E27FC236}">
                <a16:creationId xmlns:a16="http://schemas.microsoft.com/office/drawing/2014/main" id="{AC580CDC-1F91-49DE-89D2-CD243F9D69B0}"/>
              </a:ext>
            </a:extLst>
          </p:cNvPr>
          <p:cNvSpPr>
            <a:spLocks xmlns:a="http://schemas.openxmlformats.org/drawingml/2006/main" noGrp="1"/>
          </p:cNvSpPr>
          <p:nvPr/>
        </p:nvSpPr>
        <p:spPr>
          <a:xfrm xmlns:a="http://schemas.openxmlformats.org/drawingml/2006/main">
            <a:off x="8046720" y="301752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Oval 13">
            <a:extLst xmlns:a="http://schemas.openxmlformats.org/drawingml/2006/main">
              <a:ext uri="{FF2B5EF4-FFF2-40B4-BE49-F238E27FC236}">
                <a16:creationId xmlns:a16="http://schemas.microsoft.com/office/drawing/2014/main" id="{C5EAD9D2-7ED9-4553-B438-580BF294FF23}"/>
              </a:ext>
            </a:extLst>
          </p:cNvPr>
          <p:cNvSpPr>
            <a:spLocks xmlns:a="http://schemas.openxmlformats.org/drawingml/2006/main" noGrp="1"/>
          </p:cNvSpPr>
          <p:nvPr/>
        </p:nvSpPr>
        <p:spPr>
          <a:xfrm xmlns:a="http://schemas.openxmlformats.org/drawingml/2006/main">
            <a:off x="8321040" y="3291840"/>
            <a:ext cx="457200" cy="457200"/>
          </a:xfrm>
          <a:prstGeom xmlns:a="http://schemas.openxmlformats.org/drawingml/2006/main" prst="ellipse">
            <a:avLst/>
          </a:prstGeom>
          <a:solidFill xmlns:a="http://schemas.openxmlformats.org/drawingml/2006/main">
            <a:srgbClr val="00882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defRPr sz="1800" b="1">
                <a:solidFill>
                  <a:srgbClr val="00FF41"/>
                </a:solidFill>
                <a:latin typeface="Consolas"/>
                <a:ea typeface="Consolas"/>
                <a:cs typeface="Consolas"/>
              </a:defRPr>
            </a:pPr>
            <a:r>
              <a:t>3</a:t>
            </a:r>
          </a:p>
        </p:txBody>
      </p:sp>
      <p:sp>
        <p:nvSpPr>
          <p:cNvPr id="15" name="TextBox 14">
            <a:extLst xmlns:a="http://schemas.openxmlformats.org/drawingml/2006/main">
              <a:ext uri="{FF2B5EF4-FFF2-40B4-BE49-F238E27FC236}">
                <a16:creationId xmlns:a16="http://schemas.microsoft.com/office/drawing/2014/main" id="{097BDA51-D39F-415B-9021-9979713B2890}"/>
              </a:ext>
            </a:extLst>
          </p:cNvPr>
          <p:cNvSpPr>
            <a:spLocks xmlns:a="http://schemas.openxmlformats.org/drawingml/2006/main" noGrp="1"/>
          </p:cNvSpPr>
          <p:nvPr/>
        </p:nvSpPr>
        <p:spPr>
          <a:xfrm xmlns:a="http://schemas.openxmlformats.org/drawingml/2006/main">
            <a:off x="8961120" y="3337560"/>
            <a:ext cx="2103120" cy="57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ROUTE — Deliver + Record</a:t>
            </a:r>
          </a:p>
        </p:txBody>
      </p:sp>
      <p:sp>
        <p:nvSpPr>
          <p:cNvPr id="16" name="TextBox 15">
            <a:extLst xmlns:a="http://schemas.openxmlformats.org/drawingml/2006/main">
              <a:ext uri="{FF2B5EF4-FFF2-40B4-BE49-F238E27FC236}">
                <a16:creationId xmlns:a16="http://schemas.microsoft.com/office/drawing/2014/main" id="{8129C177-EA0A-44D6-99E5-EB0BFF6B4887}"/>
              </a:ext>
            </a:extLst>
          </p:cNvPr>
          <p:cNvSpPr>
            <a:spLocks xmlns:a="http://schemas.openxmlformats.org/drawingml/2006/main" noGrp="1"/>
          </p:cNvSpPr>
          <p:nvPr/>
        </p:nvSpPr>
        <p:spPr>
          <a:xfrm xmlns:a="http://schemas.openxmlformats.org/drawingml/2006/main">
            <a:off x="8321040" y="4114800"/>
            <a:ext cx="27432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Validate the target, deliver through its PTY,
then record thread/message IDs,
status, and an explicit ACK.</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3/13</a:t>
            </a:r>
          </a:p>
        </p:txBody>
      </p:sp>
    </p:spTree>
    <p:extLst>
      <p:ext uri="{BB962C8B-B14F-4D97-AF65-F5344CB8AC3E}">
        <p14:creationId xmlns:p14="http://schemas.microsoft.com/office/powerpoint/2010/main" val="2090962750"/>
      </p:ext>
    </p:extLst>
  </p:cSld>
</p:sld>
</file>

<file path=ppt/slides/slide4.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4F931B-3CEF-428C-BDDD-1E469E282935}"/>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COMMANDER PROTOCOL</a:t>
            </a:r>
          </a:p>
        </p:txBody>
      </p:sp>
      <p:sp>
        <p:nvSpPr>
          <p:cNvPr id="3" name="TextBox 2">
            <a:extLst xmlns:a="http://schemas.openxmlformats.org/drawingml/2006/main">
              <a:ext uri="{FF2B5EF4-FFF2-40B4-BE49-F238E27FC236}">
                <a16:creationId xmlns:a16="http://schemas.microsoft.com/office/drawing/2014/main" id="{0392EC51-FF0C-4F64-AA85-4771C7D692F3}"/>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Five verbs. One session key. Explicit handoffs.</a:t>
            </a:r>
          </a:p>
        </p:txBody>
      </p:sp>
      <p:sp>
        <p:nvSpPr>
          <p:cNvPr id="4" name="TextBox 3">
            <a:extLst xmlns:a="http://schemas.openxmlformats.org/drawingml/2006/main">
              <a:ext uri="{FF2B5EF4-FFF2-40B4-BE49-F238E27FC236}">
                <a16:creationId xmlns:a16="http://schemas.microsoft.com/office/drawing/2014/main" id="{958F19BE-EC95-4CE7-A937-044AA66722C9}"/>
              </a:ext>
            </a:extLst>
          </p:cNvPr>
          <p:cNvSpPr>
            <a:spLocks xmlns:a="http://schemas.openxmlformats.org/drawingml/2006/main" noGrp="1"/>
          </p:cNvSpPr>
          <p:nvPr/>
        </p:nvSpPr>
        <p:spPr>
          <a:xfrm xmlns:a="http://schemas.openxmlformats.org/drawingml/2006/main">
            <a:off x="731520" y="20116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SEND</a:t>
            </a:r>
          </a:p>
        </p:txBody>
      </p:sp>
      <p:sp>
        <p:nvSpPr>
          <p:cNvPr id="5" name="TextBox 4">
            <a:extLst xmlns:a="http://schemas.openxmlformats.org/drawingml/2006/main">
              <a:ext uri="{FF2B5EF4-FFF2-40B4-BE49-F238E27FC236}">
                <a16:creationId xmlns:a16="http://schemas.microsoft.com/office/drawing/2014/main" id="{C47FCCB7-749F-4BBD-B669-1747CC472460}"/>
              </a:ext>
            </a:extLst>
          </p:cNvPr>
          <p:cNvSpPr>
            <a:spLocks xmlns:a="http://schemas.openxmlformats.org/drawingml/2006/main" noGrp="1"/>
          </p:cNvSpPr>
          <p:nvPr/>
        </p:nvSpPr>
        <p:spPr>
          <a:xfrm xmlns:a="http://schemas.openxmlformats.org/drawingml/2006/main">
            <a:off x="2286000" y="20116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Deliver to a named agent and panel</a:t>
            </a:r>
          </a:p>
        </p:txBody>
      </p:sp>
      <p:sp>
        <p:nvSpPr>
          <p:cNvPr id="6" name="TextBox 5">
            <a:extLst xmlns:a="http://schemas.openxmlformats.org/drawingml/2006/main">
              <a:ext uri="{FF2B5EF4-FFF2-40B4-BE49-F238E27FC236}">
                <a16:creationId xmlns:a16="http://schemas.microsoft.com/office/drawing/2014/main" id="{083E3287-6A63-4B1A-8CC5-B61FE3D65FAD}"/>
              </a:ext>
            </a:extLst>
          </p:cNvPr>
          <p:cNvSpPr>
            <a:spLocks xmlns:a="http://schemas.openxmlformats.org/drawingml/2006/main" noGrp="1"/>
          </p:cNvSpPr>
          <p:nvPr/>
        </p:nvSpPr>
        <p:spPr>
          <a:xfrm xmlns:a="http://schemas.openxmlformats.org/drawingml/2006/main">
            <a:off x="731520" y="29260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REPLY</a:t>
            </a:r>
          </a:p>
        </p:txBody>
      </p:sp>
      <p:sp>
        <p:nvSpPr>
          <p:cNvPr id="7" name="TextBox 6">
            <a:extLst xmlns:a="http://schemas.openxmlformats.org/drawingml/2006/main">
              <a:ext uri="{FF2B5EF4-FFF2-40B4-BE49-F238E27FC236}">
                <a16:creationId xmlns:a16="http://schemas.microsoft.com/office/drawing/2014/main" id="{5103057C-F157-43BE-BB85-4A08D1218C3D}"/>
              </a:ext>
            </a:extLst>
          </p:cNvPr>
          <p:cNvSpPr>
            <a:spLocks xmlns:a="http://schemas.openxmlformats.org/drawingml/2006/main" noGrp="1"/>
          </p:cNvSpPr>
          <p:nvPr/>
        </p:nvSpPr>
        <p:spPr>
          <a:xfrm xmlns:a="http://schemas.openxmlformats.org/drawingml/2006/main">
            <a:off x="2286000" y="29260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Continue the last routed thread</a:t>
            </a:r>
          </a:p>
        </p:txBody>
      </p:sp>
      <p:sp>
        <p:nvSpPr>
          <p:cNvPr id="8" name="TextBox 7">
            <a:extLst xmlns:a="http://schemas.openxmlformats.org/drawingml/2006/main">
              <a:ext uri="{FF2B5EF4-FFF2-40B4-BE49-F238E27FC236}">
                <a16:creationId xmlns:a16="http://schemas.microsoft.com/office/drawing/2014/main" id="{07594296-2844-44D0-AC77-305A39982DA9}"/>
              </a:ext>
            </a:extLst>
          </p:cNvPr>
          <p:cNvSpPr>
            <a:spLocks xmlns:a="http://schemas.openxmlformats.org/drawingml/2006/main" noGrp="1"/>
          </p:cNvSpPr>
          <p:nvPr/>
        </p:nvSpPr>
        <p:spPr>
          <a:xfrm xmlns:a="http://schemas.openxmlformats.org/drawingml/2006/main">
            <a:off x="731520" y="3840480"/>
            <a:ext cx="16383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BROADCAST</a:t>
            </a:r>
          </a:p>
        </p:txBody>
      </p:sp>
      <p:sp>
        <p:nvSpPr>
          <p:cNvPr id="9" name="TextBox 8">
            <a:extLst xmlns:a="http://schemas.openxmlformats.org/drawingml/2006/main">
              <a:ext uri="{FF2B5EF4-FFF2-40B4-BE49-F238E27FC236}">
                <a16:creationId xmlns:a16="http://schemas.microsoft.com/office/drawing/2014/main" id="{C7378B50-A0BF-472A-8A4C-B7D2456D4E72}"/>
              </a:ext>
            </a:extLst>
          </p:cNvPr>
          <p:cNvSpPr>
            <a:spLocks xmlns:a="http://schemas.openxmlformats.org/drawingml/2006/main" noGrp="1"/>
          </p:cNvSpPr>
          <p:nvPr/>
        </p:nvSpPr>
        <p:spPr>
          <a:xfrm xmlns:a="http://schemas.openxmlformats.org/drawingml/2006/main">
            <a:off x="2476500" y="3840480"/>
            <a:ext cx="39243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Fan out to every other running agent</a:t>
            </a:r>
          </a:p>
        </p:txBody>
      </p:sp>
      <p:sp>
        <p:nvSpPr>
          <p:cNvPr id="10" name="TextBox 9">
            <a:extLst xmlns:a="http://schemas.openxmlformats.org/drawingml/2006/main">
              <a:ext uri="{FF2B5EF4-FFF2-40B4-BE49-F238E27FC236}">
                <a16:creationId xmlns:a16="http://schemas.microsoft.com/office/drawing/2014/main" id="{DA0BC42A-0553-4E7B-A050-78BF80D97122}"/>
              </a:ext>
            </a:extLst>
          </p:cNvPr>
          <p:cNvSpPr>
            <a:spLocks xmlns:a="http://schemas.openxmlformats.org/drawingml/2006/main" noGrp="1"/>
          </p:cNvSpPr>
          <p:nvPr/>
        </p:nvSpPr>
        <p:spPr>
          <a:xfrm xmlns:a="http://schemas.openxmlformats.org/drawingml/2006/main">
            <a:off x="731520" y="47548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STATUS</a:t>
            </a:r>
          </a:p>
        </p:txBody>
      </p:sp>
      <p:sp>
        <p:nvSpPr>
          <p:cNvPr id="11" name="TextBox 10">
            <a:extLst xmlns:a="http://schemas.openxmlformats.org/drawingml/2006/main">
              <a:ext uri="{FF2B5EF4-FFF2-40B4-BE49-F238E27FC236}">
                <a16:creationId xmlns:a16="http://schemas.microsoft.com/office/drawing/2014/main" id="{C390B50B-8D02-4ECA-8A37-A0596B4B46C8}"/>
              </a:ext>
            </a:extLst>
          </p:cNvPr>
          <p:cNvSpPr>
            <a:spLocks xmlns:a="http://schemas.openxmlformats.org/drawingml/2006/main" noGrp="1"/>
          </p:cNvSpPr>
          <p:nvPr/>
        </p:nvSpPr>
        <p:spPr>
          <a:xfrm xmlns:a="http://schemas.openxmlformats.org/drawingml/2006/main">
            <a:off x="2286000" y="47548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Update local progress; do not route</a:t>
            </a:r>
          </a:p>
        </p:txBody>
      </p:sp>
      <p:sp>
        <p:nvSpPr>
          <p:cNvPr id="12" name="TextBox 11">
            <a:extLst xmlns:a="http://schemas.openxmlformats.org/drawingml/2006/main">
              <a:ext uri="{FF2B5EF4-FFF2-40B4-BE49-F238E27FC236}">
                <a16:creationId xmlns:a16="http://schemas.microsoft.com/office/drawing/2014/main" id="{8387EA0D-E3A6-48C9-9C73-11DBE1B5C2B2}"/>
              </a:ext>
            </a:extLst>
          </p:cNvPr>
          <p:cNvSpPr>
            <a:spLocks xmlns:a="http://schemas.openxmlformats.org/drawingml/2006/main" noGrp="1"/>
          </p:cNvSpPr>
          <p:nvPr/>
        </p:nvSpPr>
        <p:spPr>
          <a:xfrm xmlns:a="http://schemas.openxmlformats.org/drawingml/2006/main">
            <a:off x="731520" y="56692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QUERY</a:t>
            </a:r>
          </a:p>
        </p:txBody>
      </p:sp>
      <p:sp>
        <p:nvSpPr>
          <p:cNvPr id="13" name="TextBox 12">
            <a:extLst xmlns:a="http://schemas.openxmlformats.org/drawingml/2006/main">
              <a:ext uri="{FF2B5EF4-FFF2-40B4-BE49-F238E27FC236}">
                <a16:creationId xmlns:a16="http://schemas.microsoft.com/office/drawing/2014/main" id="{9D740F22-9B06-4437-86D5-E91A30D9E922}"/>
              </a:ext>
            </a:extLst>
          </p:cNvPr>
          <p:cNvSpPr>
            <a:spLocks xmlns:a="http://schemas.openxmlformats.org/drawingml/2006/main" noGrp="1"/>
          </p:cNvSpPr>
          <p:nvPr/>
        </p:nvSpPr>
        <p:spPr>
          <a:xfrm xmlns:a="http://schemas.openxmlformats.org/drawingml/2006/main">
            <a:off x="2286000" y="56692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List the agents Commander can see</a:t>
            </a:r>
          </a:p>
        </p:txBody>
      </p:sp>
      <p:sp>
        <p:nvSpPr>
          <p:cNvPr id="14" name="Rounded Rectangle 13">
            <a:extLst xmlns:a="http://schemas.openxmlformats.org/drawingml/2006/main">
              <a:ext uri="{FF2B5EF4-FFF2-40B4-BE49-F238E27FC236}">
                <a16:creationId xmlns:a16="http://schemas.microsoft.com/office/drawing/2014/main" id="{65775697-7084-4910-905D-C867F98A7802}"/>
              </a:ext>
            </a:extLst>
          </p:cNvPr>
          <p:cNvSpPr>
            <a:spLocks xmlns:a="http://schemas.openxmlformats.org/drawingml/2006/main" noGrp="1"/>
          </p:cNvSpPr>
          <p:nvPr/>
        </p:nvSpPr>
        <p:spPr>
          <a:xfrm xmlns:a="http://schemas.openxmlformats.org/drawingml/2006/main">
            <a:off x="6858000" y="1828800"/>
            <a:ext cx="4754880" cy="45720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C2496A5-9F5B-4ECA-98A1-568B48BBC17B}"/>
              </a:ext>
            </a:extLst>
          </p:cNvPr>
          <p:cNvSpPr>
            <a:spLocks xmlns:a="http://schemas.openxmlformats.org/drawingml/2006/main" noGrp="1"/>
          </p:cNvSpPr>
          <p:nvPr/>
        </p:nvSpPr>
        <p:spPr>
          <a:xfrm xmlns:a="http://schemas.openxmlformats.org/drawingml/2006/main">
            <a:off x="7040880" y="1920240"/>
            <a:ext cx="438912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4A6A4A"/>
                </a:solidFill>
                <a:latin typeface="Consolas"/>
                <a:ea typeface="Consolas"/>
                <a:cs typeface="Consolas"/>
              </a:defRPr>
            </a:pPr>
            <a:r>
              <a:rPr sz="1200" b="1">
                <a:solidFill>
                  <a:srgbClr val="9AB89A"/>
                </a:solidFill>
                <a:latin typeface="Consolas"/>
                <a:ea typeface="Consolas"/>
                <a:cs typeface="Consolas"/>
              </a:rPr>
              <a:t>Examples (&lt;k&gt; is the private session key)</a:t>
            </a:r>
          </a:p>
        </p:txBody>
      </p:sp>
      <p:sp>
        <p:nvSpPr>
          <p:cNvPr id="16" name="TextBox 15">
            <a:extLst xmlns:a="http://schemas.openxmlformats.org/drawingml/2006/main">
              <a:ext uri="{FF2B5EF4-FFF2-40B4-BE49-F238E27FC236}">
                <a16:creationId xmlns:a16="http://schemas.microsoft.com/office/drawing/2014/main" id="{FC6D4426-1883-49A7-96CD-16CC023BB2A3}"/>
              </a:ext>
            </a:extLst>
          </p:cNvPr>
          <p:cNvSpPr>
            <a:spLocks xmlns:a="http://schemas.openxmlformats.org/drawingml/2006/main" noGrp="1"/>
          </p:cNvSpPr>
          <p:nvPr/>
        </p:nvSpPr>
        <p:spPr>
          <a:xfrm xmlns:a="http://schemas.openxmlformats.org/drawingml/2006/main">
            <a:off x="7040880" y="2286000"/>
            <a:ext cx="4389120" cy="4023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300" b="0">
                <a:solidFill>
                  <a:srgbClr val="4A6A4A"/>
                </a:solidFill>
                <a:latin typeface="Consolas"/>
                <a:ea typeface="Consolas"/>
                <a:cs typeface="Consolas"/>
              </a:defRPr>
            </a:pPr>
            <a:r>
              <a:t>// SEND — direct message</a:t>
            </a:r>
          </a:p>
          <a:p xmlns:a="http://schemas.openxmlformats.org/drawingml/2006/main">
            <a:pPr>
              <a:spcAft>
                <a:spcPts val="400"/>
              </a:spcAft>
              <a:buNone/>
              <a:defRPr sz="1300" b="1">
                <a:solidFill>
                  <a:srgbClr val="00FF41"/>
                </a:solidFill>
                <a:latin typeface="Consolas"/>
                <a:ea typeface="Consolas"/>
                <a:cs typeface="Consolas"/>
              </a:defRPr>
            </a:pPr>
            <a:r>
              <a:t>===COMMANDER:SEND:codex:2:&lt;k&gt;===</a:t>
            </a:r>
          </a:p>
          <a:p xmlns:a="http://schemas.openxmlformats.org/drawingml/2006/main">
            <a:pPr>
              <a:spcAft>
                <a:spcPts val="400"/>
              </a:spcAft>
              <a:buNone/>
              <a:defRPr sz="1300" b="0">
                <a:solidFill>
                  <a:srgbClr val="D0E8D0"/>
                </a:solidFill>
                <a:latin typeface="Consolas"/>
                <a:ea typeface="Consolas"/>
                <a:cs typeface="Consolas"/>
              </a:defRPr>
            </a:pPr>
            <a:r>
              <a:t>Write unit tests for src/auth/</a:t>
            </a:r>
          </a:p>
          <a:p xmlns:a="http://schemas.openxmlformats.org/drawingml/2006/main">
            <a:pPr>
              <a:spcAft>
                <a:spcPts val="400"/>
              </a:spcAft>
              <a:buNone/>
              <a:defRPr sz="1300" b="1">
                <a:solidFill>
                  <a:srgbClr val="00FF41"/>
                </a:solidFill>
                <a:latin typeface="Consolas"/>
                <a:ea typeface="Consolas"/>
                <a:cs typeface="Consolas"/>
              </a:defRPr>
            </a:pPr>
            <a:r>
              <a:t>===COMMANDER:END:&lt;k&gt;===</a:t>
            </a:r>
          </a:p>
          <a:p xmlns:a="http://schemas.openxmlformats.org/drawingml/2006/main">
            <a:pPr>
              <a:spcAft>
                <a:spcPts val="400"/>
              </a:spcAft>
              <a:buNone/>
              <a:defRPr sz="1300" b="0">
                <a:solidFill>
                  <a:srgbClr val="D0E8D0"/>
                </a:solidFill>
                <a:latin typeface="Consolas"/>
                <a:ea typeface="Consolas"/>
                <a:cs typeface="Consolas"/>
              </a:defRPr>
            </a:pPr>
          </a:p>
          <a:p xmlns:a="http://schemas.openxmlformats.org/drawingml/2006/main">
            <a:pPr>
              <a:spcAft>
                <a:spcPts val="400"/>
              </a:spcAft>
              <a:buNone/>
              <a:defRPr sz="1300" b="0">
                <a:solidFill>
                  <a:srgbClr val="4A6A4A"/>
                </a:solidFill>
                <a:latin typeface="Consolas"/>
                <a:ea typeface="Consolas"/>
                <a:cs typeface="Consolas"/>
              </a:defRPr>
            </a:pPr>
            <a:r>
              <a:t>// REPLY — respond to sender</a:t>
            </a:r>
          </a:p>
          <a:p xmlns:a="http://schemas.openxmlformats.org/drawingml/2006/main">
            <a:pPr>
              <a:spcAft>
                <a:spcPts val="400"/>
              </a:spcAft>
              <a:buNone/>
              <a:defRPr sz="1300" b="1">
                <a:solidFill>
                  <a:srgbClr val="00FF41"/>
                </a:solidFill>
                <a:latin typeface="Consolas"/>
                <a:ea typeface="Consolas"/>
                <a:cs typeface="Consolas"/>
              </a:defRPr>
            </a:pPr>
            <a:r>
              <a:t>===COMMANDER:REPLY:&lt;k&gt;===</a:t>
            </a:r>
          </a:p>
          <a:p xmlns:a="http://schemas.openxmlformats.org/drawingml/2006/main">
            <a:pPr>
              <a:spcAft>
                <a:spcPts val="400"/>
              </a:spcAft>
              <a:buNone/>
              <a:defRPr sz="1300" b="0">
                <a:solidFill>
                  <a:srgbClr val="D0E8D0"/>
                </a:solidFill>
                <a:latin typeface="Consolas"/>
                <a:ea typeface="Consolas"/>
                <a:cs typeface="Consolas"/>
              </a:defRPr>
            </a:pPr>
            <a:r>
              <a:t>12 tests passing, 0 failing.</a:t>
            </a:r>
          </a:p>
          <a:p xmlns:a="http://schemas.openxmlformats.org/drawingml/2006/main">
            <a:pPr>
              <a:spcAft>
                <a:spcPts val="400"/>
              </a:spcAft>
              <a:buNone/>
              <a:defRPr sz="1300" b="1">
                <a:solidFill>
                  <a:srgbClr val="00FF41"/>
                </a:solidFill>
                <a:latin typeface="Consolas"/>
                <a:ea typeface="Consolas"/>
                <a:cs typeface="Consolas"/>
              </a:defRPr>
            </a:pPr>
            <a:r>
              <a:t>===COMMANDER:END:&lt;k&gt;===</a:t>
            </a:r>
          </a:p>
          <a:p xmlns:a="http://schemas.openxmlformats.org/drawingml/2006/main">
            <a:pPr>
              <a:spcAft>
                <a:spcPts val="400"/>
              </a:spcAft>
              <a:buNone/>
              <a:defRPr sz="1300" b="0">
                <a:solidFill>
                  <a:srgbClr val="D0E8D0"/>
                </a:solidFill>
                <a:latin typeface="Consolas"/>
                <a:ea typeface="Consolas"/>
                <a:cs typeface="Consolas"/>
              </a:defRPr>
            </a:pPr>
          </a:p>
          <a:p xmlns:a="http://schemas.openxmlformats.org/drawingml/2006/main">
            <a:pPr>
              <a:spcAft>
                <a:spcPts val="400"/>
              </a:spcAft>
              <a:buNone/>
              <a:defRPr sz="1300" b="0">
                <a:solidFill>
                  <a:srgbClr val="4A6A4A"/>
                </a:solidFill>
                <a:latin typeface="Consolas"/>
                <a:ea typeface="Consolas"/>
                <a:cs typeface="Consolas"/>
              </a:defRPr>
            </a:pPr>
            <a:r>
              <a:t>// BROADCAST — all other agents</a:t>
            </a:r>
          </a:p>
          <a:p xmlns:a="http://schemas.openxmlformats.org/drawingml/2006/main">
            <a:pPr>
              <a:spcAft>
                <a:spcPts val="400"/>
              </a:spcAft>
              <a:buNone/>
              <a:defRPr sz="1300" b="1">
                <a:solidFill>
                  <a:srgbClr val="00FF41"/>
                </a:solidFill>
                <a:latin typeface="Consolas"/>
                <a:ea typeface="Consolas"/>
                <a:cs typeface="Consolas"/>
              </a:defRPr>
            </a:pPr>
            <a:r>
              <a:t>===COMMANDER:BROADCAST:&lt;k&gt;===</a:t>
            </a:r>
          </a:p>
          <a:p xmlns:a="http://schemas.openxmlformats.org/drawingml/2006/main">
            <a:pPr>
              <a:spcAft>
                <a:spcPts val="400"/>
              </a:spcAft>
              <a:buNone/>
              <a:defRPr sz="1300" b="0">
                <a:solidFill>
                  <a:srgbClr val="D0E8D0"/>
                </a:solidFill>
                <a:latin typeface="Consolas"/>
                <a:ea typeface="Consolas"/>
                <a:cs typeface="Consolas"/>
              </a:defRPr>
            </a:pPr>
            <a:r>
              <a:t>Phase 1 complete. Begin phase 2.</a:t>
            </a:r>
          </a:p>
          <a:p xmlns:a="http://schemas.openxmlformats.org/drawingml/2006/main">
            <a:pPr>
              <a:spcAft>
                <a:spcPts val="400"/>
              </a:spcAft>
              <a:buNone/>
              <a:defRPr sz="1300" b="1">
                <a:solidFill>
                  <a:srgbClr val="00FF41"/>
                </a:solidFill>
                <a:latin typeface="Consolas"/>
                <a:ea typeface="Consolas"/>
                <a:cs typeface="Consolas"/>
              </a:defRPr>
            </a:pPr>
            <a:r>
              <a:t>===COMMANDER:END:&lt;k&gt;===</a:t>
            </a:r>
          </a:p>
          <a:p xmlns:a="http://schemas.openxmlformats.org/drawingml/2006/main">
            <a:pPr>
              <a:spcAft>
                <a:spcPts val="400"/>
              </a:spcAft>
              <a:buNone/>
              <a:defRPr sz="1300" b="0">
                <a:solidFill>
                  <a:srgbClr val="D0E8D0"/>
                </a:solidFill>
                <a:latin typeface="Consolas"/>
                <a:ea typeface="Consolas"/>
                <a:cs typeface="Consolas"/>
              </a:defRPr>
            </a:pPr>
          </a:p>
          <a:p xmlns:a="http://schemas.openxmlformats.org/drawingml/2006/main">
            <a:pPr>
              <a:spcAft>
                <a:spcPts val="400"/>
              </a:spcAft>
              <a:buNone/>
              <a:defRPr sz="1300" b="0">
                <a:solidFill>
                  <a:srgbClr val="00CC33"/>
                </a:solidFill>
                <a:latin typeface="Consolas"/>
                <a:ea typeface="Consolas"/>
                <a:cs typeface="Consolas"/>
              </a:defRPr>
            </a:pPr>
            <a:r>
              <a:t>→ Delivery creates IDs and an ACK</a:t>
            </a:r>
          </a:p>
        </p:txBody>
      </p:sp>
      <p:sp>
        <p:nvSpPr>
          <p:cNvPr id="17" name="TextBox 16">
            <a:extLst xmlns:a="http://schemas.openxmlformats.org/drawingml/2006/main">
              <a:ext uri="{FF2B5EF4-FFF2-40B4-BE49-F238E27FC236}">
                <a16:creationId xmlns:a16="http://schemas.microsoft.com/office/drawing/2014/main" id="{F2B74B2A-E1EC-4C33-BF64-34105BEEE0CB}"/>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4/13</a:t>
            </a:r>
          </a:p>
        </p:txBody>
      </p:sp>
    </p:spTree>
    <p:extLst>
      <p:ext uri="{BB962C8B-B14F-4D97-AF65-F5344CB8AC3E}">
        <p14:creationId xmlns:p14="http://schemas.microsoft.com/office/powerpoint/2010/main" val="503360568"/>
      </p:ext>
    </p:extLst>
  </p:cSld>
</p:sld>
</file>

<file path=ppt/slides/slide5.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14A90BD-F9A0-4DE6-94FF-FC226C52D935}"/>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STREAM CONTRACT</a:t>
            </a:r>
          </a:p>
        </p:txBody>
      </p:sp>
      <p:sp>
        <p:nvSpPr>
          <p:cNvPr id="3" name="TextBox 2">
            <a:extLst xmlns:a="http://schemas.openxmlformats.org/drawingml/2006/main">
              <a:ext uri="{FF2B5EF4-FFF2-40B4-BE49-F238E27FC236}">
                <a16:creationId xmlns:a16="http://schemas.microsoft.com/office/drawing/2014/main" id="{D4C72E13-4133-4A4A-AFAD-F67776F7D283}"/>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A route exists only after the stream is complete.</a:t>
            </a:r>
          </a:p>
        </p:txBody>
      </p:sp>
      <p:sp>
        <p:nvSpPr>
          <p:cNvPr id="4" name="Rounded Rectangle 3">
            <a:extLst xmlns:a="http://schemas.openxmlformats.org/drawingml/2006/main">
              <a:ext uri="{FF2B5EF4-FFF2-40B4-BE49-F238E27FC236}">
                <a16:creationId xmlns:a16="http://schemas.microsoft.com/office/drawing/2014/main" id="{2DEB8A47-8BE8-4BC0-B770-47ACE03E4A73}"/>
              </a:ext>
            </a:extLst>
          </p:cNvPr>
          <p:cNvSpPr>
            <a:spLocks xmlns:a="http://schemas.openxmlformats.org/drawingml/2006/main" noGrp="1"/>
          </p:cNvSpPr>
          <p:nvPr/>
        </p:nvSpPr>
        <p:spPr>
          <a:xfrm xmlns:a="http://schemas.openxmlformats.org/drawingml/2006/main">
            <a:off x="1371600" y="2286000"/>
            <a:ext cx="9418320" cy="201168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B43EF4F-765A-481C-9F3D-1FA43943D971}"/>
              </a:ext>
            </a:extLst>
          </p:cNvPr>
          <p:cNvSpPr>
            <a:spLocks xmlns:a="http://schemas.openxmlformats.org/drawingml/2006/main" noGrp="1"/>
          </p:cNvSpPr>
          <p:nvPr/>
        </p:nvSpPr>
        <p:spPr>
          <a:xfrm xmlns:a="http://schemas.openxmlformats.org/drawingml/2006/main">
            <a:off x="1828800" y="2560320"/>
            <a:ext cx="8229600"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800" b="1">
                <a:solidFill>
                  <a:srgbClr val="00FF41"/>
                </a:solidFill>
                <a:latin typeface="Consolas"/>
                <a:ea typeface="Consolas"/>
                <a:cs typeface="Consolas"/>
              </a:defRPr>
            </a:pPr>
            <a:r>
              <a:t>===COMMANDER:SEND:codex:2:&lt;k&gt;===</a:t>
            </a:r>
          </a:p>
        </p:txBody>
      </p:sp>
      <p:sp>
        <p:nvSpPr>
          <p:cNvPr id="6" name="TextBox 5">
            <a:extLst xmlns:a="http://schemas.openxmlformats.org/drawingml/2006/main">
              <a:ext uri="{FF2B5EF4-FFF2-40B4-BE49-F238E27FC236}">
                <a16:creationId xmlns:a16="http://schemas.microsoft.com/office/drawing/2014/main" id="{9F02DEE6-20B8-47B0-9436-B901739D0593}"/>
              </a:ext>
            </a:extLst>
          </p:cNvPr>
          <p:cNvSpPr>
            <a:spLocks xmlns:a="http://schemas.openxmlformats.org/drawingml/2006/main" noGrp="1"/>
          </p:cNvSpPr>
          <p:nvPr/>
        </p:nvSpPr>
        <p:spPr>
          <a:xfrm xmlns:a="http://schemas.openxmlformats.org/drawingml/2006/main">
            <a:off x="1828800" y="3200400"/>
            <a:ext cx="8229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400" b="0">
                <a:solidFill>
                  <a:srgbClr val="4A6A4A"/>
                </a:solidFill>
                <a:latin typeface="Consolas"/>
                <a:ea typeface="Consolas"/>
                <a:cs typeface="Consolas"/>
              </a:defRPr>
            </a:pPr>
            <a:r>
              <a:t>marker      action      agent      panel      private key      marker</a:t>
            </a:r>
          </a:p>
        </p:txBody>
      </p:sp>
      <p:sp>
        <p:nvSpPr>
          <p:cNvPr id="7" name="TextBox 6">
            <a:extLst xmlns:a="http://schemas.openxmlformats.org/drawingml/2006/main">
              <a:ext uri="{FF2B5EF4-FFF2-40B4-BE49-F238E27FC236}">
                <a16:creationId xmlns:a16="http://schemas.microsoft.com/office/drawing/2014/main" id="{3823D96E-18CF-4561-90A5-E4E76547D5AA}"/>
              </a:ext>
            </a:extLst>
          </p:cNvPr>
          <p:cNvSpPr>
            <a:spLocks xmlns:a="http://schemas.openxmlformats.org/drawingml/2006/main" noGrp="1"/>
          </p:cNvSpPr>
          <p:nvPr/>
        </p:nvSpPr>
        <p:spPr>
          <a:xfrm xmlns:a="http://schemas.openxmlformats.org/drawingml/2006/main">
            <a:off x="1828800" y="3657600"/>
            <a:ext cx="8229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800" b="0">
                <a:solidFill>
                  <a:srgbClr val="D0E8D0"/>
                </a:solidFill>
                <a:latin typeface="Consolas"/>
                <a:ea typeface="Consolas"/>
                <a:cs typeface="Consolas"/>
              </a:defRPr>
            </a:pPr>
            <a:r>
              <a:t>{bounded multiline text reconstructed from streamed chunks}</a:t>
            </a:r>
          </a:p>
        </p:txBody>
      </p:sp>
      <p:sp>
        <p:nvSpPr>
          <p:cNvPr id="8" name="TextBox 7">
            <a:extLst xmlns:a="http://schemas.openxmlformats.org/drawingml/2006/main">
              <a:ext uri="{FF2B5EF4-FFF2-40B4-BE49-F238E27FC236}">
                <a16:creationId xmlns:a16="http://schemas.microsoft.com/office/drawing/2014/main" id="{2082A228-44F8-4EF8-A55A-A3C67EBB3A7B}"/>
              </a:ext>
            </a:extLst>
          </p:cNvPr>
          <p:cNvSpPr>
            <a:spLocks xmlns:a="http://schemas.openxmlformats.org/drawingml/2006/main" noGrp="1"/>
          </p:cNvSpPr>
          <p:nvPr/>
        </p:nvSpPr>
        <p:spPr>
          <a:xfrm xmlns:a="http://schemas.openxmlformats.org/drawingml/2006/main">
            <a:off x="1828800" y="3880485"/>
            <a:ext cx="8229600" cy="5181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800" b="1">
                <a:solidFill>
                  <a:srgbClr val="00FF41"/>
                </a:solidFill>
                <a:latin typeface="Consolas"/>
                <a:ea typeface="Consolas"/>
                <a:cs typeface="Consolas"/>
              </a:defRPr>
            </a:pPr>
            <a:r>
              <a:rPr sz="2100" b="1">
                <a:solidFill>
                  <a:srgbClr val="00FF41"/>
                </a:solidFill>
                <a:latin typeface="Consolas"/>
                <a:ea typeface="Consolas"/>
                <a:cs typeface="Consolas"/>
              </a:rPr>
              <a:t>===COMMANDER:END:&lt;k&gt;===</a:t>
            </a:r>
          </a:p>
        </p:txBody>
      </p:sp>
      <p:sp>
        <p:nvSpPr>
          <p:cNvPr id="9" name="TextBox 8">
            <a:extLst xmlns:a="http://schemas.openxmlformats.org/drawingml/2006/main">
              <a:ext uri="{FF2B5EF4-FFF2-40B4-BE49-F238E27FC236}">
                <a16:creationId xmlns:a16="http://schemas.microsoft.com/office/drawing/2014/main" id="{C954CF3D-FD1D-42D9-9A8B-61BB75255376}"/>
              </a:ext>
            </a:extLst>
          </p:cNvPr>
          <p:cNvSpPr>
            <a:spLocks xmlns:a="http://schemas.openxmlformats.org/drawingml/2006/main" noGrp="1"/>
          </p:cNvSpPr>
          <p:nvPr/>
        </p:nvSpPr>
        <p:spPr>
          <a:xfrm xmlns:a="http://schemas.openxmlformats.org/drawingml/2006/main">
            <a:off x="731520" y="4846320"/>
            <a:ext cx="10972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CC33"/>
                </a:solidFill>
                <a:latin typeface="Consolas"/>
                <a:ea typeface="Consolas"/>
                <a:cs typeface="Consolas"/>
              </a:defRPr>
            </a:pPr>
            <a:r>
              <a:t>Delivery invariants:</a:t>
            </a:r>
          </a:p>
        </p:txBody>
      </p:sp>
      <p:sp>
        <p:nvSpPr>
          <p:cNvPr id="10" name="TextBox 9">
            <a:extLst xmlns:a="http://schemas.openxmlformats.org/drawingml/2006/main">
              <a:ext uri="{FF2B5EF4-FFF2-40B4-BE49-F238E27FC236}">
                <a16:creationId xmlns:a16="http://schemas.microsoft.com/office/drawing/2014/main" id="{1E918B97-A894-46CA-AF49-B2BDB76C63BB}"/>
              </a:ext>
            </a:extLst>
          </p:cNvPr>
          <p:cNvSpPr>
            <a:spLocks xmlns:a="http://schemas.openxmlformats.org/drawingml/2006/main" noGrp="1"/>
          </p:cNvSpPr>
          <p:nvPr/>
        </p:nvSpPr>
        <p:spPr>
          <a:xfrm xmlns:a="http://schemas.openxmlformats.org/drawingml/2006/main">
            <a:off x="731520" y="5212080"/>
            <a:ext cx="109728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1. Normalize ANSI output without changing printable payloads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2. Reassemble markers across chunks and soft-wrapped terminal rows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3. Match the session key; validate target, panel, and bounded content</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4. Suppress only the known outgoing echo; keep scanning live</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5. Record thread/message IDs and return an explicit ACK</a:t>
            </a:r>
          </a:p>
        </p:txBody>
      </p:sp>
      <p:sp>
        <p:nvSpPr>
          <p:cNvPr id="11" name="TextBox 10">
            <a:extLst xmlns:a="http://schemas.openxmlformats.org/drawingml/2006/main">
              <a:ext uri="{FF2B5EF4-FFF2-40B4-BE49-F238E27FC236}">
                <a16:creationId xmlns:a16="http://schemas.microsoft.com/office/drawing/2014/main" id="{C67EF9B9-01A7-4D8A-83E7-4C39D8358563}"/>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5/13</a:t>
            </a:r>
          </a:p>
        </p:txBody>
      </p:sp>
    </p:spTree>
    <p:extLst>
      <p:ext uri="{BB962C8B-B14F-4D97-AF65-F5344CB8AC3E}">
        <p14:creationId xmlns:p14="http://schemas.microsoft.com/office/powerpoint/2010/main" val="574963073"/>
      </p:ext>
    </p:extLst>
  </p:cSld>
</p:sld>
</file>

<file path=ppt/slides/slide6.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LIVE DEMO</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Live: two local roles, one visible handoff.</a:t>
            </a:r>
          </a:p>
        </p:txBody>
      </p:sp>
      <p:sp>
        <p:nvSpPr>
          <p:cNvPr id="4" name="Rounded Rectangle 3">
            <a:extLst xmlns:a="http://schemas.openxmlformats.org/drawingml/2006/main">
              <a:ext uri="{FF2B5EF4-FFF2-40B4-BE49-F238E27FC236}">
                <a16:creationId xmlns:a16="http://schemas.microsoft.com/office/drawing/2014/main" id="{8142692C-9158-45DB-9197-7E9024E15575}"/>
              </a:ext>
            </a:extLst>
          </p:cNvPr>
          <p:cNvSpPr>
            <a:spLocks xmlns:a="http://schemas.openxmlformats.org/drawingml/2006/main" noGrp="1"/>
          </p:cNvSpPr>
          <p:nvPr/>
        </p:nvSpPr>
        <p:spPr>
          <a:xfrm xmlns:a="http://schemas.openxmlformats.org/drawingml/2006/main">
            <a:off x="731520" y="2103120"/>
            <a:ext cx="3291840" cy="4114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7375E16-D10D-458C-886E-5857BC0D94BD}"/>
              </a:ext>
            </a:extLst>
          </p:cNvPr>
          <p:cNvSpPr>
            <a:spLocks xmlns:a="http://schemas.openxmlformats.org/drawingml/2006/main" noGrp="1"/>
          </p:cNvSpPr>
          <p:nvPr/>
        </p:nvSpPr>
        <p:spPr>
          <a:xfrm xmlns:a="http://schemas.openxmlformats.org/drawingml/2006/main">
            <a:off x="914400" y="2194560"/>
            <a:ext cx="29260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00CC33"/>
                </a:solidFill>
                <a:latin typeface="Consolas"/>
                <a:ea typeface="Consolas"/>
                <a:cs typeface="Consolas"/>
              </a:defRPr>
            </a:pPr>
            <a:r>
              <a:t>● Demo Coordinator     Panel 1</a:t>
            </a:r>
          </a:p>
        </p:txBody>
      </p:sp>
      <p:sp>
        <p:nvSpPr>
          <p:cNvPr id="6" name="TextBox 5">
            <a:extLst xmlns:a="http://schemas.openxmlformats.org/drawingml/2006/main">
              <a:ext uri="{FF2B5EF4-FFF2-40B4-BE49-F238E27FC236}">
                <a16:creationId xmlns:a16="http://schemas.microsoft.com/office/drawing/2014/main" id="{DF0A6C4D-7A03-4178-A6A6-635834F2A455}"/>
              </a:ext>
            </a:extLst>
          </p:cNvPr>
          <p:cNvSpPr>
            <a:spLocks xmlns:a="http://schemas.openxmlformats.org/drawingml/2006/main" noGrp="1"/>
          </p:cNvSpPr>
          <p:nvPr/>
        </p:nvSpPr>
        <p:spPr>
          <a:xfrm xmlns:a="http://schemas.openxmlformats.org/drawingml/2006/main">
            <a:off x="914400" y="2651760"/>
            <a:ext cx="29260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200" b="0">
                <a:solidFill>
                  <a:srgbClr val="7A9A7A"/>
                </a:solidFill>
                <a:latin typeface="Consolas"/>
                <a:ea typeface="Consolas"/>
                <a:cs typeface="Consolas"/>
              </a:defRPr>
            </a:pPr>
            <a:r>
              <a:rPr sz="1013" b="0">
                <a:solidFill>
                  <a:srgbClr val="7A9A7A"/>
                </a:solidFill>
                <a:latin typeface="Consolas"/>
                <a:ea typeface="Consolas"/>
                <a:cs typeface="Consolas"/>
              </a:rPr>
              <a:t>Seeded workspace ready.</a:t>
            </a:r>
          </a:p>
          <a:p xmlns:a="http://schemas.openxmlformats.org/drawingml/2006/main">
            <a:pPr>
              <a:spcAft>
                <a:spcPts val="400"/>
              </a:spcAft>
              <a:buNone/>
              <a:defRPr sz="1200" b="0">
                <a:solidFill>
                  <a:srgbClr val="7A9A7A"/>
                </a:solidFill>
                <a:latin typeface="Consolas"/>
                <a:ea typeface="Consolas"/>
                <a:cs typeface="Consolas"/>
              </a:defRPr>
            </a:pPr>
            <a:r>
              <a:t/>
            </a:r>
          </a:p>
          <a:p xmlns:a="http://schemas.openxmlformats.org/drawingml/2006/main">
            <a:pPr>
              <a:spcAft>
                <a:spcPts val="400"/>
              </a:spcAft>
              <a:buNone/>
              <a:defRPr sz="1200" b="0">
                <a:solidFill>
                  <a:srgbClr val="D0E8D0"/>
                </a:solidFill>
                <a:latin typeface="Consolas"/>
                <a:ea typeface="Consolas"/>
                <a:cs typeface="Consolas"/>
              </a:defRPr>
            </a:pPr>
            <a:r>
              <a:rPr sz="1013" b="0">
                <a:solidFill>
                  <a:srgbClr val="D0E8D0"/>
                </a:solidFill>
                <a:latin typeface="Consolas"/>
                <a:ea typeface="Consolas"/>
                <a:cs typeface="Consolas"/>
              </a:rPr>
              <a:t>===COMMANDER:SEND:generic:2:&lt;k1&gt;===</a:t>
            </a:r>
          </a:p>
          <a:p xmlns:a="http://schemas.openxmlformats.org/drawingml/2006/main">
            <a:pPr>
              <a:spcAft>
                <a:spcPts val="400"/>
              </a:spcAft>
              <a:buNone/>
              <a:defRPr sz="1200" b="1">
                <a:solidFill>
                  <a:srgbClr val="00FF41"/>
                </a:solidFill>
                <a:latin typeface="Consolas"/>
                <a:ea typeface="Consolas"/>
                <a:cs typeface="Consolas"/>
              </a:defRPr>
            </a:pPr>
            <a:r>
              <a:rPr sz="1013" b="1">
                <a:solidFill>
                  <a:srgbClr val="00FF41"/>
                </a:solidFill>
                <a:latin typeface="Consolas"/>
                <a:ea typeface="Consolas"/>
                <a:cs typeface="Consolas"/>
              </a:rPr>
              <a:t>Review brief.md. Confirm total=42.</a:t>
            </a:r>
          </a:p>
          <a:p xmlns:a="http://schemas.openxmlformats.org/drawingml/2006/main">
            <a:pPr>
              <a:spcAft>
                <a:spcPts val="400"/>
              </a:spcAft>
              <a:buNone/>
              <a:defRPr sz="1200" b="0">
                <a:solidFill>
                  <a:srgbClr val="D0E8D0"/>
                </a:solidFill>
                <a:latin typeface="Consolas"/>
                <a:ea typeface="Consolas"/>
                <a:cs typeface="Consolas"/>
              </a:defRPr>
            </a:pPr>
            <a:r>
              <a:rPr sz="1013" b="0">
                <a:solidFill>
                  <a:srgbClr val="D0E8D0"/>
                </a:solidFill>
                <a:latin typeface="Consolas"/>
                <a:ea typeface="Consolas"/>
                <a:cs typeface="Consolas"/>
              </a:rPr>
              <a:t>===COMMANDER:END:&lt;k1&gt;===</a:t>
            </a:r>
          </a:p>
          <a:p xmlns:a="http://schemas.openxmlformats.org/drawingml/2006/main">
            <a:pPr>
              <a:spcAft>
                <a:spcPts val="400"/>
              </a:spcAft>
              <a:buNone/>
              <a:defRPr sz="1200" b="0">
                <a:solidFill>
                  <a:srgbClr val="D0E8D0"/>
                </a:solidFill>
                <a:latin typeface="Consolas"/>
                <a:ea typeface="Consolas"/>
                <a:cs typeface="Consolas"/>
              </a:defRPr>
            </a:pPr>
            <a:r>
              <a:t/>
            </a:r>
          </a:p>
          <a:p xmlns:a="http://schemas.openxmlformats.org/drawingml/2006/main">
            <a:pPr>
              <a:spcAft>
                <a:spcPts val="400"/>
              </a:spcAft>
              <a:buNone/>
              <a:defRPr sz="1200" b="1">
                <a:solidFill>
                  <a:srgbClr val="00FF41"/>
                </a:solidFill>
                <a:latin typeface="Consolas"/>
                <a:ea typeface="Consolas"/>
                <a:cs typeface="Consolas"/>
              </a:defRPr>
            </a:pPr>
            <a:r>
              <a:rPr sz="1013" b="1">
                <a:solidFill>
                  <a:srgbClr val="00FF41"/>
                </a:solidFill>
                <a:latin typeface="Consolas"/>
                <a:ea typeface="Consolas"/>
                <a:cs typeface="Consolas"/>
              </a:rPr>
              <a:t>[Commander ACK]</a:t>
            </a:r>
          </a:p>
          <a:p xmlns:a="http://schemas.openxmlformats.org/drawingml/2006/main">
            <a:pPr>
              <a:spcAft>
                <a:spcPts val="400"/>
              </a:spcAft>
              <a:buNone/>
              <a:defRPr sz="1200" b="0">
                <a:solidFill>
                  <a:srgbClr val="D0E8D0"/>
                </a:solidFill>
                <a:latin typeface="Consolas"/>
                <a:ea typeface="Consolas"/>
                <a:cs typeface="Consolas"/>
              </a:defRPr>
            </a:pPr>
            <a:r>
              <a:rPr sz="1013" b="0">
                <a:solidFill>
                  <a:srgbClr val="D0E8D0"/>
                </a:solidFill>
                <a:latin typeface="Consolas"/>
                <a:ea typeface="Consolas"/>
                <a:cs typeface="Consolas"/>
              </a:rPr>
              <a:t>status=delivered msg=m1</a:t>
            </a:r>
          </a:p>
        </p:txBody>
      </p:sp>
      <p:sp>
        <p:nvSpPr>
          <p:cNvPr id="7" name="TextBox 6">
            <a:extLst xmlns:a="http://schemas.openxmlformats.org/drawingml/2006/main">
              <a:ext uri="{FF2B5EF4-FFF2-40B4-BE49-F238E27FC236}">
                <a16:creationId xmlns:a16="http://schemas.microsoft.com/office/drawing/2014/main" id="{170FED11-5DDF-430F-BC22-96084F076136}"/>
              </a:ext>
            </a:extLst>
          </p:cNvPr>
          <p:cNvSpPr>
            <a:spLocks xmlns:a="http://schemas.openxmlformats.org/drawingml/2006/main" noGrp="1"/>
          </p:cNvSpPr>
          <p:nvPr/>
        </p:nvSpPr>
        <p:spPr>
          <a:xfrm xmlns:a="http://schemas.openxmlformats.org/drawingml/2006/main">
            <a:off x="4114800" y="3840480"/>
            <a:ext cx="9144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3200" b="0">
                <a:solidFill>
                  <a:srgbClr val="00FF41"/>
                </a:solidFill>
                <a:latin typeface="Consolas"/>
                <a:ea typeface="Consolas"/>
                <a:cs typeface="Consolas"/>
              </a:defRPr>
            </a:pPr>
            <a:r>
              <a:t>➔</a:t>
            </a:r>
          </a:p>
        </p:txBody>
      </p:sp>
      <p:sp>
        <p:nvSpPr>
          <p:cNvPr id="8" name="TextBox 7">
            <a:extLst xmlns:a="http://schemas.openxmlformats.org/drawingml/2006/main">
              <a:ext uri="{FF2B5EF4-FFF2-40B4-BE49-F238E27FC236}">
                <a16:creationId xmlns:a16="http://schemas.microsoft.com/office/drawing/2014/main" id="{D75E717A-C54F-4BAF-B8A0-01A9E9E0F492}"/>
              </a:ext>
            </a:extLst>
          </p:cNvPr>
          <p:cNvSpPr>
            <a:spLocks xmlns:a="http://schemas.openxmlformats.org/drawingml/2006/main" noGrp="1"/>
          </p:cNvSpPr>
          <p:nvPr/>
        </p:nvSpPr>
        <p:spPr>
          <a:xfrm xmlns:a="http://schemas.openxmlformats.org/drawingml/2006/main">
            <a:off x="4114800" y="4297680"/>
            <a:ext cx="9144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100" b="0">
                <a:solidFill>
                  <a:srgbClr val="4A6A4A"/>
                </a:solidFill>
                <a:latin typeface="Consolas"/>
                <a:ea typeface="Consolas"/>
                <a:cs typeface="Consolas"/>
              </a:defRPr>
            </a:pPr>
            <a:r>
              <a:t>detect</a:t>
            </a:r>
          </a:p>
        </p:txBody>
      </p:sp>
      <p:sp>
        <p:nvSpPr>
          <p:cNvPr id="9" name="Rounded Rectangle 8">
            <a:extLst xmlns:a="http://schemas.openxmlformats.org/drawingml/2006/main">
              <a:ext uri="{FF2B5EF4-FFF2-40B4-BE49-F238E27FC236}">
                <a16:creationId xmlns:a16="http://schemas.microsoft.com/office/drawing/2014/main" id="{F425EC09-2148-4830-B45D-12A8E8CC8A2D}"/>
              </a:ext>
            </a:extLst>
          </p:cNvPr>
          <p:cNvSpPr>
            <a:spLocks xmlns:a="http://schemas.openxmlformats.org/drawingml/2006/main" noGrp="1"/>
          </p:cNvSpPr>
          <p:nvPr/>
        </p:nvSpPr>
        <p:spPr>
          <a:xfrm xmlns:a="http://schemas.openxmlformats.org/drawingml/2006/main">
            <a:off x="4846320" y="2926080"/>
            <a:ext cx="2468880" cy="2286000"/>
          </a:xfrm>
          <a:prstGeom xmlns:a="http://schemas.openxmlformats.org/drawingml/2006/main" prst="roundRect">
            <a:avLst/>
          </a:prstGeom>
          <a:solidFill xmlns:a="http://schemas.openxmlformats.org/drawingml/2006/main">
            <a:srgbClr val="0A180A"/>
          </a:solidFill>
          <a:ln xmlns:a="http://schemas.openxmlformats.org/drawingml/2006/main" w="25400">
            <a:solidFill>
              <a:srgbClr val="00FF4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3798ACE-539F-411E-86EE-46B8924CA8A9}"/>
              </a:ext>
            </a:extLst>
          </p:cNvPr>
          <p:cNvSpPr>
            <a:spLocks xmlns:a="http://schemas.openxmlformats.org/drawingml/2006/main" noGrp="1"/>
          </p:cNvSpPr>
          <p:nvPr/>
        </p:nvSpPr>
        <p:spPr>
          <a:xfrm xmlns:a="http://schemas.openxmlformats.org/drawingml/2006/main">
            <a:off x="4846320" y="3200400"/>
            <a:ext cx="24688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3200" b="0">
                <a:solidFill>
                  <a:srgbClr val="00FF41"/>
                </a:solidFill>
                <a:latin typeface="Consolas"/>
                <a:ea typeface="Consolas"/>
                <a:cs typeface="Consolas"/>
              </a:defRPr>
            </a:pPr>
            <a:r>
              <a:t>⚙</a:t>
            </a:r>
          </a:p>
        </p:txBody>
      </p:sp>
      <p:sp>
        <p:nvSpPr>
          <p:cNvPr id="11" name="TextBox 10">
            <a:extLst xmlns:a="http://schemas.openxmlformats.org/drawingml/2006/main">
              <a:ext uri="{FF2B5EF4-FFF2-40B4-BE49-F238E27FC236}">
                <a16:creationId xmlns:a16="http://schemas.microsoft.com/office/drawing/2014/main" id="{77EBC630-EBFC-4E7B-B915-87F5E5E36122}"/>
              </a:ext>
            </a:extLst>
          </p:cNvPr>
          <p:cNvSpPr>
            <a:spLocks xmlns:a="http://schemas.openxmlformats.org/drawingml/2006/main" noGrp="1"/>
          </p:cNvSpPr>
          <p:nvPr/>
        </p:nvSpPr>
        <p:spPr>
          <a:xfrm xmlns:a="http://schemas.openxmlformats.org/drawingml/2006/main">
            <a:off x="4846320" y="3749039"/>
            <a:ext cx="2468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400" b="1">
                <a:solidFill>
                  <a:srgbClr val="00FF41"/>
                </a:solidFill>
                <a:latin typeface="Consolas"/>
                <a:ea typeface="Consolas"/>
                <a:cs typeface="Consolas"/>
              </a:defRPr>
            </a:pPr>
            <a:r>
              <a:t>ROUTER</a:t>
            </a:r>
          </a:p>
        </p:txBody>
      </p:sp>
      <p:sp>
        <p:nvSpPr>
          <p:cNvPr id="12" name="TextBox 11">
            <a:extLst xmlns:a="http://schemas.openxmlformats.org/drawingml/2006/main">
              <a:ext uri="{FF2B5EF4-FFF2-40B4-BE49-F238E27FC236}">
                <a16:creationId xmlns:a16="http://schemas.microsoft.com/office/drawing/2014/main" id="{18C7B657-7839-4F4D-BC65-3068C302148D}"/>
              </a:ext>
            </a:extLst>
          </p:cNvPr>
          <p:cNvSpPr>
            <a:spLocks xmlns:a="http://schemas.openxmlformats.org/drawingml/2006/main" noGrp="1"/>
          </p:cNvSpPr>
          <p:nvPr/>
        </p:nvSpPr>
        <p:spPr>
          <a:xfrm xmlns:a="http://schemas.openxmlformats.org/drawingml/2006/main">
            <a:off x="4846320" y="4114800"/>
            <a:ext cx="24688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200" b="0">
                <a:solidFill>
                  <a:srgbClr val="4A6A4A"/>
                </a:solidFill>
                <a:latin typeface="Consolas"/>
                <a:ea typeface="Consolas"/>
                <a:cs typeface="Consolas"/>
              </a:defRPr>
            </a:pPr>
            <a:r>
              <a:t>scan • validate • deliver</a:t>
            </a:r>
          </a:p>
        </p:txBody>
      </p:sp>
      <p:sp>
        <p:nvSpPr>
          <p:cNvPr id="13" name="TextBox 12">
            <a:extLst xmlns:a="http://schemas.openxmlformats.org/drawingml/2006/main">
              <a:ext uri="{FF2B5EF4-FFF2-40B4-BE49-F238E27FC236}">
                <a16:creationId xmlns:a16="http://schemas.microsoft.com/office/drawing/2014/main" id="{7EFE5A99-619A-4804-AD67-EB52335C1AC8}"/>
              </a:ext>
            </a:extLst>
          </p:cNvPr>
          <p:cNvSpPr>
            <a:spLocks xmlns:a="http://schemas.openxmlformats.org/drawingml/2006/main" noGrp="1"/>
          </p:cNvSpPr>
          <p:nvPr/>
        </p:nvSpPr>
        <p:spPr>
          <a:xfrm xmlns:a="http://schemas.openxmlformats.org/drawingml/2006/main">
            <a:off x="7406640" y="3840480"/>
            <a:ext cx="9144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3200" b="0">
                <a:solidFill>
                  <a:srgbClr val="00FF41"/>
                </a:solidFill>
                <a:latin typeface="Consolas"/>
                <a:ea typeface="Consolas"/>
                <a:cs typeface="Consolas"/>
              </a:defRPr>
            </a:pPr>
            <a:r>
              <a:t>➔</a:t>
            </a:r>
          </a:p>
        </p:txBody>
      </p:sp>
      <p:sp>
        <p:nvSpPr>
          <p:cNvPr id="14" name="TextBox 13">
            <a:extLst xmlns:a="http://schemas.openxmlformats.org/drawingml/2006/main">
              <a:ext uri="{FF2B5EF4-FFF2-40B4-BE49-F238E27FC236}">
                <a16:creationId xmlns:a16="http://schemas.microsoft.com/office/drawing/2014/main" id="{D3443487-FE31-442B-B2E4-AAE830672524}"/>
              </a:ext>
            </a:extLst>
          </p:cNvPr>
          <p:cNvSpPr>
            <a:spLocks xmlns:a="http://schemas.openxmlformats.org/drawingml/2006/main" noGrp="1"/>
          </p:cNvSpPr>
          <p:nvPr/>
        </p:nvSpPr>
        <p:spPr>
          <a:xfrm xmlns:a="http://schemas.openxmlformats.org/drawingml/2006/main">
            <a:off x="7406640" y="4297680"/>
            <a:ext cx="9144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100" b="0">
                <a:solidFill>
                  <a:srgbClr val="4A6A4A"/>
                </a:solidFill>
                <a:latin typeface="Consolas"/>
                <a:ea typeface="Consolas"/>
                <a:cs typeface="Consolas"/>
              </a:defRPr>
            </a:pPr>
            <a:r>
              <a:t>paste</a:t>
            </a:r>
          </a:p>
        </p:txBody>
      </p:sp>
      <p:sp>
        <p:nvSpPr>
          <p:cNvPr id="15" name="Rounded Rectangle 14">
            <a:extLst xmlns:a="http://schemas.openxmlformats.org/drawingml/2006/main">
              <a:ext uri="{FF2B5EF4-FFF2-40B4-BE49-F238E27FC236}">
                <a16:creationId xmlns:a16="http://schemas.microsoft.com/office/drawing/2014/main" id="{743FA2BB-4D6E-41FF-A729-4C82B8E9215A}"/>
              </a:ext>
            </a:extLst>
          </p:cNvPr>
          <p:cNvSpPr>
            <a:spLocks xmlns:a="http://schemas.openxmlformats.org/drawingml/2006/main" noGrp="1"/>
          </p:cNvSpPr>
          <p:nvPr/>
        </p:nvSpPr>
        <p:spPr>
          <a:xfrm xmlns:a="http://schemas.openxmlformats.org/drawingml/2006/main">
            <a:off x="8229600" y="2103120"/>
            <a:ext cx="3291840" cy="4114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8E885279-45E9-4D25-BFEB-CD75BA9CFE52}"/>
              </a:ext>
            </a:extLst>
          </p:cNvPr>
          <p:cNvSpPr>
            <a:spLocks xmlns:a="http://schemas.openxmlformats.org/drawingml/2006/main" noGrp="1"/>
          </p:cNvSpPr>
          <p:nvPr/>
        </p:nvSpPr>
        <p:spPr>
          <a:xfrm xmlns:a="http://schemas.openxmlformats.org/drawingml/2006/main">
            <a:off x="8412480" y="2194560"/>
            <a:ext cx="29260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00CC33"/>
                </a:solidFill>
                <a:latin typeface="Consolas"/>
                <a:ea typeface="Consolas"/>
                <a:cs typeface="Consolas"/>
              </a:defRPr>
            </a:pPr>
            <a:r>
              <a:t>● Demo Reviewer        Panel 2</a:t>
            </a:r>
          </a:p>
        </p:txBody>
      </p:sp>
      <p:sp>
        <p:nvSpPr>
          <p:cNvPr id="17" name="TextBox 16">
            <a:extLst xmlns:a="http://schemas.openxmlformats.org/drawingml/2006/main">
              <a:ext uri="{FF2B5EF4-FFF2-40B4-BE49-F238E27FC236}">
                <a16:creationId xmlns:a16="http://schemas.microsoft.com/office/drawing/2014/main" id="{40E9AB56-0964-4D5D-95D4-51FF9ACBD66A}"/>
              </a:ext>
            </a:extLst>
          </p:cNvPr>
          <p:cNvSpPr>
            <a:spLocks xmlns:a="http://schemas.openxmlformats.org/drawingml/2006/main" noGrp="1"/>
          </p:cNvSpPr>
          <p:nvPr/>
        </p:nvSpPr>
        <p:spPr>
          <a:xfrm xmlns:a="http://schemas.openxmlformats.org/drawingml/2006/main">
            <a:off x="8412480" y="2651760"/>
            <a:ext cx="29260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200" b="1">
                <a:solidFill>
                  <a:srgbClr val="00CC33"/>
                </a:solidFill>
                <a:latin typeface="Consolas"/>
                <a:ea typeface="Consolas"/>
                <a:cs typeface="Consolas"/>
              </a:defRPr>
            </a:pPr>
            <a:r>
              <a:t>[From Demo Coordinator</a:t>
            </a:r>
          </a:p>
          <a:p xmlns:a="http://schemas.openxmlformats.org/drawingml/2006/main">
            <a:pPr>
              <a:spcAft>
                <a:spcPts val="400"/>
              </a:spcAft>
              <a:buNone/>
              <a:defRPr sz="1200" b="0">
                <a:solidFill>
                  <a:srgbClr val="7A9A7A"/>
                </a:solidFill>
                <a:latin typeface="Consolas"/>
                <a:ea typeface="Consolas"/>
                <a:cs typeface="Consolas"/>
              </a:defRPr>
            </a:pPr>
            <a:r>
              <a:t>| thread=t1 | msg=m1]</a:t>
            </a:r>
          </a:p>
          <a:p xmlns:a="http://schemas.openxmlformats.org/drawingml/2006/main">
            <a:pPr>
              <a:spcAft>
                <a:spcPts val="400"/>
              </a:spcAft>
              <a:buNone/>
              <a:defRPr sz="1200" b="0">
                <a:solidFill>
                  <a:srgbClr val="7A9A7A"/>
                </a:solidFill>
                <a:latin typeface="Consolas"/>
                <a:ea typeface="Consolas"/>
                <a:cs typeface="Consolas"/>
              </a:defRPr>
            </a:pPr>
            <a:r>
              <a:t>Review brief.md. Confirm total=42.</a:t>
            </a:r>
          </a:p>
          <a:p xmlns:a="http://schemas.openxmlformats.org/drawingml/2006/main">
            <a:pPr>
              <a:spcAft>
                <a:spcPts val="400"/>
              </a:spcAft>
              <a:buNone/>
              <a:defRPr sz="1200" b="0">
                <a:solidFill>
                  <a:srgbClr val="D0E8D0"/>
                </a:solidFill>
                <a:latin typeface="Consolas"/>
                <a:ea typeface="Consolas"/>
                <a:cs typeface="Consolas"/>
              </a:defRPr>
            </a:pPr>
            <a:r>
              <a:t/>
            </a:r>
          </a:p>
          <a:p xmlns:a="http://schemas.openxmlformats.org/drawingml/2006/main">
            <a:pPr>
              <a:spcAft>
                <a:spcPts val="400"/>
              </a:spcAft>
              <a:buNone/>
              <a:defRPr sz="1200" b="0">
                <a:solidFill>
                  <a:srgbClr val="7A9A7A"/>
                </a:solidFill>
                <a:latin typeface="Consolas"/>
                <a:ea typeface="Consolas"/>
                <a:cs typeface="Consolas"/>
              </a:defRPr>
            </a:pPr>
            <a:r>
              <a:t>Status: seeded total is 42.</a:t>
            </a:r>
          </a:p>
          <a:p xmlns:a="http://schemas.openxmlformats.org/drawingml/2006/main">
            <a:pPr>
              <a:spcAft>
                <a:spcPts val="400"/>
              </a:spcAft>
              <a:buNone/>
              <a:defRPr sz="1200" b="0">
                <a:solidFill>
                  <a:srgbClr val="7A9A7A"/>
                </a:solidFill>
                <a:latin typeface="Consolas"/>
                <a:ea typeface="Consolas"/>
                <a:cs typeface="Consolas"/>
              </a:defRPr>
            </a:pPr>
            <a:r>
              <a:t/>
            </a:r>
          </a:p>
          <a:p xmlns:a="http://schemas.openxmlformats.org/drawingml/2006/main">
            <a:pPr>
              <a:spcAft>
                <a:spcPts val="400"/>
              </a:spcAft>
              <a:buNone/>
              <a:defRPr sz="1200" b="0">
                <a:solidFill>
                  <a:srgbClr val="D0E8D0"/>
                </a:solidFill>
                <a:latin typeface="Consolas"/>
                <a:ea typeface="Consolas"/>
                <a:cs typeface="Consolas"/>
              </a:defRPr>
            </a:pPr>
            <a:r>
              <a:t>===COMMANDER:REPLY:&lt;k2&gt;===</a:t>
            </a:r>
          </a:p>
          <a:p xmlns:a="http://schemas.openxmlformats.org/drawingml/2006/main">
            <a:pPr>
              <a:spcAft>
                <a:spcPts val="400"/>
              </a:spcAft>
              <a:buNone/>
              <a:defRPr sz="1200" b="1">
                <a:solidFill>
                  <a:srgbClr val="00FF41"/>
                </a:solidFill>
                <a:latin typeface="Consolas"/>
                <a:ea typeface="Consolas"/>
                <a:cs typeface="Consolas"/>
              </a:defRPr>
            </a:pPr>
            <a:r>
              <a:t>Deterministic review passed.</a:t>
            </a:r>
          </a:p>
          <a:p xmlns:a="http://schemas.openxmlformats.org/drawingml/2006/main">
            <a:pPr>
              <a:spcAft>
                <a:spcPts val="400"/>
              </a:spcAft>
              <a:buNone/>
              <a:defRPr sz="1200" b="0">
                <a:solidFill>
                  <a:srgbClr val="D0E8D0"/>
                </a:solidFill>
                <a:latin typeface="Consolas"/>
                <a:ea typeface="Consolas"/>
                <a:cs typeface="Consolas"/>
              </a:defRPr>
            </a:pPr>
            <a:r>
              <a:t>===COMMANDER:END:&lt;k2&gt;===</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6/13</a:t>
            </a:r>
          </a:p>
        </p:txBody>
      </p:sp>
    </p:spTree>
    <p:extLst>
      <p:ext uri="{BB962C8B-B14F-4D97-AF65-F5344CB8AC3E}">
        <p14:creationId xmlns:p14="http://schemas.microsoft.com/office/powerpoint/2010/main" val="1960374928"/>
      </p:ext>
    </p:extLst>
  </p:cSld>
</p:sld>
</file>

<file path=ppt/slides/slide7.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IMPLEMENTATION</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Reliability lives in a few hard invariants.</a:t>
            </a:r>
          </a:p>
        </p:txBody>
      </p:sp>
      <p:sp>
        <p:nvSpPr>
          <p:cNvPr id="4" name="Rounded Rectangle 3">
            <a:extLst xmlns:a="http://schemas.openxmlformats.org/drawingml/2006/main">
              <a:ext uri="{FF2B5EF4-FFF2-40B4-BE49-F238E27FC236}">
                <a16:creationId xmlns:a16="http://schemas.microsoft.com/office/drawing/2014/main" id="{182443AD-00D7-4745-8189-D9D6AC1FD896}"/>
              </a:ext>
            </a:extLst>
          </p:cNvPr>
          <p:cNvSpPr>
            <a:spLocks xmlns:a="http://schemas.openxmlformats.org/drawingml/2006/main" noGrp="1"/>
          </p:cNvSpPr>
          <p:nvPr/>
        </p:nvSpPr>
        <p:spPr>
          <a:xfrm xmlns:a="http://schemas.openxmlformats.org/drawingml/2006/main">
            <a:off x="731520" y="2103120"/>
            <a:ext cx="5303520" cy="43891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5F56051-0CC9-4F4E-8BF1-C98E09414FB9}"/>
              </a:ext>
            </a:extLst>
          </p:cNvPr>
          <p:cNvSpPr>
            <a:spLocks xmlns:a="http://schemas.openxmlformats.org/drawingml/2006/main" noGrp="1"/>
          </p:cNvSpPr>
          <p:nvPr/>
        </p:nvSpPr>
        <p:spPr>
          <a:xfrm xmlns:a="http://schemas.openxmlformats.org/drawingml/2006/main">
            <a:off x="100584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Parse + authorize</a:t>
            </a:r>
          </a:p>
        </p:txBody>
      </p:sp>
      <p:sp>
        <p:nvSpPr>
          <p:cNvPr id="6" name="TextBox 5">
            <a:extLst xmlns:a="http://schemas.openxmlformats.org/drawingml/2006/main">
              <a:ext uri="{FF2B5EF4-FFF2-40B4-BE49-F238E27FC236}">
                <a16:creationId xmlns:a16="http://schemas.microsoft.com/office/drawing/2014/main" id="{C3BEC5A1-0D46-4C60-8895-7C5F8CF073EF}"/>
              </a:ext>
            </a:extLst>
          </p:cNvPr>
          <p:cNvSpPr>
            <a:spLocks xmlns:a="http://schemas.openxmlformats.org/drawingml/2006/main" noGrp="1"/>
          </p:cNvSpPr>
          <p:nvPr/>
        </p:nvSpPr>
        <p:spPr>
          <a:xfrm xmlns:a="http://schemas.openxmlformats.org/drawingml/2006/main">
            <a:off x="100584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Parse printable output, not terminal control sequences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Preserve chunks until a complete END marker arrives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Reconstruct soft-wrapped logical lines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Require the current session capability</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Bound content and deduplicate repeated frames</a:t>
            </a:r>
          </a:p>
        </p:txBody>
      </p:sp>
      <p:sp>
        <p:nvSpPr>
          <p:cNvPr id="7" name="Rounded Rectangle 6">
            <a:extLst xmlns:a="http://schemas.openxmlformats.org/drawingml/2006/main">
              <a:ext uri="{FF2B5EF4-FFF2-40B4-BE49-F238E27FC236}">
                <a16:creationId xmlns:a16="http://schemas.microsoft.com/office/drawing/2014/main" id="{E61D8795-CDA4-4880-B712-0C2A1F24997A}"/>
              </a:ext>
            </a:extLst>
          </p:cNvPr>
          <p:cNvSpPr>
            <a:spLocks xmlns:a="http://schemas.openxmlformats.org/drawingml/2006/main" noGrp="1"/>
          </p:cNvSpPr>
          <p:nvPr/>
        </p:nvSpPr>
        <p:spPr>
          <a:xfrm xmlns:a="http://schemas.openxmlformats.org/drawingml/2006/main">
            <a:off x="6309360" y="2103120"/>
            <a:ext cx="5303520" cy="43891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699D0A29-D30C-4BD1-AFAB-445BD20C236F}"/>
              </a:ext>
            </a:extLst>
          </p:cNvPr>
          <p:cNvSpPr>
            <a:spLocks xmlns:a="http://schemas.openxmlformats.org/drawingml/2006/main" noGrp="1"/>
          </p:cNvSpPr>
          <p:nvPr/>
        </p:nvSpPr>
        <p:spPr>
          <a:xfrm xmlns:a="http://schemas.openxmlformats.org/drawingml/2006/main">
            <a:off x="658368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Deliver + clean up</a:t>
            </a:r>
          </a:p>
        </p:txBody>
      </p:sp>
      <p:sp>
        <p:nvSpPr>
          <p:cNvPr id="9" name="TextBox 8">
            <a:extLst xmlns:a="http://schemas.openxmlformats.org/drawingml/2006/main">
              <a:ext uri="{FF2B5EF4-FFF2-40B4-BE49-F238E27FC236}">
                <a16:creationId xmlns:a16="http://schemas.microsoft.com/office/drawing/2014/main" id="{34835CD2-FBF9-495C-AEC4-0767C420BCEE}"/>
              </a:ext>
            </a:extLst>
          </p:cNvPr>
          <p:cNvSpPr>
            <a:spLocks xmlns:a="http://schemas.openxmlformats.org/drawingml/2006/main" noGrp="1"/>
          </p:cNvSpPr>
          <p:nvPr/>
        </p:nvSpPr>
        <p:spPr>
          <a:xfrm xmlns:a="http://schemas.openxmlformats.org/drawingml/2006/main">
            <a:off x="658368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Validate target and panel before enqueue</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Serialize delivery independently per panel</a:t>
            </a:r>
          </a:p>
          <a:p xmlns:a="http://schemas.openxmlformats.org/drawingml/2006/main">
            <a:pPr>
              <a:spcAft>
                <a:spcPts val="400"/>
              </a:spcAft>
              <a:buNone/>
              <a:defRPr sz="1400" b="0">
                <a:solidFill>
                  <a:srgbClr val="00CC33"/>
                </a:solidFill>
                <a:latin typeface="Consolas"/>
                <a:ea typeface="Consolas"/>
                <a:cs typeface="Consolas"/>
              </a:defRPr>
            </a:pPr>
            <a:r>
              <a:rPr sz="1400" b="0">
                <a:solidFill>
                  <a:srgbClr val="9AB89A"/>
                </a:solidFill>
                <a:latin typeface="Consolas"/>
                <a:ea typeface="Consolas"/>
                <a:cs typeface="Consolas"/>
              </a:rPr>
              <a:t>• Keep scanning live; suppress exact injected echoes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Track thread/message IDs and explicit ACK state</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Stop the PTY process group on replacement or exit</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Drain pending work before shutdown completes</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7/13</a:t>
            </a:r>
          </a:p>
        </p:txBody>
      </p:sp>
    </p:spTree>
    <p:extLst>
      <p:ext uri="{BB962C8B-B14F-4D97-AF65-F5344CB8AC3E}">
        <p14:creationId xmlns:p14="http://schemas.microsoft.com/office/powerpoint/2010/main" val="1360156686"/>
      </p:ext>
    </p:extLst>
  </p:cSld>
</p:sld>
</file>

<file path=ppt/slides/slide8.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PRODUCT SURFACE</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Scale to 100 active panels.</a:t>
            </a:r>
          </a:p>
        </p:txBody>
      </p:sp>
      <p:sp>
        <p:nvSpPr>
          <p:cNvPr id="4" name="Rounded Rectangle 3">
            <a:extLst xmlns:a="http://schemas.openxmlformats.org/drawingml/2006/main">
              <a:ext uri="{FF2B5EF4-FFF2-40B4-BE49-F238E27FC236}">
                <a16:creationId xmlns:a16="http://schemas.microsoft.com/office/drawing/2014/main" id="{C12BA951-CA92-4D62-9D55-F229D332D076}"/>
              </a:ext>
            </a:extLst>
          </p:cNvPr>
          <p:cNvSpPr>
            <a:spLocks xmlns:a="http://schemas.openxmlformats.org/drawingml/2006/main" noGrp="1"/>
          </p:cNvSpPr>
          <p:nvPr/>
        </p:nvSpPr>
        <p:spPr>
          <a:xfrm xmlns:a="http://schemas.openxmlformats.org/drawingml/2006/main">
            <a:off x="731520" y="2103120"/>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C00FC46-3C23-4F79-AEFD-FA41AF0AC47E}"/>
              </a:ext>
            </a:extLst>
          </p:cNvPr>
          <p:cNvSpPr>
            <a:spLocks xmlns:a="http://schemas.openxmlformats.org/drawingml/2006/main" noGrp="1"/>
          </p:cNvSpPr>
          <p:nvPr/>
        </p:nvSpPr>
        <p:spPr>
          <a:xfrm xmlns:a="http://schemas.openxmlformats.org/drawingml/2006/main">
            <a:off x="1005840" y="2286000"/>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100 Active Panels</a:t>
            </a:r>
          </a:p>
        </p:txBody>
      </p:sp>
      <p:sp>
        <p:nvSpPr>
          <p:cNvPr id="6" name="TextBox 5">
            <a:extLst xmlns:a="http://schemas.openxmlformats.org/drawingml/2006/main">
              <a:ext uri="{FF2B5EF4-FFF2-40B4-BE49-F238E27FC236}">
                <a16:creationId xmlns:a16="http://schemas.microsoft.com/office/drawing/2014/main" id="{20B4F52E-3FD1-4188-9DDF-939010C9B80A}"/>
              </a:ext>
            </a:extLst>
          </p:cNvPr>
          <p:cNvSpPr>
            <a:spLocks xmlns:a="http://schemas.openxmlformats.org/drawingml/2006/main" noGrp="1"/>
          </p:cNvSpPr>
          <p:nvPr/>
        </p:nvSpPr>
        <p:spPr>
          <a:xfrm xmlns:a="http://schemas.openxmlformats.org/drawingml/2006/main">
            <a:off x="1005840" y="2743200"/>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File and PTY sessions persist across pages.</a:t>
            </a:r>
          </a:p>
        </p:txBody>
      </p:sp>
      <p:sp>
        <p:nvSpPr>
          <p:cNvPr id="7" name="TextBox 6">
            <a:extLst xmlns:a="http://schemas.openxmlformats.org/drawingml/2006/main">
              <a:ext uri="{FF2B5EF4-FFF2-40B4-BE49-F238E27FC236}">
                <a16:creationId xmlns:a16="http://schemas.microsoft.com/office/drawing/2014/main" id="{F278A593-F8BC-48D3-A632-CF3555FC780C}"/>
              </a:ext>
            </a:extLst>
          </p:cNvPr>
          <p:cNvSpPr>
            <a:spLocks xmlns:a="http://schemas.openxmlformats.org/drawingml/2006/main" noGrp="1"/>
          </p:cNvSpPr>
          <p:nvPr/>
        </p:nvSpPr>
        <p:spPr>
          <a:xfrm xmlns:a="http://schemas.openxmlformats.org/drawingml/2006/main">
            <a:off x="1005840" y="3657600"/>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--panels 1–100</a:t>
            </a:r>
          </a:p>
        </p:txBody>
      </p:sp>
      <p:sp>
        <p:nvSpPr>
          <p:cNvPr id="8" name="Rounded Rectangle 7">
            <a:extLst xmlns:a="http://schemas.openxmlformats.org/drawingml/2006/main">
              <a:ext uri="{FF2B5EF4-FFF2-40B4-BE49-F238E27FC236}">
                <a16:creationId xmlns:a16="http://schemas.microsoft.com/office/drawing/2014/main" id="{3AE74B01-7CFD-434E-8233-4FF362F0372A}"/>
              </a:ext>
            </a:extLst>
          </p:cNvPr>
          <p:cNvSpPr>
            <a:spLocks xmlns:a="http://schemas.openxmlformats.org/drawingml/2006/main" noGrp="1"/>
          </p:cNvSpPr>
          <p:nvPr/>
        </p:nvSpPr>
        <p:spPr>
          <a:xfrm xmlns:a="http://schemas.openxmlformats.org/drawingml/2006/main">
            <a:off x="4389120" y="2103120"/>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256DE4B-E836-487D-8F37-2AD596F96B66}"/>
              </a:ext>
            </a:extLst>
          </p:cNvPr>
          <p:cNvSpPr>
            <a:spLocks xmlns:a="http://schemas.openxmlformats.org/drawingml/2006/main" noGrp="1"/>
          </p:cNvSpPr>
          <p:nvPr/>
        </p:nvSpPr>
        <p:spPr>
          <a:xfrm xmlns:a="http://schemas.openxmlformats.org/drawingml/2006/main">
            <a:off x="4663440" y="2286000"/>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Responsive Density</a:t>
            </a:r>
          </a:p>
        </p:txBody>
      </p:sp>
      <p:sp>
        <p:nvSpPr>
          <p:cNvPr id="10" name="TextBox 9">
            <a:extLst xmlns:a="http://schemas.openxmlformats.org/drawingml/2006/main">
              <a:ext uri="{FF2B5EF4-FFF2-40B4-BE49-F238E27FC236}">
                <a16:creationId xmlns:a16="http://schemas.microsoft.com/office/drawing/2014/main" id="{C4DF7916-8A95-4985-9C34-7C7E36D93944}"/>
              </a:ext>
            </a:extLst>
          </p:cNvPr>
          <p:cNvSpPr>
            <a:spLocks xmlns:a="http://schemas.openxmlformats.org/drawingml/2006/main" noGrp="1"/>
          </p:cNvSpPr>
          <p:nvPr/>
        </p:nvSpPr>
        <p:spPr>
          <a:xfrm xmlns:a="http://schemas.openxmlformats.org/drawingml/2006/main">
            <a:off x="4663440" y="2743200"/>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Auto keeps panels readable; hidden sessions keep running.</a:t>
            </a:r>
          </a:p>
        </p:txBody>
      </p:sp>
      <p:sp>
        <p:nvSpPr>
          <p:cNvPr id="11" name="TextBox 10">
            <a:extLst xmlns:a="http://schemas.openxmlformats.org/drawingml/2006/main">
              <a:ext uri="{FF2B5EF4-FFF2-40B4-BE49-F238E27FC236}">
                <a16:creationId xmlns:a16="http://schemas.microsoft.com/office/drawing/2014/main" id="{A195BEE2-165A-4734-A2C8-A7C1ECE209BB}"/>
              </a:ext>
            </a:extLst>
          </p:cNvPr>
          <p:cNvSpPr>
            <a:spLocks xmlns:a="http://schemas.openxmlformats.org/drawingml/2006/main" noGrp="1"/>
          </p:cNvSpPr>
          <p:nvPr/>
        </p:nvSpPr>
        <p:spPr>
          <a:xfrm xmlns:a="http://schemas.openxmlformats.org/drawingml/2006/main">
            <a:off x="4663440" y="3657600"/>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Shift+F4</a:t>
            </a:r>
          </a:p>
        </p:txBody>
      </p:sp>
      <p:sp>
        <p:nvSpPr>
          <p:cNvPr id="12" name="Rounded Rectangle 11">
            <a:extLst xmlns:a="http://schemas.openxmlformats.org/drawingml/2006/main">
              <a:ext uri="{FF2B5EF4-FFF2-40B4-BE49-F238E27FC236}">
                <a16:creationId xmlns:a16="http://schemas.microsoft.com/office/drawing/2014/main" id="{4736C70A-7DEB-45EF-863F-DE181BBA2112}"/>
              </a:ext>
            </a:extLst>
          </p:cNvPr>
          <p:cNvSpPr>
            <a:spLocks xmlns:a="http://schemas.openxmlformats.org/drawingml/2006/main" noGrp="1"/>
          </p:cNvSpPr>
          <p:nvPr/>
        </p:nvSpPr>
        <p:spPr>
          <a:xfrm xmlns:a="http://schemas.openxmlformats.org/drawingml/2006/main">
            <a:off x="8046720" y="2103120"/>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3D015CE7-B50B-45AA-8022-CF3A4776BED1}"/>
              </a:ext>
            </a:extLst>
          </p:cNvPr>
          <p:cNvSpPr>
            <a:spLocks xmlns:a="http://schemas.openxmlformats.org/drawingml/2006/main" noGrp="1"/>
          </p:cNvSpPr>
          <p:nvPr/>
        </p:nvSpPr>
        <p:spPr>
          <a:xfrm xmlns:a="http://schemas.openxmlformats.org/drawingml/2006/main">
            <a:off x="8321040" y="2286000"/>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Panel Navigator</a:t>
            </a:r>
          </a:p>
        </p:txBody>
      </p:sp>
      <p:sp>
        <p:nvSpPr>
          <p:cNvPr id="14" name="TextBox 13">
            <a:extLst xmlns:a="http://schemas.openxmlformats.org/drawingml/2006/main">
              <a:ext uri="{FF2B5EF4-FFF2-40B4-BE49-F238E27FC236}">
                <a16:creationId xmlns:a16="http://schemas.microsoft.com/office/drawing/2014/main" id="{2A523E99-ECF1-4D45-B077-435518FEAC7C}"/>
              </a:ext>
            </a:extLst>
          </p:cNvPr>
          <p:cNvSpPr>
            <a:spLocks xmlns:a="http://schemas.openxmlformats.org/drawingml/2006/main" noGrp="1"/>
          </p:cNvSpPr>
          <p:nvPr/>
        </p:nvSpPr>
        <p:spPr>
          <a:xfrm xmlns:a="http://schemas.openxmlformats.org/drawingml/2006/main">
            <a:off x="8321040" y="2743200"/>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Search stable numbers, agents, models, status, and paths.</a:t>
            </a:r>
          </a:p>
        </p:txBody>
      </p:sp>
      <p:sp>
        <p:nvSpPr>
          <p:cNvPr id="15" name="TextBox 14">
            <a:extLst xmlns:a="http://schemas.openxmlformats.org/drawingml/2006/main">
              <a:ext uri="{FF2B5EF4-FFF2-40B4-BE49-F238E27FC236}">
                <a16:creationId xmlns:a16="http://schemas.microsoft.com/office/drawing/2014/main" id="{1A2141A7-60EA-4DD8-BB66-FFF3DAD2F2C7}"/>
              </a:ext>
            </a:extLst>
          </p:cNvPr>
          <p:cNvSpPr>
            <a:spLocks xmlns:a="http://schemas.openxmlformats.org/drawingml/2006/main" noGrp="1"/>
          </p:cNvSpPr>
          <p:nvPr/>
        </p:nvSpPr>
        <p:spPr>
          <a:xfrm xmlns:a="http://schemas.openxmlformats.org/drawingml/2006/main">
            <a:off x="8321040" y="3657600"/>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F11</a:t>
            </a:r>
          </a:p>
        </p:txBody>
      </p:sp>
      <p:sp>
        <p:nvSpPr>
          <p:cNvPr id="16" name="Rounded Rectangle 15">
            <a:extLst xmlns:a="http://schemas.openxmlformats.org/drawingml/2006/main">
              <a:ext uri="{FF2B5EF4-FFF2-40B4-BE49-F238E27FC236}">
                <a16:creationId xmlns:a16="http://schemas.microsoft.com/office/drawing/2014/main" id="{A47329EA-C7A1-4909-B354-A74325B493B4}"/>
              </a:ext>
            </a:extLst>
          </p:cNvPr>
          <p:cNvSpPr>
            <a:spLocks xmlns:a="http://schemas.openxmlformats.org/drawingml/2006/main" noGrp="1"/>
          </p:cNvSpPr>
          <p:nvPr/>
        </p:nvSpPr>
        <p:spPr>
          <a:xfrm xmlns:a="http://schemas.openxmlformats.org/drawingml/2006/main">
            <a:off x="731520" y="4297679"/>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C5038BEF-9501-4755-AB28-D73881A1D4FE}"/>
              </a:ext>
            </a:extLst>
          </p:cNvPr>
          <p:cNvSpPr>
            <a:spLocks xmlns:a="http://schemas.openxmlformats.org/drawingml/2006/main" noGrp="1"/>
          </p:cNvSpPr>
          <p:nvPr/>
        </p:nvSpPr>
        <p:spPr>
          <a:xfrm xmlns:a="http://schemas.openxmlformats.org/drawingml/2006/main">
            <a:off x="1005840" y="4480559"/>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Routed Activity</a:t>
            </a:r>
          </a:p>
        </p:txBody>
      </p:sp>
      <p:sp>
        <p:nvSpPr>
          <p:cNvPr id="18" name="TextBox 17">
            <a:extLst xmlns:a="http://schemas.openxmlformats.org/drawingml/2006/main">
              <a:ext uri="{FF2B5EF4-FFF2-40B4-BE49-F238E27FC236}">
                <a16:creationId xmlns:a16="http://schemas.microsoft.com/office/drawing/2014/main" id="{27C3A22D-A856-4913-8B9D-64A557455625}"/>
              </a:ext>
            </a:extLst>
          </p:cNvPr>
          <p:cNvSpPr>
            <a:spLocks xmlns:a="http://schemas.openxmlformats.org/drawingml/2006/main" noGrp="1"/>
          </p:cNvSpPr>
          <p:nvPr/>
        </p:nvSpPr>
        <p:spPr>
          <a:xfrm xmlns:a="http://schemas.openxmlformats.org/drawingml/2006/main">
            <a:off x="1005840" y="4937759"/>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SEND, REPLY, BROADCAST, IDs, state, and errors.</a:t>
            </a:r>
          </a:p>
        </p:txBody>
      </p:sp>
      <p:sp>
        <p:nvSpPr>
          <p:cNvPr id="19" name="TextBox 18">
            <a:extLst xmlns:a="http://schemas.openxmlformats.org/drawingml/2006/main">
              <a:ext uri="{FF2B5EF4-FFF2-40B4-BE49-F238E27FC236}">
                <a16:creationId xmlns:a16="http://schemas.microsoft.com/office/drawing/2014/main" id="{F46F9246-1C60-4929-930C-3FCEB5A3B66A}"/>
              </a:ext>
            </a:extLst>
          </p:cNvPr>
          <p:cNvSpPr>
            <a:spLocks xmlns:a="http://schemas.openxmlformats.org/drawingml/2006/main" noGrp="1"/>
          </p:cNvSpPr>
          <p:nvPr/>
        </p:nvSpPr>
        <p:spPr>
          <a:xfrm xmlns:a="http://schemas.openxmlformats.org/drawingml/2006/main">
            <a:off x="1005840" y="5852159"/>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F12</a:t>
            </a:r>
          </a:p>
        </p:txBody>
      </p:sp>
      <p:sp>
        <p:nvSpPr>
          <p:cNvPr id="20" name="Rounded Rectangle 19">
            <a:extLst xmlns:a="http://schemas.openxmlformats.org/drawingml/2006/main">
              <a:ext uri="{FF2B5EF4-FFF2-40B4-BE49-F238E27FC236}">
                <a16:creationId xmlns:a16="http://schemas.microsoft.com/office/drawing/2014/main" id="{ADB15498-C0FF-4505-B2B1-198BA0C411EF}"/>
              </a:ext>
            </a:extLst>
          </p:cNvPr>
          <p:cNvSpPr>
            <a:spLocks xmlns:a="http://schemas.openxmlformats.org/drawingml/2006/main" noGrp="1"/>
          </p:cNvSpPr>
          <p:nvPr/>
        </p:nvSpPr>
        <p:spPr>
          <a:xfrm xmlns:a="http://schemas.openxmlformats.org/drawingml/2006/main">
            <a:off x="4389120" y="4297679"/>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F56E3FE5-D965-41FF-9730-67B2195CFEA1}"/>
              </a:ext>
            </a:extLst>
          </p:cNvPr>
          <p:cNvSpPr>
            <a:spLocks xmlns:a="http://schemas.openxmlformats.org/drawingml/2006/main" noGrp="1"/>
          </p:cNvSpPr>
          <p:nvPr/>
        </p:nvSpPr>
        <p:spPr>
          <a:xfrm xmlns:a="http://schemas.openxmlformats.org/drawingml/2006/main">
            <a:off x="4663440" y="4480559"/>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OpenCode Profiles</a:t>
            </a:r>
          </a:p>
        </p:txBody>
      </p:sp>
      <p:sp>
        <p:nvSpPr>
          <p:cNvPr id="22" name="TextBox 21">
            <a:extLst xmlns:a="http://schemas.openxmlformats.org/drawingml/2006/main">
              <a:ext uri="{FF2B5EF4-FFF2-40B4-BE49-F238E27FC236}">
                <a16:creationId xmlns:a16="http://schemas.microsoft.com/office/drawing/2014/main" id="{AED6DA17-20FD-42DF-B700-71B68AFD4E3A}"/>
              </a:ext>
            </a:extLst>
          </p:cNvPr>
          <p:cNvSpPr>
            <a:spLocks xmlns:a="http://schemas.openxmlformats.org/drawingml/2006/main" noGrp="1"/>
          </p:cNvSpPr>
          <p:nvPr/>
        </p:nvSpPr>
        <p:spPr>
          <a:xfrm xmlns:a="http://schemas.openxmlformats.org/drawingml/2006/main">
            <a:off x="4663440" y="4937759"/>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Named provider/model, agent, and config paths.</a:t>
            </a:r>
          </a:p>
        </p:txBody>
      </p:sp>
      <p:sp>
        <p:nvSpPr>
          <p:cNvPr id="23" name="TextBox 22">
            <a:extLst xmlns:a="http://schemas.openxmlformats.org/drawingml/2006/main">
              <a:ext uri="{FF2B5EF4-FFF2-40B4-BE49-F238E27FC236}">
                <a16:creationId xmlns:a16="http://schemas.microsoft.com/office/drawing/2014/main" id="{435A6318-C815-46A0-9340-9729B81D9C7E}"/>
              </a:ext>
            </a:extLst>
          </p:cNvPr>
          <p:cNvSpPr>
            <a:spLocks xmlns:a="http://schemas.openxmlformats.org/drawingml/2006/main" noGrp="1"/>
          </p:cNvSpPr>
          <p:nvPr/>
        </p:nvSpPr>
        <p:spPr>
          <a:xfrm xmlns:a="http://schemas.openxmlformats.org/drawingml/2006/main">
            <a:off x="4663440" y="5852159"/>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config.json</a:t>
            </a:r>
          </a:p>
        </p:txBody>
      </p:sp>
      <p:sp>
        <p:nvSpPr>
          <p:cNvPr id="24" name="Rounded Rectangle 23">
            <a:extLst xmlns:a="http://schemas.openxmlformats.org/drawingml/2006/main">
              <a:ext uri="{FF2B5EF4-FFF2-40B4-BE49-F238E27FC236}">
                <a16:creationId xmlns:a16="http://schemas.microsoft.com/office/drawing/2014/main" id="{E37C7197-29C9-4D4C-91D2-852887D42FCA}"/>
              </a:ext>
            </a:extLst>
          </p:cNvPr>
          <p:cNvSpPr>
            <a:spLocks xmlns:a="http://schemas.openxmlformats.org/drawingml/2006/main" noGrp="1"/>
          </p:cNvSpPr>
          <p:nvPr/>
        </p:nvSpPr>
        <p:spPr>
          <a:xfrm xmlns:a="http://schemas.openxmlformats.org/drawingml/2006/main">
            <a:off x="8046720" y="4297679"/>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BD5E86F4-0729-4FB6-B82C-5E4EF7E60AC8}"/>
              </a:ext>
            </a:extLst>
          </p:cNvPr>
          <p:cNvSpPr>
            <a:spLocks xmlns:a="http://schemas.openxmlformats.org/drawingml/2006/main" noGrp="1"/>
          </p:cNvSpPr>
          <p:nvPr/>
        </p:nvSpPr>
        <p:spPr>
          <a:xfrm xmlns:a="http://schemas.openxmlformats.org/drawingml/2006/main">
            <a:off x="8321040" y="4480559"/>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121 Prompt Templates</a:t>
            </a:r>
          </a:p>
        </p:txBody>
      </p:sp>
      <p:sp>
        <p:nvSpPr>
          <p:cNvPr id="26" name="TextBox 25">
            <a:extLst xmlns:a="http://schemas.openxmlformats.org/drawingml/2006/main">
              <a:ext uri="{FF2B5EF4-FFF2-40B4-BE49-F238E27FC236}">
                <a16:creationId xmlns:a16="http://schemas.microsoft.com/office/drawing/2014/main" id="{8CCB8448-76DB-4F66-AA43-D6692775A282}"/>
              </a:ext>
            </a:extLst>
          </p:cNvPr>
          <p:cNvSpPr>
            <a:spLocks xmlns:a="http://schemas.openxmlformats.org/drawingml/2006/main" noGrp="1"/>
          </p:cNvSpPr>
          <p:nvPr/>
        </p:nvSpPr>
        <p:spPr>
          <a:xfrm xmlns:a="http://schemas.openxmlformats.org/drawingml/2006/main">
            <a:off x="8321040" y="4937759"/>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29 collaboration workflows require an armed session.</a:t>
            </a:r>
          </a:p>
        </p:txBody>
      </p:sp>
      <p:sp>
        <p:nvSpPr>
          <p:cNvPr id="27" name="TextBox 26">
            <a:extLst xmlns:a="http://schemas.openxmlformats.org/drawingml/2006/main">
              <a:ext uri="{FF2B5EF4-FFF2-40B4-BE49-F238E27FC236}">
                <a16:creationId xmlns:a16="http://schemas.microsoft.com/office/drawing/2014/main" id="{0320FC92-2D47-4F5A-BFFE-01896C9DBDFA}"/>
              </a:ext>
            </a:extLst>
          </p:cNvPr>
          <p:cNvSpPr>
            <a:spLocks xmlns:a="http://schemas.openxmlformats.org/drawingml/2006/main" noGrp="1"/>
          </p:cNvSpPr>
          <p:nvPr/>
        </p:nvSpPr>
        <p:spPr>
          <a:xfrm xmlns:a="http://schemas.openxmlformats.org/drawingml/2006/main">
            <a:off x="8321040" y="5852159"/>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Ctrl+B</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8/13</a:t>
            </a:r>
          </a:p>
        </p:txBody>
      </p:sp>
    </p:spTree>
    <p:extLst>
      <p:ext uri="{BB962C8B-B14F-4D97-AF65-F5344CB8AC3E}">
        <p14:creationId xmlns:p14="http://schemas.microsoft.com/office/powerpoint/2010/main" val="1378249199"/>
      </p:ext>
    </p:extLst>
  </p:cSld>
</p:sld>
</file>

<file path=ppt/slides/slide9.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AI-NATIVE HARDWARE</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Codex Micro makes the workspace physical.</a:t>
            </a:r>
          </a:p>
        </p:txBody>
      </p:sp>
      <p:sp>
        <p:nvSpPr>
          <p:cNvPr id="4" name="Rounded Rectangle 3">
            <a:extLst xmlns:a="http://schemas.openxmlformats.org/drawingml/2006/main">
              <a:ext uri="{FF2B5EF4-FFF2-40B4-BE49-F238E27FC236}">
                <a16:creationId xmlns:a16="http://schemas.microsoft.com/office/drawing/2014/main" id="{182443AD-00D7-4745-8189-D9D6AC1FD896}"/>
              </a:ext>
            </a:extLst>
          </p:cNvPr>
          <p:cNvSpPr>
            <a:spLocks xmlns:a="http://schemas.openxmlformats.org/drawingml/2006/main" noGrp="1"/>
          </p:cNvSpPr>
          <p:nvPr/>
        </p:nvSpPr>
        <p:spPr>
          <a:xfrm xmlns:a="http://schemas.openxmlformats.org/drawingml/2006/main">
            <a:off x="731520" y="2103120"/>
            <a:ext cx="5303520" cy="43891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5F56051-0CC9-4F4E-8BF1-C98E09414FB9}"/>
              </a:ext>
            </a:extLst>
          </p:cNvPr>
          <p:cNvSpPr>
            <a:spLocks xmlns:a="http://schemas.openxmlformats.org/drawingml/2006/main" noGrp="1"/>
          </p:cNvSpPr>
          <p:nvPr/>
        </p:nvSpPr>
        <p:spPr>
          <a:xfrm xmlns:a="http://schemas.openxmlformats.org/drawingml/2006/main">
            <a:off x="100584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Navigate without leaving the task</a:t>
            </a:r>
          </a:p>
        </p:txBody>
      </p:sp>
      <p:sp>
        <p:nvSpPr>
          <p:cNvPr id="6" name="TextBox 5">
            <a:extLst xmlns:a="http://schemas.openxmlformats.org/drawingml/2006/main">
              <a:ext uri="{FF2B5EF4-FFF2-40B4-BE49-F238E27FC236}">
                <a16:creationId xmlns:a16="http://schemas.microsoft.com/office/drawing/2014/main" id="{C3BEC5A1-0D46-4C60-8895-7C5F8CF073EF}"/>
              </a:ext>
            </a:extLst>
          </p:cNvPr>
          <p:cNvSpPr>
            <a:spLocks xmlns:a="http://schemas.openxmlformats.org/drawingml/2006/main" noGrp="1"/>
          </p:cNvSpPr>
          <p:nvPr/>
        </p:nvSpPr>
        <p:spPr>
          <a:xfrm xmlns:a="http://schemas.openxmlformats.org/drawingml/2006/main">
            <a:off x="100584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Six agent keys focus workspace slots 1–6</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Dial and joystick move through panels and pages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Split adds a panel; Codex opens the navigator</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Mic or dial press opens Routed Activity</a:t>
            </a:r>
          </a:p>
        </p:txBody>
      </p:sp>
      <p:sp>
        <p:nvSpPr>
          <p:cNvPr id="7" name="Rounded Rectangle 6">
            <a:extLst xmlns:a="http://schemas.openxmlformats.org/drawingml/2006/main">
              <a:ext uri="{FF2B5EF4-FFF2-40B4-BE49-F238E27FC236}">
                <a16:creationId xmlns:a16="http://schemas.microsoft.com/office/drawing/2014/main" id="{E61D8795-CDA4-4880-B712-0C2A1F24997A}"/>
              </a:ext>
            </a:extLst>
          </p:cNvPr>
          <p:cNvSpPr>
            <a:spLocks xmlns:a="http://schemas.openxmlformats.org/drawingml/2006/main" noGrp="1"/>
          </p:cNvSpPr>
          <p:nvPr/>
        </p:nvSpPr>
        <p:spPr>
          <a:xfrm xmlns:a="http://schemas.openxmlformats.org/drawingml/2006/main">
            <a:off x="6309360" y="2103120"/>
            <a:ext cx="5303520" cy="43891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699D0A29-D30C-4BD1-AFAB-445BD20C236F}"/>
              </a:ext>
            </a:extLst>
          </p:cNvPr>
          <p:cNvSpPr>
            <a:spLocks xmlns:a="http://schemas.openxmlformats.org/drawingml/2006/main" noGrp="1"/>
          </p:cNvSpPr>
          <p:nvPr/>
        </p:nvSpPr>
        <p:spPr>
          <a:xfrm xmlns:a="http://schemas.openxmlformats.org/drawingml/2006/main">
            <a:off x="658368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Fail closed on consequential actions</a:t>
            </a:r>
          </a:p>
        </p:txBody>
      </p:sp>
      <p:sp>
        <p:nvSpPr>
          <p:cNvPr id="9" name="TextBox 8">
            <a:extLst xmlns:a="http://schemas.openxmlformats.org/drawingml/2006/main">
              <a:ext uri="{FF2B5EF4-FFF2-40B4-BE49-F238E27FC236}">
                <a16:creationId xmlns:a16="http://schemas.microsoft.com/office/drawing/2014/main" id="{34835CD2-FBF9-495C-AEC4-0767C420BCEE}"/>
              </a:ext>
            </a:extLst>
          </p:cNvPr>
          <p:cNvSpPr>
            <a:spLocks xmlns:a="http://schemas.openxmlformats.org/drawingml/2006/main" noGrp="1"/>
          </p:cNvSpPr>
          <p:nvPr/>
        </p:nvSpPr>
        <p:spPr>
          <a:xfrm xmlns:a="http://schemas.openxmlformats.org/drawingml/2006/main">
            <a:off x="658368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Native USB/Bluetooth input on macOS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Another reader → MICRO:BUSY; input is dropped</a:t>
            </a:r>
          </a:p>
          <a:p xmlns:a="http://schemas.openxmlformats.org/drawingml/2006/main">
            <a:pPr>
              <a:spcAft>
                <a:spcPts val="400"/>
              </a:spcAft>
              <a:buNone/>
              <a:defRPr sz="1400" b="0">
                <a:solidFill>
                  <a:srgbClr val="00CC33"/>
                </a:solidFill>
                <a:latin typeface="Consolas"/>
                <a:ea typeface="Consolas"/>
                <a:cs typeface="Consolas"/>
              </a:defRPr>
            </a:pPr>
            <a:r>
              <a:rPr sz="1400" b="0">
                <a:solidFill>
                  <a:srgbClr val="9AB89A"/>
                </a:solidFill>
                <a:latin typeface="Consolas"/>
                <a:ea typeface="Consolas"/>
                <a:cs typeface="Consolas"/>
              </a:rPr>
              <a:t>• Approve and Reject are opt-in</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The same hardware key must be pressed twice</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A stale prompt, session, or guard sends nothing</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9/13</a:t>
            </a:r>
          </a:p>
        </p:txBody>
      </p:sp>
    </p:spTree>
    <p:extLst>
      <p:ext uri="{BB962C8B-B14F-4D97-AF65-F5344CB8AC3E}">
        <p14:creationId xmlns:p14="http://schemas.microsoft.com/office/powerpoint/2010/main" val="1360156686"/>
      </p:ext>
    </p:extLst>
  </p:cSld>
</p:sld>
</file>

<file path=ppt/slides/slide10.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DEMO SAFETY</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9144000" cy="7315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Every live step has a fallback.</a:t>
            </a:r>
          </a:p>
        </p:txBody>
      </p:sp>
      <p:sp>
        <p:nvSpPr>
          <p:cNvPr id="4" name="Rounded Rectangle 3">
            <a:extLst xmlns:a="http://schemas.openxmlformats.org/drawingml/2006/main">
              <a:ext uri="{FF2B5EF4-FFF2-40B4-BE49-F238E27FC236}">
                <a16:creationId xmlns:a16="http://schemas.microsoft.com/office/drawing/2014/main" id="{5910E374-0DA3-4C02-97B4-AB6D61603683}"/>
              </a:ext>
            </a:extLst>
          </p:cNvPr>
          <p:cNvSpPr>
            <a:spLocks xmlns:a="http://schemas.openxmlformats.org/drawingml/2006/main" noGrp="1"/>
          </p:cNvSpPr>
          <p:nvPr/>
        </p:nvSpPr>
        <p:spPr>
          <a:xfrm xmlns:a="http://schemas.openxmlformats.org/drawingml/2006/main">
            <a:off x="731520" y="2011680"/>
            <a:ext cx="10424160" cy="384048"/>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A99CD08-77EE-4109-97F0-082CED2D87D5}"/>
              </a:ext>
            </a:extLst>
          </p:cNvPr>
          <p:cNvSpPr>
            <a:spLocks xmlns:a="http://schemas.openxmlformats.org/drawingml/2006/main" noGrp="1"/>
          </p:cNvSpPr>
          <p:nvPr/>
        </p:nvSpPr>
        <p:spPr>
          <a:xfrm xmlns:a="http://schemas.openxmlformats.org/drawingml/2006/main">
            <a:off x="731520" y="2011680"/>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4A6A4A"/>
                </a:solidFill>
                <a:latin typeface="Consolas"/>
                <a:ea typeface="Consolas"/>
                <a:cs typeface="Consolas"/>
              </a:defRPr>
            </a:pPr>
          </a:p>
        </p:txBody>
      </p:sp>
      <p:sp>
        <p:nvSpPr>
          <p:cNvPr id="6" name="TextBox 5">
            <a:extLst xmlns:a="http://schemas.openxmlformats.org/drawingml/2006/main">
              <a:ext uri="{FF2B5EF4-FFF2-40B4-BE49-F238E27FC236}">
                <a16:creationId xmlns:a16="http://schemas.microsoft.com/office/drawing/2014/main" id="{E7C8D2FE-A36F-42CD-872A-5A52E5E6BF5C}"/>
              </a:ext>
            </a:extLst>
          </p:cNvPr>
          <p:cNvSpPr>
            <a:spLocks xmlns:a="http://schemas.openxmlformats.org/drawingml/2006/main" noGrp="1"/>
          </p:cNvSpPr>
          <p:nvPr/>
        </p:nvSpPr>
        <p:spPr>
          <a:xfrm xmlns:a="http://schemas.openxmlformats.org/drawingml/2006/main">
            <a:off x="2743200" y="2011680"/>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00FF41"/>
                </a:solidFill>
                <a:latin typeface="Consolas"/>
                <a:ea typeface="Consolas"/>
                <a:cs typeface="Consolas"/>
              </a:defRPr>
            </a:pPr>
            <a:r>
              <a:t>COMMAND</a:t>
            </a:r>
          </a:p>
        </p:txBody>
      </p:sp>
      <p:sp>
        <p:nvSpPr>
          <p:cNvPr id="7" name="TextBox 6">
            <a:extLst xmlns:a="http://schemas.openxmlformats.org/drawingml/2006/main">
              <a:ext uri="{FF2B5EF4-FFF2-40B4-BE49-F238E27FC236}">
                <a16:creationId xmlns:a16="http://schemas.microsoft.com/office/drawing/2014/main" id="{A6131FB9-83EA-42A8-9210-C4F1060723E3}"/>
              </a:ext>
            </a:extLst>
          </p:cNvPr>
          <p:cNvSpPr>
            <a:spLocks xmlns:a="http://schemas.openxmlformats.org/drawingml/2006/main" noGrp="1"/>
          </p:cNvSpPr>
          <p:nvPr/>
        </p:nvSpPr>
        <p:spPr>
          <a:xfrm xmlns:a="http://schemas.openxmlformats.org/drawingml/2006/main">
            <a:off x="5669280" y="201168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4A6A4A"/>
                </a:solidFill>
                <a:latin typeface="Consolas"/>
                <a:ea typeface="Consolas"/>
                <a:cs typeface="Consolas"/>
              </a:defRPr>
            </a:pPr>
            <a:r>
              <a:rPr sz="1300" b="1">
                <a:solidFill>
                  <a:srgbClr val="9AB89A"/>
                </a:solidFill>
                <a:latin typeface="Consolas"/>
                <a:ea typeface="Consolas"/>
                <a:cs typeface="Consolas"/>
              </a:rPr>
              <a:t>PROVES</a:t>
            </a:r>
          </a:p>
        </p:txBody>
      </p:sp>
      <p:sp>
        <p:nvSpPr>
          <p:cNvPr id="8" name="TextBox 7">
            <a:extLst xmlns:a="http://schemas.openxmlformats.org/drawingml/2006/main">
              <a:ext uri="{FF2B5EF4-FFF2-40B4-BE49-F238E27FC236}">
                <a16:creationId xmlns:a16="http://schemas.microsoft.com/office/drawing/2014/main" id="{462AFE0A-D459-48A3-93B1-95F9843B626A}"/>
              </a:ext>
            </a:extLst>
          </p:cNvPr>
          <p:cNvSpPr>
            <a:spLocks xmlns:a="http://schemas.openxmlformats.org/drawingml/2006/main" noGrp="1"/>
          </p:cNvSpPr>
          <p:nvPr/>
        </p:nvSpPr>
        <p:spPr>
          <a:xfrm xmlns:a="http://schemas.openxmlformats.org/drawingml/2006/main">
            <a:off x="8412480" y="201168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4A6A4A"/>
                </a:solidFill>
                <a:latin typeface="Consolas"/>
                <a:ea typeface="Consolas"/>
                <a:cs typeface="Consolas"/>
              </a:defRPr>
            </a:pPr>
            <a:r>
              <a:rPr sz="1300" b="1">
                <a:solidFill>
                  <a:srgbClr val="9AB89A"/>
                </a:solidFill>
                <a:latin typeface="Consolas"/>
                <a:ea typeface="Consolas"/>
                <a:cs typeface="Consolas"/>
              </a:rPr>
              <a:t>RECOVERY</a:t>
            </a:r>
          </a:p>
        </p:txBody>
      </p:sp>
      <p:sp>
        <p:nvSpPr>
          <p:cNvPr id="9" name="Rounded Rectangle 8">
            <a:extLst xmlns:a="http://schemas.openxmlformats.org/drawingml/2006/main">
              <a:ext uri="{FF2B5EF4-FFF2-40B4-BE49-F238E27FC236}">
                <a16:creationId xmlns:a16="http://schemas.microsoft.com/office/drawing/2014/main" id="{C578FDA3-B4B9-4EAD-90ED-126CC98B6030}"/>
              </a:ext>
            </a:extLst>
          </p:cNvPr>
          <p:cNvSpPr>
            <a:spLocks xmlns:a="http://schemas.openxmlformats.org/drawingml/2006/main" noGrp="1"/>
          </p:cNvSpPr>
          <p:nvPr/>
        </p:nvSpPr>
        <p:spPr>
          <a:xfrm xmlns:a="http://schemas.openxmlformats.org/drawingml/2006/main">
            <a:off x="731520" y="2395728"/>
            <a:ext cx="10424160" cy="384048"/>
          </a:xfrm>
          <a:prstGeom xmlns:a="http://schemas.openxmlformats.org/drawingml/2006/main" prst="roundRect">
            <a:avLst/>
          </a:prstGeom>
          <a:solidFill xmlns:a="http://schemas.openxmlformats.org/drawingml/2006/main">
            <a:srgbClr val="0A180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D2ECEE2-CA0B-4EB8-A115-536F8CE9DF30}"/>
              </a:ext>
            </a:extLst>
          </p:cNvPr>
          <p:cNvSpPr>
            <a:spLocks xmlns:a="http://schemas.openxmlformats.org/drawingml/2006/main" noGrp="1"/>
          </p:cNvSpPr>
          <p:nvPr/>
        </p:nvSpPr>
        <p:spPr>
          <a:xfrm xmlns:a="http://schemas.openxmlformats.org/drawingml/2006/main">
            <a:off x="731520" y="2395728"/>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D0E8D0"/>
                </a:solidFill>
                <a:latin typeface="Consolas"/>
                <a:ea typeface="Consolas"/>
                <a:cs typeface="Consolas"/>
              </a:defRPr>
            </a:pPr>
            <a:r>
              <a:t>Preflight</a:t>
            </a:r>
          </a:p>
        </p:txBody>
      </p:sp>
      <p:sp>
        <p:nvSpPr>
          <p:cNvPr id="11" name="TextBox 10">
            <a:extLst xmlns:a="http://schemas.openxmlformats.org/drawingml/2006/main">
              <a:ext uri="{FF2B5EF4-FFF2-40B4-BE49-F238E27FC236}">
                <a16:creationId xmlns:a16="http://schemas.microsoft.com/office/drawing/2014/main" id="{6F3DC8F6-F9D2-496B-9B0E-7546860E50A2}"/>
              </a:ext>
            </a:extLst>
          </p:cNvPr>
          <p:cNvSpPr>
            <a:spLocks xmlns:a="http://schemas.openxmlformats.org/drawingml/2006/main" noGrp="1"/>
          </p:cNvSpPr>
          <p:nvPr/>
        </p:nvSpPr>
        <p:spPr>
          <a:xfrm xmlns:a="http://schemas.openxmlformats.org/drawingml/2006/main">
            <a:off x="2743200" y="2395728"/>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D0E8D0"/>
                </a:solidFill>
                <a:latin typeface="Consolas"/>
                <a:ea typeface="Consolas"/>
                <a:cs typeface="Consolas"/>
              </a:defRPr>
            </a:pPr>
            <a:r>
              <a:t>--doctor .</a:t>
            </a:r>
          </a:p>
        </p:txBody>
      </p:sp>
      <p:sp>
        <p:nvSpPr>
          <p:cNvPr id="12" name="TextBox 11">
            <a:extLst xmlns:a="http://schemas.openxmlformats.org/drawingml/2006/main">
              <a:ext uri="{FF2B5EF4-FFF2-40B4-BE49-F238E27FC236}">
                <a16:creationId xmlns:a16="http://schemas.microsoft.com/office/drawing/2014/main" id="{6A54C6BA-223E-48EE-A29E-38906C8B972A}"/>
              </a:ext>
            </a:extLst>
          </p:cNvPr>
          <p:cNvSpPr>
            <a:spLocks xmlns:a="http://schemas.openxmlformats.org/drawingml/2006/main" noGrp="1"/>
          </p:cNvSpPr>
          <p:nvPr/>
        </p:nvSpPr>
        <p:spPr>
          <a:xfrm xmlns:a="http://schemas.openxmlformats.org/drawingml/2006/main">
            <a:off x="5669280" y="239572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Runtime + assets</a:t>
            </a:r>
          </a:p>
        </p:txBody>
      </p:sp>
      <p:sp>
        <p:nvSpPr>
          <p:cNvPr id="13" name="TextBox 12">
            <a:extLst xmlns:a="http://schemas.openxmlformats.org/drawingml/2006/main">
              <a:ext uri="{FF2B5EF4-FFF2-40B4-BE49-F238E27FC236}">
                <a16:creationId xmlns:a16="http://schemas.microsoft.com/office/drawing/2014/main" id="{F7CB1E74-AB31-4C70-8E7F-CFBFC80AF302}"/>
              </a:ext>
            </a:extLst>
          </p:cNvPr>
          <p:cNvSpPr>
            <a:spLocks xmlns:a="http://schemas.openxmlformats.org/drawingml/2006/main" noGrp="1"/>
          </p:cNvSpPr>
          <p:nvPr/>
        </p:nvSpPr>
        <p:spPr>
          <a:xfrm xmlns:a="http://schemas.openxmlformats.org/drawingml/2006/main">
            <a:off x="8412480" y="239572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Fix before launch</a:t>
            </a:r>
          </a:p>
        </p:txBody>
      </p:sp>
      <p:sp>
        <p:nvSpPr>
          <p:cNvPr id="14" name="Rounded Rectangle 13">
            <a:extLst xmlns:a="http://schemas.openxmlformats.org/drawingml/2006/main">
              <a:ext uri="{FF2B5EF4-FFF2-40B4-BE49-F238E27FC236}">
                <a16:creationId xmlns:a16="http://schemas.microsoft.com/office/drawing/2014/main" id="{8038A775-BD98-45BB-9882-DEE250F48007}"/>
              </a:ext>
            </a:extLst>
          </p:cNvPr>
          <p:cNvSpPr>
            <a:spLocks xmlns:a="http://schemas.openxmlformats.org/drawingml/2006/main" noGrp="1"/>
          </p:cNvSpPr>
          <p:nvPr/>
        </p:nvSpPr>
        <p:spPr>
          <a:xfrm xmlns:a="http://schemas.openxmlformats.org/drawingml/2006/main">
            <a:off x="731520" y="2779776"/>
            <a:ext cx="10424160" cy="384048"/>
          </a:xfrm>
          <a:prstGeom xmlns:a="http://schemas.openxmlformats.org/drawingml/2006/main" prst="roundRect">
            <a:avLst/>
          </a:prstGeom>
          <a:solidFill xmlns:a="http://schemas.openxmlformats.org/drawingml/2006/main">
            <a:srgbClr val="040A0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2DE8015B-2172-4BA6-A0DE-F70F43CC4D20}"/>
              </a:ext>
            </a:extLst>
          </p:cNvPr>
          <p:cNvSpPr>
            <a:spLocks xmlns:a="http://schemas.openxmlformats.org/drawingml/2006/main" noGrp="1"/>
          </p:cNvSpPr>
          <p:nvPr/>
        </p:nvSpPr>
        <p:spPr>
          <a:xfrm xmlns:a="http://schemas.openxmlformats.org/drawingml/2006/main">
            <a:off x="731520" y="2779776"/>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D0E8D0"/>
                </a:solidFill>
                <a:latin typeface="Consolas"/>
                <a:ea typeface="Consolas"/>
                <a:cs typeface="Consolas"/>
              </a:defRPr>
            </a:pPr>
            <a:r>
              <a:t>Stage</a:t>
            </a:r>
          </a:p>
        </p:txBody>
      </p:sp>
      <p:sp>
        <p:nvSpPr>
          <p:cNvPr id="16" name="TextBox 15">
            <a:extLst xmlns:a="http://schemas.openxmlformats.org/drawingml/2006/main">
              <a:ext uri="{FF2B5EF4-FFF2-40B4-BE49-F238E27FC236}">
                <a16:creationId xmlns:a16="http://schemas.microsoft.com/office/drawing/2014/main" id="{4AFCD392-1DF5-44D8-BC4E-F39A67D5743F}"/>
              </a:ext>
            </a:extLst>
          </p:cNvPr>
          <p:cNvSpPr>
            <a:spLocks xmlns:a="http://schemas.openxmlformats.org/drawingml/2006/main" noGrp="1"/>
          </p:cNvSpPr>
          <p:nvPr/>
        </p:nvSpPr>
        <p:spPr>
          <a:xfrm xmlns:a="http://schemas.openxmlformats.org/drawingml/2006/main">
            <a:off x="2743200" y="2779776"/>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00FF41"/>
                </a:solidFill>
                <a:latin typeface="Consolas"/>
                <a:ea typeface="Consolas"/>
                <a:cs typeface="Consolas"/>
              </a:defRPr>
            </a:pPr>
            <a:r>
              <a:t>--conference .</a:t>
            </a:r>
          </a:p>
        </p:txBody>
      </p:sp>
      <p:sp>
        <p:nvSpPr>
          <p:cNvPr id="17" name="TextBox 16">
            <a:extLst xmlns:a="http://schemas.openxmlformats.org/drawingml/2006/main">
              <a:ext uri="{FF2B5EF4-FFF2-40B4-BE49-F238E27FC236}">
                <a16:creationId xmlns:a16="http://schemas.microsoft.com/office/drawing/2014/main" id="{A9432898-A199-43CF-A23A-8510CEEF4E81}"/>
              </a:ext>
            </a:extLst>
          </p:cNvPr>
          <p:cNvSpPr>
            <a:spLocks xmlns:a="http://schemas.openxmlformats.org/drawingml/2006/main" noGrp="1"/>
          </p:cNvSpPr>
          <p:nvPr/>
        </p:nvSpPr>
        <p:spPr>
          <a:xfrm xmlns:a="http://schemas.openxmlformats.org/drawingml/2006/main">
            <a:off x="5669280" y="277977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Safe visual defaults</a:t>
            </a:r>
          </a:p>
        </p:txBody>
      </p:sp>
      <p:sp>
        <p:nvSpPr>
          <p:cNvPr id="18" name="TextBox 17">
            <a:extLst xmlns:a="http://schemas.openxmlformats.org/drawingml/2006/main">
              <a:ext uri="{FF2B5EF4-FFF2-40B4-BE49-F238E27FC236}">
                <a16:creationId xmlns:a16="http://schemas.microsoft.com/office/drawing/2014/main" id="{F72D6437-35A7-4D49-A052-1A6A1DA23AA2}"/>
              </a:ext>
            </a:extLst>
          </p:cNvPr>
          <p:cNvSpPr>
            <a:spLocks xmlns:a="http://schemas.openxmlformats.org/drawingml/2006/main" noGrp="1"/>
          </p:cNvSpPr>
          <p:nvPr/>
        </p:nvSpPr>
        <p:spPr>
          <a:xfrm xmlns:a="http://schemas.openxmlformats.org/drawingml/2006/main">
            <a:off x="8412480" y="277977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CLI flags still win</a:t>
            </a:r>
          </a:p>
        </p:txBody>
      </p:sp>
      <p:sp>
        <p:nvSpPr>
          <p:cNvPr id="19" name="Rounded Rectangle 18">
            <a:extLst xmlns:a="http://schemas.openxmlformats.org/drawingml/2006/main">
              <a:ext uri="{FF2B5EF4-FFF2-40B4-BE49-F238E27FC236}">
                <a16:creationId xmlns:a16="http://schemas.microsoft.com/office/drawing/2014/main" id="{EC4D1D44-DAAE-431F-A0C7-B5D4B96EF072}"/>
              </a:ext>
            </a:extLst>
          </p:cNvPr>
          <p:cNvSpPr>
            <a:spLocks xmlns:a="http://schemas.openxmlformats.org/drawingml/2006/main" noGrp="1"/>
          </p:cNvSpPr>
          <p:nvPr/>
        </p:nvSpPr>
        <p:spPr>
          <a:xfrm xmlns:a="http://schemas.openxmlformats.org/drawingml/2006/main">
            <a:off x="731520" y="3163824"/>
            <a:ext cx="10424160" cy="384048"/>
          </a:xfrm>
          <a:prstGeom xmlns:a="http://schemas.openxmlformats.org/drawingml/2006/main" prst="roundRect">
            <a:avLst/>
          </a:prstGeom>
          <a:solidFill xmlns:a="http://schemas.openxmlformats.org/drawingml/2006/main">
            <a:srgbClr val="0A180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A6F37A4F-4ED2-429A-A850-A1C3F9FC7437}"/>
              </a:ext>
            </a:extLst>
          </p:cNvPr>
          <p:cNvSpPr>
            <a:spLocks xmlns:a="http://schemas.openxmlformats.org/drawingml/2006/main" noGrp="1"/>
          </p:cNvSpPr>
          <p:nvPr/>
        </p:nvSpPr>
        <p:spPr>
          <a:xfrm xmlns:a="http://schemas.openxmlformats.org/drawingml/2006/main">
            <a:off x="731520" y="3163824"/>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D0E8D0"/>
                </a:solidFill>
                <a:latin typeface="Consolas"/>
                <a:ea typeface="Consolas"/>
                <a:cs typeface="Consolas"/>
              </a:defRPr>
            </a:pPr>
            <a:r>
              <a:t>Fallback</a:t>
            </a:r>
          </a:p>
        </p:txBody>
      </p:sp>
      <p:sp>
        <p:nvSpPr>
          <p:cNvPr id="21" name="TextBox 20">
            <a:extLst xmlns:a="http://schemas.openxmlformats.org/drawingml/2006/main">
              <a:ext uri="{FF2B5EF4-FFF2-40B4-BE49-F238E27FC236}">
                <a16:creationId xmlns:a16="http://schemas.microsoft.com/office/drawing/2014/main" id="{7C084E5A-C183-458B-A07B-9234502B754F}"/>
              </a:ext>
            </a:extLst>
          </p:cNvPr>
          <p:cNvSpPr>
            <a:spLocks xmlns:a="http://schemas.openxmlformats.org/drawingml/2006/main" noGrp="1"/>
          </p:cNvSpPr>
          <p:nvPr/>
        </p:nvSpPr>
        <p:spPr>
          <a:xfrm xmlns:a="http://schemas.openxmlformats.org/drawingml/2006/main">
            <a:off x="2743200" y="3163824"/>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00FF41"/>
                </a:solidFill>
                <a:latin typeface="Consolas"/>
                <a:ea typeface="Consolas"/>
                <a:cs typeface="Consolas"/>
              </a:defRPr>
            </a:pPr>
            <a:r>
              <a:t>--demo</a:t>
            </a:r>
          </a:p>
        </p:txBody>
      </p:sp>
      <p:sp>
        <p:nvSpPr>
          <p:cNvPr id="22" name="TextBox 21">
            <a:extLst xmlns:a="http://schemas.openxmlformats.org/drawingml/2006/main">
              <a:ext uri="{FF2B5EF4-FFF2-40B4-BE49-F238E27FC236}">
                <a16:creationId xmlns:a16="http://schemas.microsoft.com/office/drawing/2014/main" id="{B2AD06AE-5186-4219-8E31-0426E1592001}"/>
              </a:ext>
            </a:extLst>
          </p:cNvPr>
          <p:cNvSpPr>
            <a:spLocks xmlns:a="http://schemas.openxmlformats.org/drawingml/2006/main" noGrp="1"/>
          </p:cNvSpPr>
          <p:nvPr/>
        </p:nvSpPr>
        <p:spPr>
          <a:xfrm xmlns:a="http://schemas.openxmlformats.org/drawingml/2006/main">
            <a:off x="5669280" y="316382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Offline routed handoff</a:t>
            </a:r>
          </a:p>
        </p:txBody>
      </p:sp>
      <p:sp>
        <p:nvSpPr>
          <p:cNvPr id="23" name="TextBox 22">
            <a:extLst xmlns:a="http://schemas.openxmlformats.org/drawingml/2006/main">
              <a:ext uri="{FF2B5EF4-FFF2-40B4-BE49-F238E27FC236}">
                <a16:creationId xmlns:a16="http://schemas.microsoft.com/office/drawing/2014/main" id="{702C4D11-2623-4E2B-805E-9EC52DEC0E75}"/>
              </a:ext>
            </a:extLst>
          </p:cNvPr>
          <p:cNvSpPr>
            <a:spLocks xmlns:a="http://schemas.openxmlformats.org/drawingml/2006/main" noGrp="1"/>
          </p:cNvSpPr>
          <p:nvPr/>
        </p:nvSpPr>
        <p:spPr>
          <a:xfrm xmlns:a="http://schemas.openxmlformats.org/drawingml/2006/main">
            <a:off x="8412480" y="316382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Relaunch --demo</a:t>
            </a:r>
          </a:p>
        </p:txBody>
      </p:sp>
      <p:sp>
        <p:nvSpPr>
          <p:cNvPr id="24" name="Rounded Rectangle 23">
            <a:extLst xmlns:a="http://schemas.openxmlformats.org/drawingml/2006/main">
              <a:ext uri="{FF2B5EF4-FFF2-40B4-BE49-F238E27FC236}">
                <a16:creationId xmlns:a16="http://schemas.microsoft.com/office/drawing/2014/main" id="{90937E5B-4010-4951-B4BA-8E758D5533DB}"/>
              </a:ext>
            </a:extLst>
          </p:cNvPr>
          <p:cNvSpPr>
            <a:spLocks xmlns:a="http://schemas.openxmlformats.org/drawingml/2006/main" noGrp="1"/>
          </p:cNvSpPr>
          <p:nvPr/>
        </p:nvSpPr>
        <p:spPr>
          <a:xfrm xmlns:a="http://schemas.openxmlformats.org/drawingml/2006/main">
            <a:off x="731520" y="3547872"/>
            <a:ext cx="10424160" cy="384048"/>
          </a:xfrm>
          <a:prstGeom xmlns:a="http://schemas.openxmlformats.org/drawingml/2006/main" prst="roundRect">
            <a:avLst/>
          </a:prstGeom>
          <a:solidFill xmlns:a="http://schemas.openxmlformats.org/drawingml/2006/main">
            <a:srgbClr val="040A0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F0166FB2-B8BC-4721-8562-3FD2ED957689}"/>
              </a:ext>
            </a:extLst>
          </p:cNvPr>
          <p:cNvSpPr>
            <a:spLocks xmlns:a="http://schemas.openxmlformats.org/drawingml/2006/main" noGrp="1"/>
          </p:cNvSpPr>
          <p:nvPr/>
        </p:nvSpPr>
        <p:spPr>
          <a:xfrm xmlns:a="http://schemas.openxmlformats.org/drawingml/2006/main">
            <a:off x="731520" y="3547872"/>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D0E8D0"/>
                </a:solidFill>
                <a:latin typeface="Consolas"/>
                <a:ea typeface="Consolas"/>
                <a:cs typeface="Consolas"/>
              </a:defRPr>
            </a:pPr>
            <a:r>
              <a:t>Observe</a:t>
            </a:r>
          </a:p>
        </p:txBody>
      </p:sp>
      <p:sp>
        <p:nvSpPr>
          <p:cNvPr id="26" name="TextBox 25">
            <a:extLst xmlns:a="http://schemas.openxmlformats.org/drawingml/2006/main">
              <a:ext uri="{FF2B5EF4-FFF2-40B4-BE49-F238E27FC236}">
                <a16:creationId xmlns:a16="http://schemas.microsoft.com/office/drawing/2014/main" id="{1D832A6E-B503-4925-B5A9-0ED4F4835FB9}"/>
              </a:ext>
            </a:extLst>
          </p:cNvPr>
          <p:cNvSpPr>
            <a:spLocks xmlns:a="http://schemas.openxmlformats.org/drawingml/2006/main" noGrp="1"/>
          </p:cNvSpPr>
          <p:nvPr/>
        </p:nvSpPr>
        <p:spPr>
          <a:xfrm xmlns:a="http://schemas.openxmlformats.org/drawingml/2006/main">
            <a:off x="2743200" y="3547872"/>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00FF41"/>
                </a:solidFill>
                <a:latin typeface="Consolas"/>
                <a:ea typeface="Consolas"/>
                <a:cs typeface="Consolas"/>
              </a:defRPr>
            </a:pPr>
            <a:r>
              <a:t>F12</a:t>
            </a:r>
          </a:p>
        </p:txBody>
      </p:sp>
      <p:sp>
        <p:nvSpPr>
          <p:cNvPr id="27" name="TextBox 26">
            <a:extLst xmlns:a="http://schemas.openxmlformats.org/drawingml/2006/main">
              <a:ext uri="{FF2B5EF4-FFF2-40B4-BE49-F238E27FC236}">
                <a16:creationId xmlns:a16="http://schemas.microsoft.com/office/drawing/2014/main" id="{5B8D2F25-573D-4567-86EA-5AB07DB470A8}"/>
              </a:ext>
            </a:extLst>
          </p:cNvPr>
          <p:cNvSpPr>
            <a:spLocks xmlns:a="http://schemas.openxmlformats.org/drawingml/2006/main" noGrp="1"/>
          </p:cNvSpPr>
          <p:nvPr/>
        </p:nvSpPr>
        <p:spPr>
          <a:xfrm xmlns:a="http://schemas.openxmlformats.org/drawingml/2006/main">
            <a:off x="5669280" y="3547872"/>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IDs + route state</a:t>
            </a:r>
          </a:p>
        </p:txBody>
      </p:sp>
      <p:sp>
        <p:nvSpPr>
          <p:cNvPr id="28" name="TextBox 27">
            <a:extLst xmlns:a="http://schemas.openxmlformats.org/drawingml/2006/main">
              <a:ext uri="{FF2B5EF4-FFF2-40B4-BE49-F238E27FC236}">
                <a16:creationId xmlns:a16="http://schemas.microsoft.com/office/drawing/2014/main" id="{CB6507C6-8B13-42E9-8509-6A63FE58F05D}"/>
              </a:ext>
            </a:extLst>
          </p:cNvPr>
          <p:cNvSpPr>
            <a:spLocks xmlns:a="http://schemas.openxmlformats.org/drawingml/2006/main" noGrp="1"/>
          </p:cNvSpPr>
          <p:nvPr/>
        </p:nvSpPr>
        <p:spPr>
          <a:xfrm xmlns:a="http://schemas.openxmlformats.org/drawingml/2006/main">
            <a:off x="8412480" y="3547872"/>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Shift+F12 guide</a:t>
            </a:r>
          </a:p>
        </p:txBody>
      </p:sp>
      <p:sp>
        <p:nvSpPr>
          <p:cNvPr id="29" name="Rounded Rectangle 28">
            <a:extLst xmlns:a="http://schemas.openxmlformats.org/drawingml/2006/main">
              <a:ext uri="{FF2B5EF4-FFF2-40B4-BE49-F238E27FC236}">
                <a16:creationId xmlns:a16="http://schemas.microsoft.com/office/drawing/2014/main" id="{60CAC2B9-60D7-401C-BBC7-A9CF33FA48A2}"/>
              </a:ext>
            </a:extLst>
          </p:cNvPr>
          <p:cNvSpPr>
            <a:spLocks xmlns:a="http://schemas.openxmlformats.org/drawingml/2006/main" noGrp="1"/>
          </p:cNvSpPr>
          <p:nvPr/>
        </p:nvSpPr>
        <p:spPr>
          <a:xfrm xmlns:a="http://schemas.openxmlformats.org/drawingml/2006/main">
            <a:off x="731520" y="3931920"/>
            <a:ext cx="10424160" cy="384048"/>
          </a:xfrm>
          <a:prstGeom xmlns:a="http://schemas.openxmlformats.org/drawingml/2006/main" prst="roundRect">
            <a:avLst/>
          </a:prstGeom>
          <a:solidFill xmlns:a="http://schemas.openxmlformats.org/drawingml/2006/main">
            <a:srgbClr val="0A180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4089C66D-FC0C-4A1D-8CA6-0C849261342D}"/>
              </a:ext>
            </a:extLst>
          </p:cNvPr>
          <p:cNvSpPr>
            <a:spLocks xmlns:a="http://schemas.openxmlformats.org/drawingml/2006/main" noGrp="1"/>
          </p:cNvSpPr>
          <p:nvPr/>
        </p:nvSpPr>
        <p:spPr>
          <a:xfrm xmlns:a="http://schemas.openxmlformats.org/drawingml/2006/main">
            <a:off x="731520" y="3931920"/>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D0E8D0"/>
                </a:solidFill>
                <a:latin typeface="Consolas"/>
                <a:ea typeface="Consolas"/>
                <a:cs typeface="Consolas"/>
              </a:defRPr>
            </a:pPr>
            <a:r>
              <a:t>Scale</a:t>
            </a:r>
          </a:p>
        </p:txBody>
      </p:sp>
      <p:sp>
        <p:nvSpPr>
          <p:cNvPr id="31" name="TextBox 30">
            <a:extLst xmlns:a="http://schemas.openxmlformats.org/drawingml/2006/main">
              <a:ext uri="{FF2B5EF4-FFF2-40B4-BE49-F238E27FC236}">
                <a16:creationId xmlns:a16="http://schemas.microsoft.com/office/drawing/2014/main" id="{C67F707F-B878-451D-80CD-76DAB2FB346F}"/>
              </a:ext>
            </a:extLst>
          </p:cNvPr>
          <p:cNvSpPr>
            <a:spLocks xmlns:a="http://schemas.openxmlformats.org/drawingml/2006/main" noGrp="1"/>
          </p:cNvSpPr>
          <p:nvPr/>
        </p:nvSpPr>
        <p:spPr>
          <a:xfrm xmlns:a="http://schemas.openxmlformats.org/drawingml/2006/main">
            <a:off x="2743200" y="3931920"/>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00FF41"/>
                </a:solidFill>
                <a:latin typeface="Consolas"/>
                <a:ea typeface="Consolas"/>
                <a:cs typeface="Consolas"/>
              </a:defRPr>
            </a:pPr>
            <a:r>
              <a:t>--panels 12</a:t>
            </a:r>
          </a:p>
        </p:txBody>
      </p:sp>
      <p:sp>
        <p:nvSpPr>
          <p:cNvPr id="32" name="TextBox 31">
            <a:extLst xmlns:a="http://schemas.openxmlformats.org/drawingml/2006/main">
              <a:ext uri="{FF2B5EF4-FFF2-40B4-BE49-F238E27FC236}">
                <a16:creationId xmlns:a16="http://schemas.microsoft.com/office/drawing/2014/main" id="{B0AA75AF-76E2-417F-A46C-0973DD7D953A}"/>
              </a:ext>
            </a:extLst>
          </p:cNvPr>
          <p:cNvSpPr>
            <a:spLocks xmlns:a="http://schemas.openxmlformats.org/drawingml/2006/main" noGrp="1"/>
          </p:cNvSpPr>
          <p:nvPr/>
        </p:nvSpPr>
        <p:spPr>
          <a:xfrm xmlns:a="http://schemas.openxmlformats.org/drawingml/2006/main">
            <a:off x="5669280" y="393192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Hidden sessions stay live</a:t>
            </a:r>
          </a:p>
        </p:txBody>
      </p:sp>
      <p:sp>
        <p:nvSpPr>
          <p:cNvPr id="33" name="TextBox 32">
            <a:extLst xmlns:a="http://schemas.openxmlformats.org/drawingml/2006/main">
              <a:ext uri="{FF2B5EF4-FFF2-40B4-BE49-F238E27FC236}">
                <a16:creationId xmlns:a16="http://schemas.microsoft.com/office/drawing/2014/main" id="{CFF01733-A645-4573-B2F3-65544CA50E51}"/>
              </a:ext>
            </a:extLst>
          </p:cNvPr>
          <p:cNvSpPr>
            <a:spLocks xmlns:a="http://schemas.openxmlformats.org/drawingml/2006/main" noGrp="1"/>
          </p:cNvSpPr>
          <p:nvPr/>
        </p:nvSpPr>
        <p:spPr>
          <a:xfrm xmlns:a="http://schemas.openxmlformats.org/drawingml/2006/main">
            <a:off x="8412480" y="393192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F11 finds any panel</a:t>
            </a:r>
          </a:p>
        </p:txBody>
      </p:sp>
      <p:sp>
        <p:nvSpPr>
          <p:cNvPr id="34" name="Rounded Rectangle 33">
            <a:extLst xmlns:a="http://schemas.openxmlformats.org/drawingml/2006/main">
              <a:ext uri="{FF2B5EF4-FFF2-40B4-BE49-F238E27FC236}">
                <a16:creationId xmlns:a16="http://schemas.microsoft.com/office/drawing/2014/main" id="{7C0755C1-A419-4AC4-83DE-8BAAFD6C7D85}"/>
              </a:ext>
            </a:extLst>
          </p:cNvPr>
          <p:cNvSpPr>
            <a:spLocks xmlns:a="http://schemas.openxmlformats.org/drawingml/2006/main" noGrp="1"/>
          </p:cNvSpPr>
          <p:nvPr/>
        </p:nvSpPr>
        <p:spPr>
          <a:xfrm xmlns:a="http://schemas.openxmlformats.org/drawingml/2006/main">
            <a:off x="731520" y="4315968"/>
            <a:ext cx="10424160" cy="384048"/>
          </a:xfrm>
          <a:prstGeom xmlns:a="http://schemas.openxmlformats.org/drawingml/2006/main" prst="roundRect">
            <a:avLst/>
          </a:prstGeom>
          <a:solidFill xmlns:a="http://schemas.openxmlformats.org/drawingml/2006/main">
            <a:srgbClr val="040A0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TextBox 34">
            <a:extLst xmlns:a="http://schemas.openxmlformats.org/drawingml/2006/main">
              <a:ext uri="{FF2B5EF4-FFF2-40B4-BE49-F238E27FC236}">
                <a16:creationId xmlns:a16="http://schemas.microsoft.com/office/drawing/2014/main" id="{9575695E-FF32-4CB4-A3A3-C308CA7ABE0B}"/>
              </a:ext>
            </a:extLst>
          </p:cNvPr>
          <p:cNvSpPr>
            <a:spLocks xmlns:a="http://schemas.openxmlformats.org/drawingml/2006/main" noGrp="1"/>
          </p:cNvSpPr>
          <p:nvPr/>
        </p:nvSpPr>
        <p:spPr>
          <a:xfrm xmlns:a="http://schemas.openxmlformats.org/drawingml/2006/main">
            <a:off x="731520" y="4315968"/>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D0E8D0"/>
                </a:solidFill>
                <a:latin typeface="Consolas"/>
                <a:ea typeface="Consolas"/>
                <a:cs typeface="Consolas"/>
              </a:defRPr>
            </a:pPr>
            <a:r>
              <a:t>Stop</a:t>
            </a:r>
          </a:p>
        </p:txBody>
      </p:sp>
      <p:sp>
        <p:nvSpPr>
          <p:cNvPr id="36" name="TextBox 35">
            <a:extLst xmlns:a="http://schemas.openxmlformats.org/drawingml/2006/main">
              <a:ext uri="{FF2B5EF4-FFF2-40B4-BE49-F238E27FC236}">
                <a16:creationId xmlns:a16="http://schemas.microsoft.com/office/drawing/2014/main" id="{5B30DE0C-1758-4BF0-96C5-7C10C637A6E9}"/>
              </a:ext>
            </a:extLst>
          </p:cNvPr>
          <p:cNvSpPr>
            <a:spLocks xmlns:a="http://schemas.openxmlformats.org/drawingml/2006/main" noGrp="1"/>
          </p:cNvSpPr>
          <p:nvPr/>
        </p:nvSpPr>
        <p:spPr>
          <a:xfrm xmlns:a="http://schemas.openxmlformats.org/drawingml/2006/main">
            <a:off x="2743200" y="4315968"/>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00FF41"/>
                </a:solidFill>
                <a:latin typeface="Consolas"/>
                <a:ea typeface="Consolas"/>
                <a:cs typeface="Consolas"/>
              </a:defRPr>
            </a:pPr>
            <a:r>
              <a:t>Ctrl+K / F10</a:t>
            </a:r>
          </a:p>
        </p:txBody>
      </p:sp>
      <p:sp>
        <p:nvSpPr>
          <p:cNvPr id="37" name="TextBox 36">
            <a:extLst xmlns:a="http://schemas.openxmlformats.org/drawingml/2006/main">
              <a:ext uri="{FF2B5EF4-FFF2-40B4-BE49-F238E27FC236}">
                <a16:creationId xmlns:a16="http://schemas.microsoft.com/office/drawing/2014/main" id="{A6227FCE-41B9-4200-AD15-036AC00F6615}"/>
              </a:ext>
            </a:extLst>
          </p:cNvPr>
          <p:cNvSpPr>
            <a:spLocks xmlns:a="http://schemas.openxmlformats.org/drawingml/2006/main" noGrp="1"/>
          </p:cNvSpPr>
          <p:nvPr/>
        </p:nvSpPr>
        <p:spPr>
          <a:xfrm xmlns:a="http://schemas.openxmlformats.org/drawingml/2006/main">
            <a:off x="5669280" y="431596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Process-group cleanup</a:t>
            </a:r>
          </a:p>
        </p:txBody>
      </p:sp>
      <p:sp>
        <p:nvSpPr>
          <p:cNvPr id="38" name="TextBox 37">
            <a:extLst xmlns:a="http://schemas.openxmlformats.org/drawingml/2006/main">
              <a:ext uri="{FF2B5EF4-FFF2-40B4-BE49-F238E27FC236}">
                <a16:creationId xmlns:a16="http://schemas.microsoft.com/office/drawing/2014/main" id="{2940CE06-1383-490E-B4B1-4F699A88D7E8}"/>
              </a:ext>
            </a:extLst>
          </p:cNvPr>
          <p:cNvSpPr>
            <a:spLocks xmlns:a="http://schemas.openxmlformats.org/drawingml/2006/main" noGrp="1"/>
          </p:cNvSpPr>
          <p:nvPr/>
        </p:nvSpPr>
        <p:spPr>
          <a:xfrm xmlns:a="http://schemas.openxmlformats.org/drawingml/2006/main">
            <a:off x="8412480" y="431596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No orphan agents</a:t>
            </a:r>
          </a:p>
        </p:txBody>
      </p:sp>
      <p:sp>
        <p:nvSpPr>
          <p:cNvPr id="39" name="Rounded Rectangle 38">
            <a:extLst xmlns:a="http://schemas.openxmlformats.org/drawingml/2006/main">
              <a:ext uri="{FF2B5EF4-FFF2-40B4-BE49-F238E27FC236}">
                <a16:creationId xmlns:a16="http://schemas.microsoft.com/office/drawing/2014/main" id="{C666A444-700D-4B34-88D0-A8A17A5D7475}"/>
              </a:ext>
            </a:extLst>
          </p:cNvPr>
          <p:cNvSpPr>
            <a:spLocks xmlns:a="http://schemas.openxmlformats.org/drawingml/2006/main" noGrp="1"/>
          </p:cNvSpPr>
          <p:nvPr/>
        </p:nvSpPr>
        <p:spPr>
          <a:xfrm xmlns:a="http://schemas.openxmlformats.org/drawingml/2006/main">
            <a:off x="731520" y="4700016"/>
            <a:ext cx="10424160" cy="384048"/>
          </a:xfrm>
          <a:prstGeom xmlns:a="http://schemas.openxmlformats.org/drawingml/2006/main" prst="roundRect">
            <a:avLst/>
          </a:prstGeom>
          <a:solidFill xmlns:a="http://schemas.openxmlformats.org/drawingml/2006/main">
            <a:srgbClr val="0A180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3B2E197F-69D8-4AFD-A43A-D846104DF4E6}"/>
              </a:ext>
            </a:extLst>
          </p:cNvPr>
          <p:cNvSpPr>
            <a:spLocks xmlns:a="http://schemas.openxmlformats.org/drawingml/2006/main" noGrp="1"/>
          </p:cNvSpPr>
          <p:nvPr/>
        </p:nvSpPr>
        <p:spPr>
          <a:xfrm xmlns:a="http://schemas.openxmlformats.org/drawingml/2006/main">
            <a:off x="731520" y="4700016"/>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D0E8D0"/>
                </a:solidFill>
                <a:latin typeface="Consolas"/>
                <a:ea typeface="Consolas"/>
                <a:cs typeface="Consolas"/>
              </a:defRPr>
            </a:pPr>
            <a:r>
              <a:t>Verify</a:t>
            </a:r>
          </a:p>
        </p:txBody>
      </p:sp>
      <p:sp>
        <p:nvSpPr>
          <p:cNvPr id="41" name="TextBox 40">
            <a:extLst xmlns:a="http://schemas.openxmlformats.org/drawingml/2006/main">
              <a:ext uri="{FF2B5EF4-FFF2-40B4-BE49-F238E27FC236}">
                <a16:creationId xmlns:a16="http://schemas.microsoft.com/office/drawing/2014/main" id="{9F60D09D-A1D5-4280-8B58-1731F9276CCD}"/>
              </a:ext>
            </a:extLst>
          </p:cNvPr>
          <p:cNvSpPr>
            <a:spLocks xmlns:a="http://schemas.openxmlformats.org/drawingml/2006/main" noGrp="1"/>
          </p:cNvSpPr>
          <p:nvPr/>
        </p:nvSpPr>
        <p:spPr>
          <a:xfrm xmlns:a="http://schemas.openxmlformats.org/drawingml/2006/main">
            <a:off x="2743200" y="4700016"/>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00FF41"/>
                </a:solidFill>
                <a:latin typeface="Consolas"/>
                <a:ea typeface="Consolas"/>
                <a:cs typeface="Consolas"/>
              </a:defRPr>
            </a:pPr>
            <a:r>
              <a:t>npm run verify</a:t>
            </a:r>
          </a:p>
        </p:txBody>
      </p:sp>
      <p:sp>
        <p:nvSpPr>
          <p:cNvPr id="42" name="TextBox 41">
            <a:extLst xmlns:a="http://schemas.openxmlformats.org/drawingml/2006/main">
              <a:ext uri="{FF2B5EF4-FFF2-40B4-BE49-F238E27FC236}">
                <a16:creationId xmlns:a16="http://schemas.microsoft.com/office/drawing/2014/main" id="{B4091791-E783-49AA-AFD7-D8FAE9B2837D}"/>
              </a:ext>
            </a:extLst>
          </p:cNvPr>
          <p:cNvSpPr>
            <a:spLocks xmlns:a="http://schemas.openxmlformats.org/drawingml/2006/main" noGrp="1"/>
          </p:cNvSpPr>
          <p:nvPr/>
        </p:nvSpPr>
        <p:spPr>
          <a:xfrm xmlns:a="http://schemas.openxmlformats.org/drawingml/2006/main">
            <a:off x="5669280" y="470001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Tests + build + pack</a:t>
            </a:r>
          </a:p>
        </p:txBody>
      </p:sp>
      <p:sp>
        <p:nvSpPr>
          <p:cNvPr id="43" name="TextBox 42">
            <a:extLst xmlns:a="http://schemas.openxmlformats.org/drawingml/2006/main">
              <a:ext uri="{FF2B5EF4-FFF2-40B4-BE49-F238E27FC236}">
                <a16:creationId xmlns:a16="http://schemas.microsoft.com/office/drawing/2014/main" id="{738EF25A-1876-4F2A-9142-44E7290A5234}"/>
              </a:ext>
            </a:extLst>
          </p:cNvPr>
          <p:cNvSpPr>
            <a:spLocks xmlns:a="http://schemas.openxmlformats.org/drawingml/2006/main" noGrp="1"/>
          </p:cNvSpPr>
          <p:nvPr/>
        </p:nvSpPr>
        <p:spPr>
          <a:xfrm xmlns:a="http://schemas.openxmlformats.org/drawingml/2006/main">
            <a:off x="8412480" y="470001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CI catches regressions</a:t>
            </a:r>
          </a:p>
        </p:txBody>
      </p:sp>
      <p:sp>
        <p:nvSpPr>
          <p:cNvPr id="44" name="Rounded Rectangle 43">
            <a:extLst xmlns:a="http://schemas.openxmlformats.org/drawingml/2006/main">
              <a:ext uri="{FF2B5EF4-FFF2-40B4-BE49-F238E27FC236}">
                <a16:creationId xmlns:a16="http://schemas.microsoft.com/office/drawing/2014/main" id="{66A1251D-9BA8-4729-A675-152B81697784}"/>
              </a:ext>
            </a:extLst>
          </p:cNvPr>
          <p:cNvSpPr>
            <a:spLocks xmlns:a="http://schemas.openxmlformats.org/drawingml/2006/main" noGrp="1"/>
          </p:cNvSpPr>
          <p:nvPr/>
        </p:nvSpPr>
        <p:spPr>
          <a:xfrm xmlns:a="http://schemas.openxmlformats.org/drawingml/2006/main">
            <a:off x="731520" y="5084064"/>
            <a:ext cx="10424160" cy="384048"/>
          </a:xfrm>
          <a:prstGeom xmlns:a="http://schemas.openxmlformats.org/drawingml/2006/main" prst="roundRect">
            <a:avLst/>
          </a:prstGeom>
          <a:solidFill xmlns:a="http://schemas.openxmlformats.org/drawingml/2006/main">
            <a:srgbClr val="040A0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TextBox 44">
            <a:extLst xmlns:a="http://schemas.openxmlformats.org/drawingml/2006/main">
              <a:ext uri="{FF2B5EF4-FFF2-40B4-BE49-F238E27FC236}">
                <a16:creationId xmlns:a16="http://schemas.microsoft.com/office/drawing/2014/main" id="{A1C53D5F-0116-476D-BB8A-D26E4A421DA8}"/>
              </a:ext>
            </a:extLst>
          </p:cNvPr>
          <p:cNvSpPr>
            <a:spLocks xmlns:a="http://schemas.openxmlformats.org/drawingml/2006/main" noGrp="1"/>
          </p:cNvSpPr>
          <p:nvPr/>
        </p:nvSpPr>
        <p:spPr>
          <a:xfrm xmlns:a="http://schemas.openxmlformats.org/drawingml/2006/main">
            <a:off x="731520" y="5084064"/>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D0E8D0"/>
                </a:solidFill>
                <a:latin typeface="Consolas"/>
                <a:ea typeface="Consolas"/>
                <a:cs typeface="Consolas"/>
              </a:defRPr>
            </a:pPr>
            <a:r>
              <a:t>Hardware</a:t>
            </a:r>
          </a:p>
        </p:txBody>
      </p:sp>
      <p:sp>
        <p:nvSpPr>
          <p:cNvPr id="46" name="TextBox 45">
            <a:extLst xmlns:a="http://schemas.openxmlformats.org/drawingml/2006/main">
              <a:ext uri="{FF2B5EF4-FFF2-40B4-BE49-F238E27FC236}">
                <a16:creationId xmlns:a16="http://schemas.microsoft.com/office/drawing/2014/main" id="{B23E7AD3-9B25-44D3-AA78-59DFD2D7E298}"/>
              </a:ext>
            </a:extLst>
          </p:cNvPr>
          <p:cNvSpPr>
            <a:spLocks xmlns:a="http://schemas.openxmlformats.org/drawingml/2006/main" noGrp="1"/>
          </p:cNvSpPr>
          <p:nvPr/>
        </p:nvSpPr>
        <p:spPr>
          <a:xfrm xmlns:a="http://schemas.openxmlformats.org/drawingml/2006/main">
            <a:off x="2743200" y="5084064"/>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00FF41"/>
                </a:solidFill>
                <a:latin typeface="Consolas"/>
                <a:ea typeface="Consolas"/>
                <a:cs typeface="Consolas"/>
              </a:defRPr>
            </a:pPr>
            <a:r>
              <a:t>--doctor --codex-micro</a:t>
            </a:r>
          </a:p>
        </p:txBody>
      </p:sp>
      <p:sp>
        <p:nvSpPr>
          <p:cNvPr id="47" name="TextBox 46">
            <a:extLst xmlns:a="http://schemas.openxmlformats.org/drawingml/2006/main">
              <a:ext uri="{FF2B5EF4-FFF2-40B4-BE49-F238E27FC236}">
                <a16:creationId xmlns:a16="http://schemas.microsoft.com/office/drawing/2014/main" id="{B1A01FAE-B8F5-463E-8B38-4B1D751781DC}"/>
              </a:ext>
            </a:extLst>
          </p:cNvPr>
          <p:cNvSpPr>
            <a:spLocks xmlns:a="http://schemas.openxmlformats.org/drawingml/2006/main" noGrp="1"/>
          </p:cNvSpPr>
          <p:nvPr/>
        </p:nvSpPr>
        <p:spPr>
          <a:xfrm xmlns:a="http://schemas.openxmlformats.org/drawingml/2006/main">
            <a:off x="5669280" y="508406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Sole-reader guard</a:t>
            </a:r>
          </a:p>
        </p:txBody>
      </p:sp>
      <p:sp>
        <p:nvSpPr>
          <p:cNvPr id="48" name="TextBox 47">
            <a:extLst xmlns:a="http://schemas.openxmlformats.org/drawingml/2006/main">
              <a:ext uri="{FF2B5EF4-FFF2-40B4-BE49-F238E27FC236}">
                <a16:creationId xmlns:a16="http://schemas.microsoft.com/office/drawing/2014/main" id="{8BD27AF2-35E6-4DDE-AFCD-AC211BEEDDF1}"/>
              </a:ext>
            </a:extLst>
          </p:cNvPr>
          <p:cNvSpPr>
            <a:spLocks xmlns:a="http://schemas.openxmlformats.org/drawingml/2006/main" noGrp="1"/>
          </p:cNvSpPr>
          <p:nvPr/>
        </p:nvSpPr>
        <p:spPr>
          <a:xfrm xmlns:a="http://schemas.openxmlformats.org/drawingml/2006/main">
            <a:off x="8412480" y="508406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Wait for GUARD; else keyboard</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10/13</a:t>
            </a:r>
          </a:p>
        </p:txBody>
      </p:sp>
    </p:spTree>
    <p:extLst>
      <p:ext uri="{BB962C8B-B14F-4D97-AF65-F5344CB8AC3E}">
        <p14:creationId xmlns:p14="http://schemas.microsoft.com/office/powerpoint/2010/main" val="107637514"/>
      </p:ext>
    </p:extLst>
  </p:cSld>
</p:sld>
</file>

<file path=ppt/slides/slide11.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23B8CD9-5FF8-4412-8E51-DC48AD3190C1}"/>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ADAPTER CATALOG</a:t>
            </a:r>
          </a:p>
        </p:txBody>
      </p:sp>
      <p:sp>
        <p:nvSpPr>
          <p:cNvPr id="3" name="TextBox 2">
            <a:extLst xmlns:a="http://schemas.openxmlformats.org/drawingml/2006/main">
              <a:ext uri="{FF2B5EF4-FFF2-40B4-BE49-F238E27FC236}">
                <a16:creationId xmlns:a16="http://schemas.microsoft.com/office/drawing/2014/main" id="{D262FD8B-23D0-4E68-A81F-0F8257D285E1}"/>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Five supported adapters. Five catalogued next.</a:t>
            </a:r>
          </a:p>
        </p:txBody>
      </p:sp>
      <p:sp>
        <p:nvSpPr>
          <p:cNvPr id="4" name="Rounded Rectangle 3">
            <a:extLst xmlns:a="http://schemas.openxmlformats.org/drawingml/2006/main">
              <a:ext uri="{FF2B5EF4-FFF2-40B4-BE49-F238E27FC236}">
                <a16:creationId xmlns:a16="http://schemas.microsoft.com/office/drawing/2014/main" id="{E59B4396-A61F-4163-BF6A-ACFD2F7C13CC}"/>
              </a:ext>
            </a:extLst>
          </p:cNvPr>
          <p:cNvSpPr>
            <a:spLocks xmlns:a="http://schemas.openxmlformats.org/drawingml/2006/main" noGrp="1"/>
          </p:cNvSpPr>
          <p:nvPr/>
        </p:nvSpPr>
        <p:spPr>
          <a:xfrm xmlns:a="http://schemas.openxmlformats.org/drawingml/2006/main">
            <a:off x="731520"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BE269C9-2BB1-493E-BB4E-46AA67E8D419}"/>
              </a:ext>
            </a:extLst>
          </p:cNvPr>
          <p:cNvSpPr>
            <a:spLocks xmlns:a="http://schemas.openxmlformats.org/drawingml/2006/main" noGrp="1"/>
          </p:cNvSpPr>
          <p:nvPr/>
        </p:nvSpPr>
        <p:spPr>
          <a:xfrm xmlns:a="http://schemas.openxmlformats.org/drawingml/2006/main">
            <a:off x="91440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Claude Code</a:t>
            </a:r>
          </a:p>
        </p:txBody>
      </p:sp>
      <p:sp>
        <p:nvSpPr>
          <p:cNvPr id="6" name="TextBox 5">
            <a:extLst xmlns:a="http://schemas.openxmlformats.org/drawingml/2006/main">
              <a:ext uri="{FF2B5EF4-FFF2-40B4-BE49-F238E27FC236}">
                <a16:creationId xmlns:a16="http://schemas.microsoft.com/office/drawing/2014/main" id="{9A231E6A-7638-4162-83EF-908D5171E5F3}"/>
              </a:ext>
            </a:extLst>
          </p:cNvPr>
          <p:cNvSpPr>
            <a:spLocks xmlns:a="http://schemas.openxmlformats.org/drawingml/2006/main" noGrp="1"/>
          </p:cNvSpPr>
          <p:nvPr/>
        </p:nvSpPr>
        <p:spPr>
          <a:xfrm xmlns:a="http://schemas.openxmlformats.org/drawingml/2006/main">
            <a:off x="91440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7" name="TextBox 6">
            <a:extLst xmlns:a="http://schemas.openxmlformats.org/drawingml/2006/main">
              <a:ext uri="{FF2B5EF4-FFF2-40B4-BE49-F238E27FC236}">
                <a16:creationId xmlns:a16="http://schemas.microsoft.com/office/drawing/2014/main" id="{0C16BF9A-5419-4DBE-9A57-8A48AFD6F21B}"/>
              </a:ext>
            </a:extLst>
          </p:cNvPr>
          <p:cNvSpPr>
            <a:spLocks xmlns:a="http://schemas.openxmlformats.org/drawingml/2006/main" noGrp="1"/>
          </p:cNvSpPr>
          <p:nvPr/>
        </p:nvSpPr>
        <p:spPr>
          <a:xfrm xmlns:a="http://schemas.openxmlformats.org/drawingml/2006/main">
            <a:off x="91440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claude</a:t>
            </a:r>
          </a:p>
        </p:txBody>
      </p:sp>
      <p:sp>
        <p:nvSpPr>
          <p:cNvPr id="8" name="Rounded Rectangle 7">
            <a:extLst xmlns:a="http://schemas.openxmlformats.org/drawingml/2006/main">
              <a:ext uri="{FF2B5EF4-FFF2-40B4-BE49-F238E27FC236}">
                <a16:creationId xmlns:a16="http://schemas.microsoft.com/office/drawing/2014/main" id="{BF4FF13C-D1AD-466A-B78B-46FD16BC9DF1}"/>
              </a:ext>
            </a:extLst>
          </p:cNvPr>
          <p:cNvSpPr>
            <a:spLocks xmlns:a="http://schemas.openxmlformats.org/drawingml/2006/main" noGrp="1"/>
          </p:cNvSpPr>
          <p:nvPr/>
        </p:nvSpPr>
        <p:spPr>
          <a:xfrm xmlns:a="http://schemas.openxmlformats.org/drawingml/2006/main">
            <a:off x="2926080"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7769777-F2FD-4357-A802-A42DB10C0C5D}"/>
              </a:ext>
            </a:extLst>
          </p:cNvPr>
          <p:cNvSpPr>
            <a:spLocks xmlns:a="http://schemas.openxmlformats.org/drawingml/2006/main" noGrp="1"/>
          </p:cNvSpPr>
          <p:nvPr/>
        </p:nvSpPr>
        <p:spPr>
          <a:xfrm xmlns:a="http://schemas.openxmlformats.org/drawingml/2006/main">
            <a:off x="310896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Codex CLI</a:t>
            </a:r>
          </a:p>
        </p:txBody>
      </p:sp>
      <p:sp>
        <p:nvSpPr>
          <p:cNvPr id="10" name="TextBox 9">
            <a:extLst xmlns:a="http://schemas.openxmlformats.org/drawingml/2006/main">
              <a:ext uri="{FF2B5EF4-FFF2-40B4-BE49-F238E27FC236}">
                <a16:creationId xmlns:a16="http://schemas.microsoft.com/office/drawing/2014/main" id="{C46387CC-8633-482C-BCFD-9158E59C8B3E}"/>
              </a:ext>
            </a:extLst>
          </p:cNvPr>
          <p:cNvSpPr>
            <a:spLocks xmlns:a="http://schemas.openxmlformats.org/drawingml/2006/main" noGrp="1"/>
          </p:cNvSpPr>
          <p:nvPr/>
        </p:nvSpPr>
        <p:spPr>
          <a:xfrm xmlns:a="http://schemas.openxmlformats.org/drawingml/2006/main">
            <a:off x="310896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11" name="TextBox 10">
            <a:extLst xmlns:a="http://schemas.openxmlformats.org/drawingml/2006/main">
              <a:ext uri="{FF2B5EF4-FFF2-40B4-BE49-F238E27FC236}">
                <a16:creationId xmlns:a16="http://schemas.microsoft.com/office/drawing/2014/main" id="{D2EC5DB1-1A67-4221-9901-9E5D896B8217}"/>
              </a:ext>
            </a:extLst>
          </p:cNvPr>
          <p:cNvSpPr>
            <a:spLocks xmlns:a="http://schemas.openxmlformats.org/drawingml/2006/main" noGrp="1"/>
          </p:cNvSpPr>
          <p:nvPr/>
        </p:nvSpPr>
        <p:spPr>
          <a:xfrm xmlns:a="http://schemas.openxmlformats.org/drawingml/2006/main">
            <a:off x="310896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codex</a:t>
            </a:r>
          </a:p>
        </p:txBody>
      </p:sp>
      <p:sp>
        <p:nvSpPr>
          <p:cNvPr id="12" name="Rounded Rectangle 11">
            <a:extLst xmlns:a="http://schemas.openxmlformats.org/drawingml/2006/main">
              <a:ext uri="{FF2B5EF4-FFF2-40B4-BE49-F238E27FC236}">
                <a16:creationId xmlns:a16="http://schemas.microsoft.com/office/drawing/2014/main" id="{7528FC48-C6E4-4E78-9A4D-2E909A6E5BE8}"/>
              </a:ext>
            </a:extLst>
          </p:cNvPr>
          <p:cNvSpPr>
            <a:spLocks xmlns:a="http://schemas.openxmlformats.org/drawingml/2006/main" noGrp="1"/>
          </p:cNvSpPr>
          <p:nvPr/>
        </p:nvSpPr>
        <p:spPr>
          <a:xfrm xmlns:a="http://schemas.openxmlformats.org/drawingml/2006/main">
            <a:off x="5120640"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A878364-857D-4204-A6A4-E6F7576A8C53}"/>
              </a:ext>
            </a:extLst>
          </p:cNvPr>
          <p:cNvSpPr>
            <a:spLocks xmlns:a="http://schemas.openxmlformats.org/drawingml/2006/main" noGrp="1"/>
          </p:cNvSpPr>
          <p:nvPr/>
        </p:nvSpPr>
        <p:spPr>
          <a:xfrm xmlns:a="http://schemas.openxmlformats.org/drawingml/2006/main">
            <a:off x="530352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Gemini CLI</a:t>
            </a:r>
          </a:p>
        </p:txBody>
      </p:sp>
      <p:sp>
        <p:nvSpPr>
          <p:cNvPr id="14" name="TextBox 13">
            <a:extLst xmlns:a="http://schemas.openxmlformats.org/drawingml/2006/main">
              <a:ext uri="{FF2B5EF4-FFF2-40B4-BE49-F238E27FC236}">
                <a16:creationId xmlns:a16="http://schemas.microsoft.com/office/drawing/2014/main" id="{E874DF4A-3047-4AC6-B7AB-9CF8248CD26B}"/>
              </a:ext>
            </a:extLst>
          </p:cNvPr>
          <p:cNvSpPr>
            <a:spLocks xmlns:a="http://schemas.openxmlformats.org/drawingml/2006/main" noGrp="1"/>
          </p:cNvSpPr>
          <p:nvPr/>
        </p:nvSpPr>
        <p:spPr>
          <a:xfrm xmlns:a="http://schemas.openxmlformats.org/drawingml/2006/main">
            <a:off x="530352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15" name="TextBox 14">
            <a:extLst xmlns:a="http://schemas.openxmlformats.org/drawingml/2006/main">
              <a:ext uri="{FF2B5EF4-FFF2-40B4-BE49-F238E27FC236}">
                <a16:creationId xmlns:a16="http://schemas.microsoft.com/office/drawing/2014/main" id="{DC39C3FB-2615-4E17-B672-87A094E030E1}"/>
              </a:ext>
            </a:extLst>
          </p:cNvPr>
          <p:cNvSpPr>
            <a:spLocks xmlns:a="http://schemas.openxmlformats.org/drawingml/2006/main" noGrp="1"/>
          </p:cNvSpPr>
          <p:nvPr/>
        </p:nvSpPr>
        <p:spPr>
          <a:xfrm xmlns:a="http://schemas.openxmlformats.org/drawingml/2006/main">
            <a:off x="530352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gemini</a:t>
            </a:r>
          </a:p>
        </p:txBody>
      </p:sp>
      <p:sp>
        <p:nvSpPr>
          <p:cNvPr id="16" name="Rounded Rectangle 15">
            <a:extLst xmlns:a="http://schemas.openxmlformats.org/drawingml/2006/main">
              <a:ext uri="{FF2B5EF4-FFF2-40B4-BE49-F238E27FC236}">
                <a16:creationId xmlns:a16="http://schemas.microsoft.com/office/drawing/2014/main" id="{41973689-739A-45E8-B32C-5F89AB26310E}"/>
              </a:ext>
            </a:extLst>
          </p:cNvPr>
          <p:cNvSpPr>
            <a:spLocks xmlns:a="http://schemas.openxmlformats.org/drawingml/2006/main" noGrp="1"/>
          </p:cNvSpPr>
          <p:nvPr/>
        </p:nvSpPr>
        <p:spPr>
          <a:xfrm xmlns:a="http://schemas.openxmlformats.org/drawingml/2006/main">
            <a:off x="7315199"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BCD860AB-AE06-4204-855C-945911998B3B}"/>
              </a:ext>
            </a:extLst>
          </p:cNvPr>
          <p:cNvSpPr>
            <a:spLocks xmlns:a="http://schemas.openxmlformats.org/drawingml/2006/main" noGrp="1"/>
          </p:cNvSpPr>
          <p:nvPr/>
        </p:nvSpPr>
        <p:spPr>
          <a:xfrm xmlns:a="http://schemas.openxmlformats.org/drawingml/2006/main">
            <a:off x="7498079"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OpenCode</a:t>
            </a:r>
          </a:p>
        </p:txBody>
      </p:sp>
      <p:sp>
        <p:nvSpPr>
          <p:cNvPr id="18" name="TextBox 17">
            <a:extLst xmlns:a="http://schemas.openxmlformats.org/drawingml/2006/main">
              <a:ext uri="{FF2B5EF4-FFF2-40B4-BE49-F238E27FC236}">
                <a16:creationId xmlns:a16="http://schemas.microsoft.com/office/drawing/2014/main" id="{74BF5100-2304-40E6-B9BF-A672DF9AB91A}"/>
              </a:ext>
            </a:extLst>
          </p:cNvPr>
          <p:cNvSpPr>
            <a:spLocks xmlns:a="http://schemas.openxmlformats.org/drawingml/2006/main" noGrp="1"/>
          </p:cNvSpPr>
          <p:nvPr/>
        </p:nvSpPr>
        <p:spPr>
          <a:xfrm xmlns:a="http://schemas.openxmlformats.org/drawingml/2006/main">
            <a:off x="7498079"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19" name="TextBox 18">
            <a:extLst xmlns:a="http://schemas.openxmlformats.org/drawingml/2006/main">
              <a:ext uri="{FF2B5EF4-FFF2-40B4-BE49-F238E27FC236}">
                <a16:creationId xmlns:a16="http://schemas.microsoft.com/office/drawing/2014/main" id="{1066D6F3-CE25-427F-9ECB-94E7A4C2C218}"/>
              </a:ext>
            </a:extLst>
          </p:cNvPr>
          <p:cNvSpPr>
            <a:spLocks xmlns:a="http://schemas.openxmlformats.org/drawingml/2006/main" noGrp="1"/>
          </p:cNvSpPr>
          <p:nvPr/>
        </p:nvSpPr>
        <p:spPr>
          <a:xfrm xmlns:a="http://schemas.openxmlformats.org/drawingml/2006/main">
            <a:off x="7498079"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provider/model</a:t>
            </a:r>
          </a:p>
        </p:txBody>
      </p:sp>
      <p:sp>
        <p:nvSpPr>
          <p:cNvPr id="20" name="Rounded Rectangle 19">
            <a:extLst xmlns:a="http://schemas.openxmlformats.org/drawingml/2006/main">
              <a:ext uri="{FF2B5EF4-FFF2-40B4-BE49-F238E27FC236}">
                <a16:creationId xmlns:a16="http://schemas.microsoft.com/office/drawing/2014/main" id="{5088EC6C-45E3-431E-BD82-4FCAC263AF57}"/>
              </a:ext>
            </a:extLst>
          </p:cNvPr>
          <p:cNvSpPr>
            <a:spLocks xmlns:a="http://schemas.openxmlformats.org/drawingml/2006/main" noGrp="1"/>
          </p:cNvSpPr>
          <p:nvPr/>
        </p:nvSpPr>
        <p:spPr>
          <a:xfrm xmlns:a="http://schemas.openxmlformats.org/drawingml/2006/main">
            <a:off x="9509760"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5782908E-85BD-4785-9AB7-2C5F10E8855C}"/>
              </a:ext>
            </a:extLst>
          </p:cNvPr>
          <p:cNvSpPr>
            <a:spLocks xmlns:a="http://schemas.openxmlformats.org/drawingml/2006/main" noGrp="1"/>
          </p:cNvSpPr>
          <p:nvPr/>
        </p:nvSpPr>
        <p:spPr>
          <a:xfrm xmlns:a="http://schemas.openxmlformats.org/drawingml/2006/main">
            <a:off x="969264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Shell</a:t>
            </a:r>
          </a:p>
        </p:txBody>
      </p:sp>
      <p:sp>
        <p:nvSpPr>
          <p:cNvPr id="22" name="TextBox 21">
            <a:extLst xmlns:a="http://schemas.openxmlformats.org/drawingml/2006/main">
              <a:ext uri="{FF2B5EF4-FFF2-40B4-BE49-F238E27FC236}">
                <a16:creationId xmlns:a16="http://schemas.microsoft.com/office/drawing/2014/main" id="{026D9A8B-788D-438A-8D79-5494E55B9F67}"/>
              </a:ext>
            </a:extLst>
          </p:cNvPr>
          <p:cNvSpPr>
            <a:spLocks xmlns:a="http://schemas.openxmlformats.org/drawingml/2006/main" noGrp="1"/>
          </p:cNvSpPr>
          <p:nvPr/>
        </p:nvSpPr>
        <p:spPr>
          <a:xfrm xmlns:a="http://schemas.openxmlformats.org/drawingml/2006/main">
            <a:off x="969264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23" name="TextBox 22">
            <a:extLst xmlns:a="http://schemas.openxmlformats.org/drawingml/2006/main">
              <a:ext uri="{FF2B5EF4-FFF2-40B4-BE49-F238E27FC236}">
                <a16:creationId xmlns:a16="http://schemas.microsoft.com/office/drawing/2014/main" id="{43585801-AC8B-4156-B8C9-10A6CAF2659E}"/>
              </a:ext>
            </a:extLst>
          </p:cNvPr>
          <p:cNvSpPr>
            <a:spLocks xmlns:a="http://schemas.openxmlformats.org/drawingml/2006/main" noGrp="1"/>
          </p:cNvSpPr>
          <p:nvPr/>
        </p:nvSpPr>
        <p:spPr>
          <a:xfrm xmlns:a="http://schemas.openxmlformats.org/drawingml/2006/main">
            <a:off x="969264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bash</a:t>
            </a:r>
          </a:p>
        </p:txBody>
      </p:sp>
      <p:sp>
        <p:nvSpPr>
          <p:cNvPr id="24" name="Rounded Rectangle 23">
            <a:extLst xmlns:a="http://schemas.openxmlformats.org/drawingml/2006/main">
              <a:ext uri="{FF2B5EF4-FFF2-40B4-BE49-F238E27FC236}">
                <a16:creationId xmlns:a16="http://schemas.microsoft.com/office/drawing/2014/main" id="{BE63F1A7-EF4F-45F7-8257-A4E3A51706BD}"/>
              </a:ext>
            </a:extLst>
          </p:cNvPr>
          <p:cNvSpPr>
            <a:spLocks xmlns:a="http://schemas.openxmlformats.org/drawingml/2006/main" noGrp="1"/>
          </p:cNvSpPr>
          <p:nvPr/>
        </p:nvSpPr>
        <p:spPr>
          <a:xfrm xmlns:a="http://schemas.openxmlformats.org/drawingml/2006/main">
            <a:off x="731520"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F77B6A7B-578B-43BD-A481-C6B16B29D2F8}"/>
              </a:ext>
            </a:extLst>
          </p:cNvPr>
          <p:cNvSpPr>
            <a:spLocks xmlns:a="http://schemas.openxmlformats.org/drawingml/2006/main" noGrp="1"/>
          </p:cNvSpPr>
          <p:nvPr/>
        </p:nvSpPr>
        <p:spPr>
          <a:xfrm xmlns:a="http://schemas.openxmlformats.org/drawingml/2006/main">
            <a:off x="91440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Aider</a:t>
            </a:r>
          </a:p>
        </p:txBody>
      </p:sp>
      <p:sp>
        <p:nvSpPr>
          <p:cNvPr id="26" name="TextBox 25">
            <a:extLst xmlns:a="http://schemas.openxmlformats.org/drawingml/2006/main">
              <a:ext uri="{FF2B5EF4-FFF2-40B4-BE49-F238E27FC236}">
                <a16:creationId xmlns:a16="http://schemas.microsoft.com/office/drawing/2014/main" id="{7C603D27-3FA4-49F8-B4E0-8B30A99B4D91}"/>
              </a:ext>
            </a:extLst>
          </p:cNvPr>
          <p:cNvSpPr>
            <a:spLocks xmlns:a="http://schemas.openxmlformats.org/drawingml/2006/main" noGrp="1"/>
          </p:cNvSpPr>
          <p:nvPr/>
        </p:nvSpPr>
        <p:spPr>
          <a:xfrm xmlns:a="http://schemas.openxmlformats.org/drawingml/2006/main">
            <a:off x="91440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27" name="TextBox 26">
            <a:extLst xmlns:a="http://schemas.openxmlformats.org/drawingml/2006/main">
              <a:ext uri="{FF2B5EF4-FFF2-40B4-BE49-F238E27FC236}">
                <a16:creationId xmlns:a16="http://schemas.microsoft.com/office/drawing/2014/main" id="{66B59384-B6ED-4A36-ADA9-D8544110DAEE}"/>
              </a:ext>
            </a:extLst>
          </p:cNvPr>
          <p:cNvSpPr>
            <a:spLocks xmlns:a="http://schemas.openxmlformats.org/drawingml/2006/main" noGrp="1"/>
          </p:cNvSpPr>
          <p:nvPr/>
        </p:nvSpPr>
        <p:spPr>
          <a:xfrm xmlns:a="http://schemas.openxmlformats.org/drawingml/2006/main">
            <a:off x="91440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aider</a:t>
            </a:r>
          </a:p>
        </p:txBody>
      </p:sp>
      <p:sp>
        <p:nvSpPr>
          <p:cNvPr id="28" name="Rounded Rectangle 27">
            <a:extLst xmlns:a="http://schemas.openxmlformats.org/drawingml/2006/main">
              <a:ext uri="{FF2B5EF4-FFF2-40B4-BE49-F238E27FC236}">
                <a16:creationId xmlns:a16="http://schemas.microsoft.com/office/drawing/2014/main" id="{824FDED1-2C3A-46E8-BBBB-FACE58F1D567}"/>
              </a:ext>
            </a:extLst>
          </p:cNvPr>
          <p:cNvSpPr>
            <a:spLocks xmlns:a="http://schemas.openxmlformats.org/drawingml/2006/main" noGrp="1"/>
          </p:cNvSpPr>
          <p:nvPr/>
        </p:nvSpPr>
        <p:spPr>
          <a:xfrm xmlns:a="http://schemas.openxmlformats.org/drawingml/2006/main">
            <a:off x="2926080"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TextBox 28">
            <a:extLst xmlns:a="http://schemas.openxmlformats.org/drawingml/2006/main">
              <a:ext uri="{FF2B5EF4-FFF2-40B4-BE49-F238E27FC236}">
                <a16:creationId xmlns:a16="http://schemas.microsoft.com/office/drawing/2014/main" id="{BE99C4CD-AA0C-494E-859F-91FBE00DADF8}"/>
              </a:ext>
            </a:extLst>
          </p:cNvPr>
          <p:cNvSpPr>
            <a:spLocks xmlns:a="http://schemas.openxmlformats.org/drawingml/2006/main" noGrp="1"/>
          </p:cNvSpPr>
          <p:nvPr/>
        </p:nvSpPr>
        <p:spPr>
          <a:xfrm xmlns:a="http://schemas.openxmlformats.org/drawingml/2006/main">
            <a:off x="310896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Cline</a:t>
            </a:r>
          </a:p>
        </p:txBody>
      </p:sp>
      <p:sp>
        <p:nvSpPr>
          <p:cNvPr id="30" name="TextBox 29">
            <a:extLst xmlns:a="http://schemas.openxmlformats.org/drawingml/2006/main">
              <a:ext uri="{FF2B5EF4-FFF2-40B4-BE49-F238E27FC236}">
                <a16:creationId xmlns:a16="http://schemas.microsoft.com/office/drawing/2014/main" id="{1D76D07E-0794-439E-8627-867C3A55EB44}"/>
              </a:ext>
            </a:extLst>
          </p:cNvPr>
          <p:cNvSpPr>
            <a:spLocks xmlns:a="http://schemas.openxmlformats.org/drawingml/2006/main" noGrp="1"/>
          </p:cNvSpPr>
          <p:nvPr/>
        </p:nvSpPr>
        <p:spPr>
          <a:xfrm xmlns:a="http://schemas.openxmlformats.org/drawingml/2006/main">
            <a:off x="310896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31" name="TextBox 30">
            <a:extLst xmlns:a="http://schemas.openxmlformats.org/drawingml/2006/main">
              <a:ext uri="{FF2B5EF4-FFF2-40B4-BE49-F238E27FC236}">
                <a16:creationId xmlns:a16="http://schemas.microsoft.com/office/drawing/2014/main" id="{826F0BBD-A41A-4986-A112-7840190C4C60}"/>
              </a:ext>
            </a:extLst>
          </p:cNvPr>
          <p:cNvSpPr>
            <a:spLocks xmlns:a="http://schemas.openxmlformats.org/drawingml/2006/main" noGrp="1"/>
          </p:cNvSpPr>
          <p:nvPr/>
        </p:nvSpPr>
        <p:spPr>
          <a:xfrm xmlns:a="http://schemas.openxmlformats.org/drawingml/2006/main">
            <a:off x="310896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cline</a:t>
            </a:r>
          </a:p>
        </p:txBody>
      </p:sp>
      <p:sp>
        <p:nvSpPr>
          <p:cNvPr id="32" name="Rounded Rectangle 31">
            <a:extLst xmlns:a="http://schemas.openxmlformats.org/drawingml/2006/main">
              <a:ext uri="{FF2B5EF4-FFF2-40B4-BE49-F238E27FC236}">
                <a16:creationId xmlns:a16="http://schemas.microsoft.com/office/drawing/2014/main" id="{605A99EC-A371-41B5-A5A7-F1F480797C8F}"/>
              </a:ext>
            </a:extLst>
          </p:cNvPr>
          <p:cNvSpPr>
            <a:spLocks xmlns:a="http://schemas.openxmlformats.org/drawingml/2006/main" noGrp="1"/>
          </p:cNvSpPr>
          <p:nvPr/>
        </p:nvSpPr>
        <p:spPr>
          <a:xfrm xmlns:a="http://schemas.openxmlformats.org/drawingml/2006/main">
            <a:off x="5120640"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1BAEA588-EB3E-4231-A9A7-327A2AFF7076}"/>
              </a:ext>
            </a:extLst>
          </p:cNvPr>
          <p:cNvSpPr>
            <a:spLocks xmlns:a="http://schemas.openxmlformats.org/drawingml/2006/main" noGrp="1"/>
          </p:cNvSpPr>
          <p:nvPr/>
        </p:nvSpPr>
        <p:spPr>
          <a:xfrm xmlns:a="http://schemas.openxmlformats.org/drawingml/2006/main">
            <a:off x="530352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Goose</a:t>
            </a:r>
          </a:p>
        </p:txBody>
      </p:sp>
      <p:sp>
        <p:nvSpPr>
          <p:cNvPr id="34" name="TextBox 33">
            <a:extLst xmlns:a="http://schemas.openxmlformats.org/drawingml/2006/main">
              <a:ext uri="{FF2B5EF4-FFF2-40B4-BE49-F238E27FC236}">
                <a16:creationId xmlns:a16="http://schemas.microsoft.com/office/drawing/2014/main" id="{52807145-3B13-4F3F-B832-694FB2B23851}"/>
              </a:ext>
            </a:extLst>
          </p:cNvPr>
          <p:cNvSpPr>
            <a:spLocks xmlns:a="http://schemas.openxmlformats.org/drawingml/2006/main" noGrp="1"/>
          </p:cNvSpPr>
          <p:nvPr/>
        </p:nvSpPr>
        <p:spPr>
          <a:xfrm xmlns:a="http://schemas.openxmlformats.org/drawingml/2006/main">
            <a:off x="530352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35" name="TextBox 34">
            <a:extLst xmlns:a="http://schemas.openxmlformats.org/drawingml/2006/main">
              <a:ext uri="{FF2B5EF4-FFF2-40B4-BE49-F238E27FC236}">
                <a16:creationId xmlns:a16="http://schemas.microsoft.com/office/drawing/2014/main" id="{7D8291BA-E35E-4EE3-BA7A-24D4240419CE}"/>
              </a:ext>
            </a:extLst>
          </p:cNvPr>
          <p:cNvSpPr>
            <a:spLocks xmlns:a="http://schemas.openxmlformats.org/drawingml/2006/main" noGrp="1"/>
          </p:cNvSpPr>
          <p:nvPr/>
        </p:nvSpPr>
        <p:spPr>
          <a:xfrm xmlns:a="http://schemas.openxmlformats.org/drawingml/2006/main">
            <a:off x="530352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goose</a:t>
            </a:r>
          </a:p>
        </p:txBody>
      </p:sp>
      <p:sp>
        <p:nvSpPr>
          <p:cNvPr id="36" name="Rounded Rectangle 35">
            <a:extLst xmlns:a="http://schemas.openxmlformats.org/drawingml/2006/main">
              <a:ext uri="{FF2B5EF4-FFF2-40B4-BE49-F238E27FC236}">
                <a16:creationId xmlns:a16="http://schemas.microsoft.com/office/drawing/2014/main" id="{C8CC849F-951C-4708-8B6D-B5A416E1ED52}"/>
              </a:ext>
            </a:extLst>
          </p:cNvPr>
          <p:cNvSpPr>
            <a:spLocks xmlns:a="http://schemas.openxmlformats.org/drawingml/2006/main" noGrp="1"/>
          </p:cNvSpPr>
          <p:nvPr/>
        </p:nvSpPr>
        <p:spPr>
          <a:xfrm xmlns:a="http://schemas.openxmlformats.org/drawingml/2006/main">
            <a:off x="7315199"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TextBox 36">
            <a:extLst xmlns:a="http://schemas.openxmlformats.org/drawingml/2006/main">
              <a:ext uri="{FF2B5EF4-FFF2-40B4-BE49-F238E27FC236}">
                <a16:creationId xmlns:a16="http://schemas.microsoft.com/office/drawing/2014/main" id="{808A5338-23E3-4401-BFD0-BDE37EB233A5}"/>
              </a:ext>
            </a:extLst>
          </p:cNvPr>
          <p:cNvSpPr>
            <a:spLocks xmlns:a="http://schemas.openxmlformats.org/drawingml/2006/main" noGrp="1"/>
          </p:cNvSpPr>
          <p:nvPr/>
        </p:nvSpPr>
        <p:spPr>
          <a:xfrm xmlns:a="http://schemas.openxmlformats.org/drawingml/2006/main">
            <a:off x="7498079"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Kiro</a:t>
            </a:r>
          </a:p>
        </p:txBody>
      </p:sp>
      <p:sp>
        <p:nvSpPr>
          <p:cNvPr id="38" name="TextBox 37">
            <a:extLst xmlns:a="http://schemas.openxmlformats.org/drawingml/2006/main">
              <a:ext uri="{FF2B5EF4-FFF2-40B4-BE49-F238E27FC236}">
                <a16:creationId xmlns:a16="http://schemas.microsoft.com/office/drawing/2014/main" id="{23223178-48C1-4EE1-AD09-CCA9123274F7}"/>
              </a:ext>
            </a:extLst>
          </p:cNvPr>
          <p:cNvSpPr>
            <a:spLocks xmlns:a="http://schemas.openxmlformats.org/drawingml/2006/main" noGrp="1"/>
          </p:cNvSpPr>
          <p:nvPr/>
        </p:nvSpPr>
        <p:spPr>
          <a:xfrm xmlns:a="http://schemas.openxmlformats.org/drawingml/2006/main">
            <a:off x="7498079"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39" name="TextBox 38">
            <a:extLst xmlns:a="http://schemas.openxmlformats.org/drawingml/2006/main">
              <a:ext uri="{FF2B5EF4-FFF2-40B4-BE49-F238E27FC236}">
                <a16:creationId xmlns:a16="http://schemas.microsoft.com/office/drawing/2014/main" id="{6701B7AB-C654-437F-8C2F-47FE7344F62E}"/>
              </a:ext>
            </a:extLst>
          </p:cNvPr>
          <p:cNvSpPr>
            <a:spLocks xmlns:a="http://schemas.openxmlformats.org/drawingml/2006/main" noGrp="1"/>
          </p:cNvSpPr>
          <p:nvPr/>
        </p:nvSpPr>
        <p:spPr>
          <a:xfrm xmlns:a="http://schemas.openxmlformats.org/drawingml/2006/main">
            <a:off x="7498079"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kiro</a:t>
            </a:r>
          </a:p>
        </p:txBody>
      </p:sp>
      <p:sp>
        <p:nvSpPr>
          <p:cNvPr id="40" name="Rounded Rectangle 39">
            <a:extLst xmlns:a="http://schemas.openxmlformats.org/drawingml/2006/main">
              <a:ext uri="{FF2B5EF4-FFF2-40B4-BE49-F238E27FC236}">
                <a16:creationId xmlns:a16="http://schemas.microsoft.com/office/drawing/2014/main" id="{E09A6F40-81F8-43A5-ACE4-4C8BE6159CD3}"/>
              </a:ext>
            </a:extLst>
          </p:cNvPr>
          <p:cNvSpPr>
            <a:spLocks xmlns:a="http://schemas.openxmlformats.org/drawingml/2006/main" noGrp="1"/>
          </p:cNvSpPr>
          <p:nvPr/>
        </p:nvSpPr>
        <p:spPr>
          <a:xfrm xmlns:a="http://schemas.openxmlformats.org/drawingml/2006/main">
            <a:off x="9509760"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TextBox 40">
            <a:extLst xmlns:a="http://schemas.openxmlformats.org/drawingml/2006/main">
              <a:ext uri="{FF2B5EF4-FFF2-40B4-BE49-F238E27FC236}">
                <a16:creationId xmlns:a16="http://schemas.microsoft.com/office/drawing/2014/main" id="{033AB722-4EF4-4E26-8934-3F084DB4265E}"/>
              </a:ext>
            </a:extLst>
          </p:cNvPr>
          <p:cNvSpPr>
            <a:spLocks xmlns:a="http://schemas.openxmlformats.org/drawingml/2006/main" noGrp="1"/>
          </p:cNvSpPr>
          <p:nvPr/>
        </p:nvSpPr>
        <p:spPr>
          <a:xfrm xmlns:a="http://schemas.openxmlformats.org/drawingml/2006/main">
            <a:off x="969264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Amp</a:t>
            </a:r>
          </a:p>
        </p:txBody>
      </p:sp>
      <p:sp>
        <p:nvSpPr>
          <p:cNvPr id="42" name="TextBox 41">
            <a:extLst xmlns:a="http://schemas.openxmlformats.org/drawingml/2006/main">
              <a:ext uri="{FF2B5EF4-FFF2-40B4-BE49-F238E27FC236}">
                <a16:creationId xmlns:a16="http://schemas.microsoft.com/office/drawing/2014/main" id="{3BF6E05A-841B-41D9-A541-A4470C3006D9}"/>
              </a:ext>
            </a:extLst>
          </p:cNvPr>
          <p:cNvSpPr>
            <a:spLocks xmlns:a="http://schemas.openxmlformats.org/drawingml/2006/main" noGrp="1"/>
          </p:cNvSpPr>
          <p:nvPr/>
        </p:nvSpPr>
        <p:spPr>
          <a:xfrm xmlns:a="http://schemas.openxmlformats.org/drawingml/2006/main">
            <a:off x="969264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43" name="TextBox 42">
            <a:extLst xmlns:a="http://schemas.openxmlformats.org/drawingml/2006/main">
              <a:ext uri="{FF2B5EF4-FFF2-40B4-BE49-F238E27FC236}">
                <a16:creationId xmlns:a16="http://schemas.microsoft.com/office/drawing/2014/main" id="{A525B665-8826-47E1-992E-3F8C4DD75B2F}"/>
              </a:ext>
            </a:extLst>
          </p:cNvPr>
          <p:cNvSpPr>
            <a:spLocks xmlns:a="http://schemas.openxmlformats.org/drawingml/2006/main" noGrp="1"/>
          </p:cNvSpPr>
          <p:nvPr/>
        </p:nvSpPr>
        <p:spPr>
          <a:xfrm xmlns:a="http://schemas.openxmlformats.org/drawingml/2006/main">
            <a:off x="969264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amp</a:t>
            </a:r>
          </a:p>
        </p:txBody>
      </p:sp>
      <p:sp>
        <p:nvSpPr>
          <p:cNvPr id="44" name="TextBox 43">
            <a:extLst xmlns:a="http://schemas.openxmlformats.org/drawingml/2006/main">
              <a:ext uri="{FF2B5EF4-FFF2-40B4-BE49-F238E27FC236}">
                <a16:creationId xmlns:a16="http://schemas.microsoft.com/office/drawing/2014/main" id="{0BD00CA7-9C3D-4D03-9CF4-73C064C405E4}"/>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11/13</a:t>
            </a:r>
          </a:p>
        </p:txBody>
      </p:sp>
    </p:spTree>
    <p:extLst>
      <p:ext uri="{BB962C8B-B14F-4D97-AF65-F5344CB8AC3E}">
        <p14:creationId xmlns:p14="http://schemas.microsoft.com/office/powerpoint/2010/main" val="719880188"/>
      </p:ext>
    </p:extLst>
  </p:cSld>
</p:sld>
</file>

<file path=ppt/slides/slide12.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pic>
        <p:nvPicPr>
          <p:cNvPr id="11" name="Picture 1"/>
          <p:cNvPicPr>
            <a:picLocks xmlns:a="http://schemas.openxmlformats.org/drawingml/2006/main" noChangeAspect="1"/>
          </p:cNvPicPr>
          <p:nvPr/>
        </p:nvPicPr>
        <p:blipFill>
          <a:blip xmlns:r="http://schemas.openxmlformats.org/officeDocument/2006/relationships" xmlns:a="http://schemas.openxmlformats.org/drawingml/2006/main" r:embed="R139fbc329b9a40bd"/>
          <a:stretch xmlns:a="http://schemas.openxmlformats.org/drawingml/2006/main">
            <a:fillRect l="0" t="0" r="0" b="0"/>
          </a:stretch>
        </p:blipFill>
        <p:spPr>
          <a:xfrm xmlns:a="http://schemas.openxmlformats.org/drawingml/2006/main">
            <a:off x="5181904" y="457200"/>
            <a:ext cx="1828800" cy="1463383"/>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0" y="2468880"/>
            <a:ext cx="12191695" cy="762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4400" b="1">
                <a:solidFill>
                  <a:srgbClr val="00FF41"/>
                </a:solidFill>
                <a:latin typeface="Consolas"/>
                <a:ea typeface="Consolas"/>
                <a:cs typeface="Consolas"/>
              </a:defRPr>
            </a:pPr>
            <a:r>
              <a:t>Make every handoff visible.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0" y="3291840"/>
            <a:ext cx="12191695"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000" b="0">
                <a:solidFill>
                  <a:srgbClr val="7A9A7A"/>
                </a:solidFill>
                <a:latin typeface="Consolas"/>
                <a:ea typeface="Consolas"/>
                <a:cs typeface="Consolas"/>
              </a:defRPr>
            </a:pPr>
            <a:r>
              <a:t>Start offline. Scale the workspace. Then bring your agents.</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3200400" y="4023360"/>
            <a:ext cx="5760720" cy="16459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3474720" y="4206240"/>
            <a:ext cx="5212080" cy="13716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600" b="1">
                <a:solidFill>
                  <a:srgbClr val="00FF41"/>
                </a:solidFill>
                <a:latin typeface="Consolas"/>
                <a:ea typeface="Consolas"/>
                <a:cs typeface="Consolas"/>
              </a:defRPr>
            </a:pPr>
            <a:r>
              <a:t>$ agents-commander --doctor .</a:t>
            </a:r>
          </a:p>
          <a:p xmlns:a="http://schemas.openxmlformats.org/drawingml/2006/main">
            <a:pPr>
              <a:spcAft>
                <a:spcPts val="400"/>
              </a:spcAft>
              <a:buNone/>
              <a:defRPr sz="1600" b="0">
                <a:solidFill>
                  <a:srgbClr val="D0E8D0"/>
                </a:solidFill>
                <a:latin typeface="Consolas"/>
                <a:ea typeface="Consolas"/>
                <a:cs typeface="Consolas"/>
              </a:defRPr>
            </a:pPr>
            <a:r>
              <a:t>$ agents-commander --demo</a:t>
            </a:r>
          </a:p>
          <a:p xmlns:a="http://schemas.openxmlformats.org/drawingml/2006/main">
            <a:pPr>
              <a:spcAft>
                <a:spcPts val="400"/>
              </a:spcAft>
              <a:buNone/>
              <a:defRPr sz="1600" b="0">
                <a:solidFill>
                  <a:srgbClr val="7A9A7A"/>
                </a:solidFill>
                <a:latin typeface="Consolas"/>
                <a:ea typeface="Consolas"/>
                <a:cs typeface="Consolas"/>
              </a:defRPr>
            </a:pPr>
            <a:r>
              <a:t>$ agents-commander --panels 12 --density auto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0" y="59436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600" b="0">
                <a:solidFill>
                  <a:srgbClr val="00CC33"/>
                </a:solidFill>
                <a:latin typeface="Consolas"/>
                <a:ea typeface="Consolas"/>
                <a:cs typeface="Consolas"/>
              </a:defRPr>
            </a:pPr>
            <a: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300" b="0">
                <a:solidFill>
                  <a:srgbClr val="4A6A4A"/>
                </a:solidFill>
                <a:latin typeface="Consolas"/>
                <a:ea typeface="Consolas"/>
                <a:cs typeface="Consolas"/>
              </a:defRPr>
            </a:pPr>
            <a:r>
              <a:t>Node.js 22+  •  Python 3  •  macOS / Linux / WSL2  •  v0.1.5</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12/13</a:t>
            </a:r>
          </a:p>
        </p:txBody>
      </p:sp>
    </p:spTree>
    <p:extLst>
      <p:ext uri="{BB962C8B-B14F-4D97-AF65-F5344CB8AC3E}">
        <p14:creationId xmlns:p14="http://schemas.microsoft.com/office/powerpoint/2010/main" val="1080936326"/>
      </p:ext>
    </p:extLst>
  </p:cSld>
</p:sld>
</file>

<file path=ppt/slides/slide13.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pic>
        <p:nvPicPr>
          <p:cNvPr id="11" name="Picture 1"/>
          <p:cNvPicPr>
            <a:picLocks xmlns:a="http://schemas.openxmlformats.org/drawingml/2006/main" noChangeAspect="1"/>
          </p:cNvPicPr>
          <p:nvPr/>
        </p:nvPicPr>
        <p:blipFill>
          <a:blip xmlns:r="http://schemas.openxmlformats.org/officeDocument/2006/relationships" xmlns:a="http://schemas.openxmlformats.org/drawingml/2006/main" r:embed="R468da1789e5b4870"/>
          <a:stretch xmlns:a="http://schemas.openxmlformats.org/drawingml/2006/main">
            <a:fillRect l="0" t="0" r="0" b="0"/>
          </a:stretch>
        </p:blipFill>
        <p:spPr>
          <a:xfrm xmlns:a="http://schemas.openxmlformats.org/drawingml/2006/main">
            <a:off x="5181904" y="457200"/>
            <a:ext cx="1828800" cy="1463383"/>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0" y="2468880"/>
            <a:ext cx="12191695" cy="762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4400" b="1">
                <a:solidFill>
                  <a:srgbClr val="00FF41"/>
                </a:solidFill>
                <a:latin typeface="Consolas"/>
                <a:ea typeface="Consolas"/>
                <a:cs typeface="Consolas"/>
              </a:defRPr>
            </a:pPr>
            <a:r>
              <a:t>What should the control plane become?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0" y="3291840"/>
            <a:ext cx="12191695"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000" b="0">
                <a:solidFill>
                  <a:srgbClr val="7A9A7A"/>
                </a:solidFill>
                <a:latin typeface="Consolas"/>
                <a:ea typeface="Consolas"/>
                <a:cs typeface="Consolas"/>
              </a:defRPr>
            </a:pPr>
            <a:r>
              <a:t>Authorization • durable history • MCP boundaries • human judgment</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3200400" y="4023360"/>
            <a:ext cx="5760720" cy="16459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3474720" y="4206240"/>
            <a:ext cx="5212080" cy="13716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600" b="1">
                <a:solidFill>
                  <a:srgbClr val="00FF41"/>
                </a:solidFill>
                <a:latin typeface="Consolas"/>
                <a:ea typeface="Consolas"/>
                <a:cs typeface="Consolas"/>
              </a:defRPr>
            </a:pPr>
            <a:r>
              <a:t>&gt; Who is allowed to route?</a:t>
            </a:r>
          </a:p>
          <a:p xmlns:a="http://schemas.openxmlformats.org/drawingml/2006/main">
            <a:pPr>
              <a:spcAft>
                <a:spcPts val="400"/>
              </a:spcAft>
              <a:buNone/>
              <a:defRPr sz="1600" b="0">
                <a:solidFill>
                  <a:srgbClr val="D0E8D0"/>
                </a:solidFill>
                <a:latin typeface="Consolas"/>
                <a:ea typeface="Consolas"/>
                <a:cs typeface="Consolas"/>
              </a:defRPr>
            </a:pPr>
            <a:r>
              <a:t>&gt; What belongs in durable history?</a:t>
            </a:r>
          </a:p>
          <a:p xmlns:a="http://schemas.openxmlformats.org/drawingml/2006/main">
            <a:pPr>
              <a:spcAft>
                <a:spcPts val="400"/>
              </a:spcAft>
              <a:buNone/>
              <a:defRPr sz="1600" b="0">
                <a:solidFill>
                  <a:srgbClr val="7A9A7A"/>
                </a:solidFill>
                <a:latin typeface="Consolas"/>
                <a:ea typeface="Consolas"/>
                <a:cs typeface="Consolas"/>
              </a:defRPr>
            </a:pPr>
            <a:r>
              <a:t>&gt; Where should the human stay in the loop?</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0" y="59436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600" b="0">
                <a:solidFill>
                  <a:srgbClr val="00CC33"/>
                </a:solidFill>
                <a:latin typeface="Consolas"/>
                <a:ea typeface="Consolas"/>
                <a:cs typeface="Consolas"/>
              </a:defRPr>
            </a:pPr>
            <a: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300" b="0">
                <a:solidFill>
                  <a:srgbClr val="4A6A4A"/>
                </a:solidFill>
                <a:latin typeface="Consolas"/>
                <a:ea typeface="Consolas"/>
                <a:cs typeface="Consolas"/>
              </a:defRPr>
            </a:pPr>
            <a:r>
              <a:t>Authorization  •  auditability  •  interoperability  •  human control</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1155680" y="6400800"/>
            <a:ext cx="9144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13/13</a:t>
            </a:r>
          </a:p>
        </p:txBody>
      </p:sp>
    </p:spTree>
    <p:extLst>
      <p:ext uri="{BB962C8B-B14F-4D97-AF65-F5344CB8AC3E}">
        <p14:creationId xmlns:p14="http://schemas.microsoft.com/office/powerpoint/2010/main" val="10809363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2026-08-24T11:22:40.3610000Z</dcterms:created>
  <dcterms:modified xsi:type="dcterms:W3CDTF">2026-08-24T11:22:40.3610000Z</dcterms:modified>
</coreProperties>
</file>